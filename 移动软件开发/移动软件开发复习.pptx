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41"/>
  </p:notesMasterIdLst>
  <p:sldIdLst>
    <p:sldId id="537" r:id="rId2"/>
    <p:sldId id="539" r:id="rId3"/>
    <p:sldId id="541" r:id="rId4"/>
    <p:sldId id="543" r:id="rId5"/>
    <p:sldId id="544" r:id="rId6"/>
    <p:sldId id="545" r:id="rId7"/>
    <p:sldId id="546" r:id="rId8"/>
    <p:sldId id="548" r:id="rId9"/>
    <p:sldId id="549" r:id="rId10"/>
    <p:sldId id="555" r:id="rId11"/>
    <p:sldId id="557" r:id="rId12"/>
    <p:sldId id="556" r:id="rId13"/>
    <p:sldId id="558" r:id="rId14"/>
    <p:sldId id="559" r:id="rId15"/>
    <p:sldId id="560" r:id="rId16"/>
    <p:sldId id="561" r:id="rId17"/>
    <p:sldId id="562" r:id="rId18"/>
    <p:sldId id="566" r:id="rId19"/>
    <p:sldId id="567" r:id="rId20"/>
    <p:sldId id="581" r:id="rId21"/>
    <p:sldId id="579" r:id="rId22"/>
    <p:sldId id="583" r:id="rId23"/>
    <p:sldId id="582" r:id="rId24"/>
    <p:sldId id="584" r:id="rId25"/>
    <p:sldId id="598" r:id="rId26"/>
    <p:sldId id="588" r:id="rId27"/>
    <p:sldId id="599" r:id="rId28"/>
    <p:sldId id="589" r:id="rId29"/>
    <p:sldId id="600" r:id="rId30"/>
    <p:sldId id="601" r:id="rId31"/>
    <p:sldId id="603" r:id="rId32"/>
    <p:sldId id="604" r:id="rId33"/>
    <p:sldId id="605" r:id="rId34"/>
    <p:sldId id="618" r:id="rId35"/>
    <p:sldId id="591" r:id="rId36"/>
    <p:sldId id="592" r:id="rId37"/>
    <p:sldId id="595" r:id="rId38"/>
    <p:sldId id="594" r:id="rId39"/>
    <p:sldId id="593" r:id="rId40"/>
    <p:sldId id="596" r:id="rId41"/>
    <p:sldId id="620" r:id="rId42"/>
    <p:sldId id="621" r:id="rId43"/>
    <p:sldId id="622" r:id="rId44"/>
    <p:sldId id="623" r:id="rId45"/>
    <p:sldId id="625" r:id="rId46"/>
    <p:sldId id="626" r:id="rId47"/>
    <p:sldId id="624" r:id="rId48"/>
    <p:sldId id="633" r:id="rId49"/>
    <p:sldId id="631" r:id="rId50"/>
    <p:sldId id="632" r:id="rId51"/>
    <p:sldId id="636" r:id="rId52"/>
    <p:sldId id="627" r:id="rId53"/>
    <p:sldId id="637" r:id="rId54"/>
    <p:sldId id="656" r:id="rId55"/>
    <p:sldId id="646" r:id="rId56"/>
    <p:sldId id="647" r:id="rId57"/>
    <p:sldId id="648" r:id="rId58"/>
    <p:sldId id="649" r:id="rId59"/>
    <p:sldId id="657" r:id="rId60"/>
    <p:sldId id="658" r:id="rId61"/>
    <p:sldId id="644" r:id="rId62"/>
    <p:sldId id="659" r:id="rId63"/>
    <p:sldId id="660" r:id="rId64"/>
    <p:sldId id="666" r:id="rId65"/>
    <p:sldId id="667" r:id="rId66"/>
    <p:sldId id="662" r:id="rId67"/>
    <p:sldId id="663" r:id="rId68"/>
    <p:sldId id="664" r:id="rId69"/>
    <p:sldId id="665" r:id="rId70"/>
    <p:sldId id="670" r:id="rId71"/>
    <p:sldId id="674" r:id="rId72"/>
    <p:sldId id="672" r:id="rId73"/>
    <p:sldId id="673" r:id="rId74"/>
    <p:sldId id="671" r:id="rId75"/>
    <p:sldId id="675" r:id="rId76"/>
    <p:sldId id="676" r:id="rId77"/>
    <p:sldId id="677" r:id="rId78"/>
    <p:sldId id="678" r:id="rId79"/>
    <p:sldId id="679" r:id="rId80"/>
    <p:sldId id="907" r:id="rId81"/>
    <p:sldId id="684" r:id="rId82"/>
    <p:sldId id="685" r:id="rId83"/>
    <p:sldId id="691" r:id="rId84"/>
    <p:sldId id="692" r:id="rId85"/>
    <p:sldId id="693" r:id="rId86"/>
    <p:sldId id="694" r:id="rId87"/>
    <p:sldId id="695" r:id="rId88"/>
    <p:sldId id="696" r:id="rId89"/>
    <p:sldId id="706" r:id="rId90"/>
    <p:sldId id="707" r:id="rId91"/>
    <p:sldId id="708" r:id="rId92"/>
    <p:sldId id="709" r:id="rId93"/>
    <p:sldId id="710" r:id="rId94"/>
    <p:sldId id="711" r:id="rId95"/>
    <p:sldId id="733" r:id="rId96"/>
    <p:sldId id="746" r:id="rId97"/>
    <p:sldId id="735" r:id="rId98"/>
    <p:sldId id="736" r:id="rId99"/>
    <p:sldId id="737" r:id="rId100"/>
    <p:sldId id="738" r:id="rId101"/>
    <p:sldId id="739" r:id="rId102"/>
    <p:sldId id="740" r:id="rId103"/>
    <p:sldId id="741" r:id="rId104"/>
    <p:sldId id="749" r:id="rId105"/>
    <p:sldId id="742" r:id="rId106"/>
    <p:sldId id="712" r:id="rId107"/>
    <p:sldId id="713" r:id="rId108"/>
    <p:sldId id="714" r:id="rId109"/>
    <p:sldId id="715" r:id="rId110"/>
    <p:sldId id="716" r:id="rId111"/>
    <p:sldId id="717" r:id="rId112"/>
    <p:sldId id="718" r:id="rId113"/>
    <p:sldId id="720" r:id="rId114"/>
    <p:sldId id="909" r:id="rId115"/>
    <p:sldId id="910" r:id="rId116"/>
    <p:sldId id="911" r:id="rId117"/>
    <p:sldId id="759" r:id="rId118"/>
    <p:sldId id="760" r:id="rId119"/>
    <p:sldId id="761" r:id="rId120"/>
    <p:sldId id="763" r:id="rId121"/>
    <p:sldId id="765" r:id="rId122"/>
    <p:sldId id="766" r:id="rId123"/>
    <p:sldId id="773" r:id="rId124"/>
    <p:sldId id="774" r:id="rId125"/>
    <p:sldId id="775" r:id="rId126"/>
    <p:sldId id="776" r:id="rId127"/>
    <p:sldId id="778" r:id="rId128"/>
    <p:sldId id="779" r:id="rId129"/>
    <p:sldId id="780" r:id="rId130"/>
    <p:sldId id="781" r:id="rId131"/>
    <p:sldId id="782" r:id="rId132"/>
    <p:sldId id="783" r:id="rId133"/>
    <p:sldId id="784" r:id="rId134"/>
    <p:sldId id="785" r:id="rId135"/>
    <p:sldId id="786" r:id="rId136"/>
    <p:sldId id="791" r:id="rId137"/>
    <p:sldId id="792" r:id="rId138"/>
    <p:sldId id="793" r:id="rId139"/>
    <p:sldId id="794" r:id="rId14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14AC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67" autoAdjust="0"/>
    <p:restoredTop sz="94660"/>
  </p:normalViewPr>
  <p:slideViewPr>
    <p:cSldViewPr>
      <p:cViewPr varScale="1">
        <p:scale>
          <a:sx n="122" d="100"/>
          <a:sy n="122" d="100"/>
        </p:scale>
        <p:origin x="108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D4A9F-9727-4848-8086-A8FB6EF1E28F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36C6D-36D8-4E49-820F-DE16D0D7A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424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5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F36C6D-36D8-4E49-820F-DE16D0D7A5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25273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F36C6D-36D8-4E49-820F-DE16D0D7A5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545828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F36C6D-36D8-4E49-820F-DE16D0D7A5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25707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36C6D-36D8-4E49-820F-DE16D0D7A52A}" type="slidenum">
              <a:rPr lang="zh-CN" altLang="en-US" smtClean="0"/>
              <a:t>139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08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4664"/>
            <a:ext cx="8229600" cy="1143000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 b="1">
                <a:solidFill>
                  <a:srgbClr val="0033CC"/>
                </a:solidFill>
              </a:defRPr>
            </a:lvl1pPr>
            <a:lvl2pPr>
              <a:defRPr sz="2800" b="1"/>
            </a:lvl2pPr>
            <a:lvl3pPr>
              <a:defRPr sz="2400" b="1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b="1">
                <a:solidFill>
                  <a:srgbClr val="4A14AC"/>
                </a:solidFill>
              </a:defRPr>
            </a:lvl4pPr>
            <a:lvl5pPr>
              <a:defRPr sz="1800" b="1">
                <a:solidFill>
                  <a:srgbClr val="0070C0"/>
                </a:solidFill>
              </a:defRPr>
            </a:lvl5pPr>
            <a:lvl6pPr>
              <a:defRPr b="1">
                <a:solidFill>
                  <a:schemeClr val="accent3">
                    <a:lumMod val="75000"/>
                  </a:schemeClr>
                </a:solidFill>
              </a:defRPr>
            </a:lvl6pPr>
          </a:lstStyle>
          <a:p>
            <a:pPr lvl="0" eaLnBrk="1" latinLnBrk="0" hangingPunct="1"/>
            <a:r>
              <a:rPr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lang="zh-CN" altLang="en-US" dirty="0" smtClean="0"/>
              <a:t>第二级</a:t>
            </a:r>
          </a:p>
          <a:p>
            <a:pPr lvl="2" eaLnBrk="1" latinLnBrk="0" hangingPunct="1"/>
            <a:r>
              <a:rPr lang="zh-CN" altLang="en-US" dirty="0" smtClean="0"/>
              <a:t>第三级</a:t>
            </a:r>
          </a:p>
          <a:p>
            <a:pPr lvl="3" eaLnBrk="1" latinLnBrk="0" hangingPunct="1"/>
            <a:r>
              <a:rPr lang="zh-CN" altLang="en-US" dirty="0" smtClean="0"/>
              <a:t>第四级</a:t>
            </a:r>
          </a:p>
          <a:p>
            <a:pPr lvl="4" eaLnBrk="1" latinLnBrk="0" hangingPunct="1"/>
            <a:r>
              <a:rPr lang="zh-CN" altLang="en-US" dirty="0" smtClean="0"/>
              <a:t>第五级</a:t>
            </a:r>
            <a:endParaRPr lang="en-US" altLang="zh-CN" dirty="0" smtClean="0"/>
          </a:p>
          <a:p>
            <a:pPr lvl="5" eaLnBrk="1" latinLnBrk="0" hangingPunct="1"/>
            <a:r>
              <a:rPr kumimoji="0" lang="zh-CN" altLang="en-US" dirty="0" smtClean="0"/>
              <a:t>第六级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0F6B6E8-B507-42A8-8D24-C58173F6A6A9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24FF1B4-B5FB-4199-819B-CE6BDE12B1D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Android</a:t>
            </a:r>
            <a:r>
              <a:rPr lang="zh-CN" altLang="en-US" dirty="0"/>
              <a:t>项目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第一个应用程序</a:t>
            </a:r>
            <a:endParaRPr lang="zh-CN" altLang="en-US" dirty="0"/>
          </a:p>
          <a:p>
            <a:pPr lvl="1"/>
            <a:r>
              <a:rPr lang="en-US" altLang="zh-CN" dirty="0" smtClean="0"/>
              <a:t>2.1.1 </a:t>
            </a:r>
            <a:r>
              <a:rPr lang="zh-CN" altLang="en-US" dirty="0" smtClean="0"/>
              <a:t>创建</a:t>
            </a:r>
            <a:r>
              <a:rPr lang="en-US" altLang="zh-CN" dirty="0" err="1" smtClean="0"/>
              <a:t>Androd</a:t>
            </a:r>
            <a:r>
              <a:rPr lang="zh-CN" altLang="en-US" dirty="0" smtClean="0"/>
              <a:t>项目</a:t>
            </a:r>
            <a:endParaRPr lang="en-US" altLang="zh-CN" dirty="0" smtClean="0"/>
          </a:p>
          <a:p>
            <a:pPr lvl="2"/>
            <a:r>
              <a:rPr lang="zh-CN" altLang="en-US" dirty="0"/>
              <a:t>首先，打开</a:t>
            </a:r>
            <a:r>
              <a:rPr lang="en-US" altLang="zh-CN" dirty="0"/>
              <a:t>Android Studio</a:t>
            </a:r>
            <a:r>
              <a:rPr lang="zh-CN" altLang="en-US" dirty="0"/>
              <a:t>，新建一个工程</a:t>
            </a:r>
          </a:p>
          <a:p>
            <a:pPr lvl="2"/>
            <a:r>
              <a:rPr lang="zh-CN" altLang="en-US" dirty="0"/>
              <a:t>配置新</a:t>
            </a:r>
            <a:r>
              <a:rPr lang="zh-CN" altLang="en-US" dirty="0" smtClean="0"/>
              <a:t>工程：工程名称、包名、工程存放路径</a:t>
            </a:r>
            <a:endParaRPr lang="zh-CN" altLang="en-US" dirty="0"/>
          </a:p>
          <a:p>
            <a:pPr lvl="2"/>
            <a:r>
              <a:rPr lang="zh-CN" altLang="en-US" dirty="0"/>
              <a:t>设置应用运行</a:t>
            </a:r>
            <a:r>
              <a:rPr lang="zh-CN" altLang="en-US" dirty="0" smtClean="0"/>
              <a:t>模式：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运行平台：这里选择</a:t>
            </a:r>
            <a:r>
              <a:rPr lang="en-US" altLang="zh-CN" dirty="0"/>
              <a:t>Phone and </a:t>
            </a:r>
            <a:r>
              <a:rPr lang="en-US" altLang="zh-CN" dirty="0" smtClean="0"/>
              <a:t>Table</a:t>
            </a:r>
          </a:p>
          <a:p>
            <a:pPr lvl="3"/>
            <a:r>
              <a:rPr lang="en-US" altLang="zh-CN" dirty="0" smtClean="0"/>
              <a:t>SDK</a:t>
            </a:r>
            <a:r>
              <a:rPr lang="zh-CN" altLang="en-US" dirty="0" smtClean="0"/>
              <a:t>最低支持：这里选择</a:t>
            </a:r>
            <a:r>
              <a:rPr lang="zh-CN" altLang="en-US" dirty="0"/>
              <a:t>为</a:t>
            </a:r>
            <a:r>
              <a:rPr lang="en-US" altLang="zh-CN" dirty="0"/>
              <a:t>API </a:t>
            </a:r>
            <a:r>
              <a:rPr lang="en-US" altLang="zh-CN" dirty="0" smtClean="0"/>
              <a:t>15</a:t>
            </a:r>
          </a:p>
          <a:p>
            <a:pPr lvl="2"/>
            <a:r>
              <a:rPr lang="zh-CN" altLang="en-US" dirty="0" smtClean="0"/>
              <a:t>活动添加：这里</a:t>
            </a:r>
            <a:r>
              <a:rPr lang="zh-CN" altLang="en-US" dirty="0"/>
              <a:t>选择是</a:t>
            </a:r>
            <a:r>
              <a:rPr lang="en-US" altLang="zh-CN" dirty="0"/>
              <a:t>Blank </a:t>
            </a:r>
            <a:r>
              <a:rPr lang="en-US" altLang="zh-CN" dirty="0" smtClean="0"/>
              <a:t>Activity</a:t>
            </a:r>
          </a:p>
          <a:p>
            <a:pPr lvl="3"/>
            <a:r>
              <a:rPr lang="zh-CN" altLang="en-US" dirty="0" smtClean="0"/>
              <a:t>活动类似于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中的窗口，是与用户交互的主要平台</a:t>
            </a:r>
            <a:endParaRPr lang="zh-CN" altLang="en-US" dirty="0"/>
          </a:p>
          <a:p>
            <a:pPr lvl="2"/>
            <a:r>
              <a:rPr lang="zh-CN" altLang="en-US" dirty="0"/>
              <a:t>活动</a:t>
            </a:r>
            <a:r>
              <a:rPr lang="zh-CN" altLang="en-US" dirty="0" smtClean="0"/>
              <a:t>配置：这里</a:t>
            </a:r>
            <a:r>
              <a:rPr lang="zh-CN" altLang="en-US" dirty="0"/>
              <a:t>选择的是默认</a:t>
            </a:r>
            <a:r>
              <a:rPr lang="zh-CN" altLang="en-US" dirty="0" smtClean="0"/>
              <a:t>设置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包含活动的名称，以及对应的界面文件名称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454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Android</a:t>
            </a:r>
            <a:r>
              <a:rPr lang="zh-CN" altLang="en-US" dirty="0"/>
              <a:t>项目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第一个应用程序</a:t>
            </a:r>
            <a:endParaRPr lang="zh-CN" altLang="en-US" dirty="0"/>
          </a:p>
          <a:p>
            <a:pPr lvl="1"/>
            <a:r>
              <a:rPr lang="en-US" altLang="zh-CN" dirty="0" smtClean="0"/>
              <a:t>2.1.2 </a:t>
            </a:r>
            <a:r>
              <a:rPr lang="en-US" altLang="zh-CN" dirty="0" err="1" smtClean="0"/>
              <a:t>Androd</a:t>
            </a:r>
            <a:r>
              <a:rPr lang="zh-CN" altLang="en-US" dirty="0" smtClean="0"/>
              <a:t>项目结构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提供了多种查看项目文件的模式：以</a:t>
            </a:r>
            <a:r>
              <a:rPr lang="en-US" altLang="zh-CN" dirty="0" smtClean="0"/>
              <a:t>Project</a:t>
            </a:r>
            <a:r>
              <a:rPr lang="zh-CN" altLang="en-US" dirty="0" smtClean="0"/>
              <a:t>模式讲解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app</a:t>
            </a:r>
            <a:r>
              <a:rPr lang="zh-CN" altLang="en-US" dirty="0" smtClean="0"/>
              <a:t>：项目核心文件夹，包含以下内容：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353856"/>
              </p:ext>
            </p:extLst>
          </p:nvPr>
        </p:nvGraphicFramePr>
        <p:xfrm>
          <a:off x="1907704" y="4005064"/>
          <a:ext cx="6696744" cy="2376264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2495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033">
                <a:tc>
                  <a:txBody>
                    <a:bodyPr/>
                    <a:lstStyle/>
                    <a:p>
                      <a:pPr indent="9017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 dirty="0" err="1">
                          <a:effectLst/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sz="1200" b="1" kern="1200" dirty="0">
                          <a:effectLst/>
                          <a:latin typeface="+mn-ea"/>
                          <a:ea typeface="+mn-ea"/>
                        </a:rPr>
                        <a:t>/main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955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主要代码的存放位置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indent="9017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 dirty="0" err="1">
                          <a:effectLst/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sz="1200" b="1" kern="1200" dirty="0">
                          <a:effectLst/>
                          <a:latin typeface="+mn-ea"/>
                          <a:ea typeface="+mn-ea"/>
                        </a:rPr>
                        <a:t>/main/java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955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+mn-ea"/>
                          <a:ea typeface="+mn-ea"/>
                        </a:rPr>
                        <a:t>Java</a:t>
                      </a: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代码的存放位置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indent="9017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 dirty="0" err="1">
                          <a:effectLst/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sz="1200" b="1" kern="1200" dirty="0">
                          <a:effectLst/>
                          <a:latin typeface="+mn-ea"/>
                          <a:ea typeface="+mn-ea"/>
                        </a:rPr>
                        <a:t>/main/res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955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各类资源（图像、字符串、色彩、</a:t>
                      </a:r>
                      <a:r>
                        <a:rPr lang="en-US" sz="1200" b="1" kern="1200" dirty="0">
                          <a:effectLst/>
                          <a:latin typeface="+mn-ea"/>
                          <a:ea typeface="+mn-ea"/>
                        </a:rPr>
                        <a:t>xml</a:t>
                      </a: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文件等）的存放位置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indent="9017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src/main/res/layout</a:t>
                      </a:r>
                      <a:endParaRPr lang="zh-CN" sz="12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955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布局文件夹，包含应用程序的视图的</a:t>
                      </a:r>
                      <a:r>
                        <a:rPr lang="en-US" sz="1200" b="1" kern="1200" dirty="0">
                          <a:effectLst/>
                          <a:latin typeface="+mn-ea"/>
                          <a:ea typeface="+mn-ea"/>
                        </a:rPr>
                        <a:t>xml</a:t>
                      </a: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描述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indent="9017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src/main/res/menu</a:t>
                      </a:r>
                      <a:endParaRPr lang="zh-CN" sz="12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955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菜单文件夹，包含应用程序中菜单的</a:t>
                      </a:r>
                      <a:r>
                        <a:rPr lang="en-US" sz="1200" b="1" kern="1200" dirty="0">
                          <a:effectLst/>
                          <a:latin typeface="+mn-ea"/>
                          <a:ea typeface="+mn-ea"/>
                        </a:rPr>
                        <a:t>xml</a:t>
                      </a: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描述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indent="9017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src/main/res/values</a:t>
                      </a:r>
                      <a:endParaRPr lang="zh-CN" sz="12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955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资源文件夹，包含了各种数值：字符串、数组、色彩值等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indent="9017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src/main/AndroidMainifest.xml</a:t>
                      </a:r>
                      <a:endParaRPr lang="zh-CN" sz="12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955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项目清单文件，设置应用程序名称、图标、权限等内容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indent="9017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src/main/test</a:t>
                      </a:r>
                      <a:endParaRPr lang="zh-CN" sz="12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0955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测试代码所在位置</a:t>
                      </a:r>
                      <a:endParaRPr lang="zh-CN" sz="120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4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Android</a:t>
            </a:r>
            <a:r>
              <a:rPr lang="zh-CN" altLang="en-US" dirty="0"/>
              <a:t>项目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第一个应用程序</a:t>
            </a:r>
            <a:endParaRPr lang="zh-CN" altLang="en-US" dirty="0"/>
          </a:p>
          <a:p>
            <a:pPr lvl="1"/>
            <a:r>
              <a:rPr lang="en-US" altLang="zh-CN" dirty="0" smtClean="0"/>
              <a:t>2.1.4 </a:t>
            </a:r>
            <a:r>
              <a:rPr lang="zh-CN" altLang="en-US" dirty="0" smtClean="0"/>
              <a:t>辅助工具介绍</a:t>
            </a:r>
            <a:endParaRPr lang="en-US" altLang="zh-CN" dirty="0" smtClean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388262"/>
              </p:ext>
            </p:extLst>
          </p:nvPr>
        </p:nvGraphicFramePr>
        <p:xfrm>
          <a:off x="1475656" y="3140968"/>
          <a:ext cx="7344817" cy="3096344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zh-CN" sz="1200" kern="1200" dirty="0">
                          <a:effectLst/>
                        </a:rPr>
                        <a:t>名称</a:t>
                      </a:r>
                      <a:endParaRPr lang="zh-CN" sz="105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zh-CN" sz="1200" kern="1200">
                          <a:effectLst/>
                        </a:rPr>
                        <a:t>功能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aapt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ts val="0"/>
                        </a:spcAft>
                      </a:pP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产生</a:t>
                      </a: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R.java</a:t>
                      </a: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以使资源可以在</a:t>
                      </a: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Java</a:t>
                      </a: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代码中引用。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Navigation Editor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ts val="0"/>
                        </a:spcAft>
                      </a:pP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可视化创建和浏览 </a:t>
                      </a: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Android </a:t>
                      </a: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应用的结构和布局文件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adb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查询设备信息和数据库、安装程序到设备、端口映射、移动文件、利用日志系统</a:t>
                      </a:r>
                      <a:r>
                        <a:rPr lang="zh-CN" sz="1200" b="1" kern="1200" dirty="0" smtClean="0">
                          <a:effectLst/>
                          <a:latin typeface="+mn-ea"/>
                          <a:ea typeface="+mn-ea"/>
                        </a:rPr>
                        <a:t>等</a:t>
                      </a:r>
                      <a:endParaRPr lang="zh-CN" sz="105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android</a:t>
                      </a: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工具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ts val="0"/>
                        </a:spcAft>
                      </a:pP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创建和管理</a:t>
                      </a: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Android Virtual Devices</a:t>
                      </a: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Android Device Monitor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是一个提供了图形化界面的可以对</a:t>
                      </a:r>
                      <a:r>
                        <a:rPr lang="en-US" sz="1200" b="1" kern="1200" dirty="0">
                          <a:effectLst/>
                          <a:latin typeface="+mn-ea"/>
                          <a:ea typeface="+mn-ea"/>
                        </a:rPr>
                        <a:t>Android</a:t>
                      </a: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应用进行调试和分析的独立的工具</a:t>
                      </a:r>
                      <a:endParaRPr lang="zh-CN" sz="105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888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Draw Nine-patch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ts val="0"/>
                        </a:spcAft>
                      </a:pP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让开发者设计能够拉伸的</a:t>
                      </a: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PNG</a:t>
                      </a:r>
                      <a:r>
                        <a:rPr lang="zh-CN" sz="1200" b="1" kern="1200">
                          <a:effectLst/>
                          <a:latin typeface="+mn-ea"/>
                          <a:ea typeface="+mn-ea"/>
                        </a:rPr>
                        <a:t>图片。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DDMS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查看和管理运行在设备上的进程和线程、查看堆栈数据、连接到进程进行调试</a:t>
                      </a:r>
                      <a:r>
                        <a:rPr lang="zh-CN" sz="1200" b="1" kern="1200" dirty="0" smtClean="0">
                          <a:effectLst/>
                          <a:latin typeface="+mn-ea"/>
                          <a:ea typeface="+mn-ea"/>
                        </a:rPr>
                        <a:t>等</a:t>
                      </a:r>
                      <a:endParaRPr lang="zh-CN" sz="105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effectLst/>
                          <a:latin typeface="+mn-ea"/>
                          <a:ea typeface="+mn-ea"/>
                        </a:rPr>
                        <a:t>Sqlite3 </a:t>
                      </a:r>
                      <a:endParaRPr lang="zh-CN" sz="105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Aft>
                          <a:spcPts val="0"/>
                        </a:spcAft>
                      </a:pPr>
                      <a:r>
                        <a:rPr lang="zh-CN" sz="1200" b="1" kern="1200" dirty="0">
                          <a:effectLst/>
                          <a:latin typeface="+mn-ea"/>
                          <a:ea typeface="+mn-ea"/>
                        </a:rPr>
                        <a:t>可以对应用程序的数据库进行操作。</a:t>
                      </a:r>
                      <a:endParaRPr lang="zh-CN" sz="1050" b="1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66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3.1 Android</a:t>
            </a:r>
            <a:r>
              <a:rPr lang="zh-CN" altLang="en-US" dirty="0" smtClean="0"/>
              <a:t>框架</a:t>
            </a:r>
            <a:endParaRPr lang="zh-CN" altLang="en-US" dirty="0"/>
          </a:p>
          <a:p>
            <a:pPr lvl="1"/>
            <a:r>
              <a:rPr lang="en-US" altLang="zh-CN" dirty="0" smtClean="0"/>
              <a:t>3.1.1 Android</a:t>
            </a:r>
            <a:r>
              <a:rPr lang="zh-CN" altLang="en-US" dirty="0" smtClean="0"/>
              <a:t>体系结构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60157"/>
              </p:ext>
            </p:extLst>
          </p:nvPr>
        </p:nvGraphicFramePr>
        <p:xfrm>
          <a:off x="3779912" y="3140968"/>
          <a:ext cx="5112196" cy="342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Visio" r:id="rId4" imgW="5050736" imgH="3647017" progId="Visio.Drawing.11">
                  <p:embed/>
                </p:oleObj>
              </mc:Choice>
              <mc:Fallback>
                <p:oleObj name="Visio" r:id="rId4" imgW="5050736" imgH="364701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140968"/>
                        <a:ext cx="5112196" cy="342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4"/>
          <p:cNvSpPr txBox="1">
            <a:spLocks/>
          </p:cNvSpPr>
          <p:nvPr/>
        </p:nvSpPr>
        <p:spPr>
          <a:xfrm>
            <a:off x="1043608" y="3068960"/>
            <a:ext cx="2736304" cy="32403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3200" b="1" kern="1200">
                <a:solidFill>
                  <a:srgbClr val="0033CC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400" b="1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b="1" kern="1200">
                <a:solidFill>
                  <a:srgbClr val="4A14AC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b="1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600" dirty="0">
                <a:solidFill>
                  <a:schemeClr val="accent3">
                    <a:lumMod val="75000"/>
                  </a:schemeClr>
                </a:solidFill>
              </a:rPr>
              <a:t>采用分层架构</a:t>
            </a:r>
          </a:p>
          <a:p>
            <a:pPr lvl="1"/>
            <a:r>
              <a:rPr lang="zh-CN" altLang="en-US" sz="2200" dirty="0" smtClean="0">
                <a:solidFill>
                  <a:schemeClr val="bg2">
                    <a:lumMod val="50000"/>
                  </a:schemeClr>
                </a:solidFill>
              </a:rPr>
              <a:t>由</a:t>
            </a:r>
            <a:r>
              <a:rPr lang="zh-CN" altLang="en-US" sz="2200" dirty="0">
                <a:solidFill>
                  <a:schemeClr val="bg2">
                    <a:lumMod val="50000"/>
                  </a:schemeClr>
                </a:solidFill>
              </a:rPr>
              <a:t>上到</a:t>
            </a:r>
            <a:r>
              <a:rPr lang="zh-CN" altLang="en-US" sz="2200" dirty="0" smtClean="0">
                <a:solidFill>
                  <a:schemeClr val="bg2">
                    <a:lumMod val="50000"/>
                  </a:schemeClr>
                </a:solidFill>
              </a:rPr>
              <a:t>下：</a:t>
            </a:r>
            <a:endParaRPr lang="zh-CN" altLang="en-US" sz="2200" dirty="0">
              <a:solidFill>
                <a:schemeClr val="bg2">
                  <a:lumMod val="50000"/>
                </a:schemeClr>
              </a:solidFill>
            </a:endParaRPr>
          </a:p>
          <a:p>
            <a:pPr lvl="2"/>
            <a:r>
              <a:rPr lang="zh-CN" altLang="en-US" sz="1800" dirty="0">
                <a:solidFill>
                  <a:srgbClr val="FF0000"/>
                </a:solidFill>
              </a:rPr>
              <a:t>应用程序层</a:t>
            </a:r>
          </a:p>
          <a:p>
            <a:pPr lvl="2"/>
            <a:r>
              <a:rPr lang="zh-CN" altLang="en-US" sz="1800" dirty="0">
                <a:solidFill>
                  <a:srgbClr val="FF0000"/>
                </a:solidFill>
              </a:rPr>
              <a:t>应用程序框架层</a:t>
            </a:r>
          </a:p>
          <a:p>
            <a:pPr lvl="2"/>
            <a:r>
              <a:rPr lang="zh-CN" altLang="en-US" sz="1800" dirty="0">
                <a:solidFill>
                  <a:srgbClr val="FF0000"/>
                </a:solidFill>
              </a:rPr>
              <a:t>系统运行库层</a:t>
            </a:r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Linux</a:t>
            </a:r>
            <a:r>
              <a:rPr lang="zh-CN" altLang="en-US" sz="1800" dirty="0">
                <a:solidFill>
                  <a:srgbClr val="FF0000"/>
                </a:solidFill>
              </a:rPr>
              <a:t>内核层</a:t>
            </a:r>
          </a:p>
          <a:p>
            <a:pPr lvl="2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916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3.1 Android</a:t>
            </a:r>
            <a:r>
              <a:rPr lang="zh-CN" altLang="en-US" dirty="0" smtClean="0"/>
              <a:t>框架</a:t>
            </a:r>
            <a:endParaRPr lang="zh-CN" altLang="en-US" dirty="0"/>
          </a:p>
          <a:p>
            <a:pPr lvl="1"/>
            <a:r>
              <a:rPr lang="en-US" altLang="zh-CN" dirty="0" smtClean="0"/>
              <a:t>3.1.1 Android</a:t>
            </a:r>
            <a:r>
              <a:rPr lang="zh-CN" altLang="en-US" dirty="0" smtClean="0"/>
              <a:t>体系结构</a:t>
            </a:r>
            <a:endParaRPr lang="en-US" altLang="zh-CN" dirty="0" smtClean="0"/>
          </a:p>
          <a:p>
            <a:pPr lvl="2"/>
            <a:r>
              <a:rPr lang="zh-CN" altLang="en-US" dirty="0"/>
              <a:t>应用程序：</a:t>
            </a:r>
            <a:endParaRPr lang="en-US" altLang="zh-CN" dirty="0"/>
          </a:p>
          <a:p>
            <a:pPr lvl="3"/>
            <a:r>
              <a:rPr lang="zh-CN" altLang="en-US" dirty="0"/>
              <a:t>用户操作的具体程序</a:t>
            </a:r>
            <a:endParaRPr lang="en-US" altLang="zh-CN" dirty="0"/>
          </a:p>
          <a:p>
            <a:pPr lvl="2"/>
            <a:r>
              <a:rPr lang="zh-CN" altLang="en-US" dirty="0"/>
              <a:t>应用程序框架：</a:t>
            </a:r>
            <a:endParaRPr lang="en-US" altLang="zh-CN" dirty="0"/>
          </a:p>
          <a:p>
            <a:pPr lvl="3"/>
            <a:r>
              <a:rPr lang="zh-CN" altLang="en-US" dirty="0"/>
              <a:t>提供给开发人员的接口和资源</a:t>
            </a:r>
            <a:endParaRPr lang="en-US" altLang="zh-CN" dirty="0"/>
          </a:p>
          <a:p>
            <a:pPr lvl="2"/>
            <a:r>
              <a:rPr lang="zh-CN" altLang="en-US" dirty="0"/>
              <a:t>中间件</a:t>
            </a:r>
            <a:endParaRPr lang="en-US" altLang="zh-CN" dirty="0"/>
          </a:p>
          <a:p>
            <a:pPr lvl="3"/>
            <a:r>
              <a:rPr lang="zh-CN" altLang="en-US" dirty="0" smtClean="0"/>
              <a:t>系统库：各类开发所需的核心</a:t>
            </a:r>
            <a:r>
              <a:rPr lang="zh-CN" altLang="en-US" dirty="0"/>
              <a:t>库，方便更高层次的开发</a:t>
            </a:r>
            <a:endParaRPr lang="en-US" altLang="zh-CN" dirty="0"/>
          </a:p>
          <a:p>
            <a:pPr lvl="3"/>
            <a:r>
              <a:rPr lang="en-US" altLang="zh-CN" dirty="0"/>
              <a:t>Android</a:t>
            </a:r>
            <a:r>
              <a:rPr lang="zh-CN" altLang="en-US" dirty="0"/>
              <a:t>运行时环境：虚拟机，负责程序运行</a:t>
            </a:r>
            <a:endParaRPr lang="en-US" altLang="zh-CN" dirty="0"/>
          </a:p>
          <a:p>
            <a:pPr lvl="2"/>
            <a:r>
              <a:rPr lang="en-US" altLang="zh-CN" dirty="0"/>
              <a:t>Linux</a:t>
            </a:r>
            <a:r>
              <a:rPr lang="zh-CN" altLang="en-US" dirty="0"/>
              <a:t>内核</a:t>
            </a:r>
            <a:endParaRPr lang="en-US" altLang="zh-CN" dirty="0"/>
          </a:p>
          <a:p>
            <a:pPr lvl="3"/>
            <a:r>
              <a:rPr lang="zh-CN" altLang="en-US" dirty="0"/>
              <a:t>硬件与软件之间的抽象层、各种驱动</a:t>
            </a:r>
          </a:p>
          <a:p>
            <a:pPr lvl="2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4947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3.2 Android</a:t>
            </a:r>
            <a:r>
              <a:rPr lang="zh-CN" altLang="en-US" dirty="0" smtClean="0"/>
              <a:t>应用程序核心组件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3.2.1 Activity</a:t>
            </a:r>
            <a:r>
              <a:rPr lang="zh-CN" altLang="en-US" dirty="0" smtClean="0"/>
              <a:t>介绍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Activity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的用户界面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其有</a:t>
            </a:r>
            <a:r>
              <a:rPr lang="zh-CN" altLang="en-US" dirty="0"/>
              <a:t>其自身的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一</a:t>
            </a:r>
            <a:r>
              <a:rPr lang="zh-CN" altLang="en-US" dirty="0"/>
              <a:t>个应用程序通常包含多个</a:t>
            </a:r>
            <a:r>
              <a:rPr lang="en-US" altLang="zh-CN" dirty="0"/>
              <a:t>Activity</a:t>
            </a:r>
            <a:r>
              <a:rPr lang="zh-CN" altLang="en-US" dirty="0"/>
              <a:t>，它们可以互相</a:t>
            </a:r>
            <a:r>
              <a:rPr lang="zh-CN" altLang="en-US" dirty="0" smtClean="0"/>
              <a:t>切换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Activity</a:t>
            </a:r>
            <a:r>
              <a:rPr lang="zh-CN" altLang="en-US" dirty="0"/>
              <a:t>的使用需要在</a:t>
            </a:r>
            <a:r>
              <a:rPr lang="en-US" altLang="zh-CN" dirty="0"/>
              <a:t>manifest</a:t>
            </a:r>
            <a:r>
              <a:rPr lang="zh-CN" altLang="en-US" dirty="0"/>
              <a:t>文件中进行</a:t>
            </a:r>
            <a:r>
              <a:rPr lang="zh-CN" altLang="en-US" dirty="0" smtClean="0"/>
              <a:t>声明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Android</a:t>
            </a:r>
            <a:r>
              <a:rPr lang="zh-CN" altLang="en-US" dirty="0"/>
              <a:t>系统是通过任务栈来管理</a:t>
            </a:r>
            <a:r>
              <a:rPr lang="en-US" altLang="zh-CN" dirty="0"/>
              <a:t>Activity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当</a:t>
            </a:r>
            <a:r>
              <a:rPr lang="zh-CN" altLang="en-US" dirty="0"/>
              <a:t>一个</a:t>
            </a:r>
            <a:r>
              <a:rPr lang="en-US" altLang="zh-CN" dirty="0"/>
              <a:t>Activity</a:t>
            </a:r>
            <a:r>
              <a:rPr lang="zh-CN" altLang="en-US" dirty="0"/>
              <a:t>启动时，会把它压入到</a:t>
            </a:r>
            <a:r>
              <a:rPr lang="zh-CN" altLang="en-US" dirty="0" smtClean="0"/>
              <a:t>该任务栈中，处于栈顶的位置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当</a:t>
            </a:r>
            <a:r>
              <a:rPr lang="zh-CN" altLang="en-US" dirty="0"/>
              <a:t>用户按返回键或者结束掉该</a:t>
            </a:r>
            <a:r>
              <a:rPr lang="en-US" altLang="zh-CN" dirty="0"/>
              <a:t>Activity</a:t>
            </a:r>
            <a:r>
              <a:rPr lang="zh-CN" altLang="en-US" dirty="0"/>
              <a:t>时，它会从</a:t>
            </a:r>
            <a:r>
              <a:rPr lang="zh-CN" altLang="en-US" dirty="0" smtClean="0"/>
              <a:t>该任务栈</a:t>
            </a:r>
            <a:r>
              <a:rPr lang="zh-CN" altLang="en-US" dirty="0"/>
              <a:t>中弹</a:t>
            </a:r>
            <a:r>
              <a:rPr lang="zh-CN" altLang="en-US" dirty="0" smtClean="0"/>
              <a:t>出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其后的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会成为新的栈顶，与用户交互</a:t>
            </a:r>
            <a:endParaRPr lang="en-US" altLang="zh-CN" dirty="0" smtClean="0"/>
          </a:p>
          <a:p>
            <a:pPr lvl="4"/>
            <a:r>
              <a:rPr lang="zh-CN" altLang="en-US" dirty="0"/>
              <a:t>若按</a:t>
            </a:r>
            <a:r>
              <a:rPr lang="en-US" altLang="zh-CN" dirty="0"/>
              <a:t>home</a:t>
            </a:r>
            <a:r>
              <a:rPr lang="zh-CN" altLang="en-US" dirty="0"/>
              <a:t>键或启动其他应用，则该应用的任务栈转入后台</a:t>
            </a:r>
            <a:endParaRPr lang="en-US" altLang="zh-CN" dirty="0"/>
          </a:p>
          <a:p>
            <a:pPr marL="1252728" lvl="4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7645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3.2 Android</a:t>
            </a:r>
            <a:r>
              <a:rPr lang="zh-CN" altLang="en-US" dirty="0" smtClean="0"/>
              <a:t>应用程序核心组件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3.2.2 Service</a:t>
            </a:r>
            <a:r>
              <a:rPr lang="zh-CN" altLang="en-US" dirty="0" smtClean="0"/>
              <a:t>介绍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Service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的后台服务</a:t>
            </a:r>
            <a:endParaRPr lang="en-US" altLang="zh-CN" dirty="0" smtClean="0"/>
          </a:p>
          <a:p>
            <a:pPr lvl="3"/>
            <a:r>
              <a:rPr lang="en-US" altLang="zh-CN" dirty="0"/>
              <a:t>Service</a:t>
            </a:r>
            <a:r>
              <a:rPr lang="zh-CN" altLang="en-US" dirty="0"/>
              <a:t>不直接与用户进行交互，没有用户</a:t>
            </a:r>
            <a:r>
              <a:rPr lang="zh-CN" altLang="en-US" dirty="0" smtClean="0"/>
              <a:t>界面</a:t>
            </a:r>
            <a:endParaRPr lang="en-US" altLang="zh-CN" dirty="0" smtClean="0"/>
          </a:p>
          <a:p>
            <a:pPr lvl="3"/>
            <a:r>
              <a:rPr lang="en-US" altLang="zh-CN" dirty="0"/>
              <a:t>Service</a:t>
            </a:r>
            <a:r>
              <a:rPr lang="zh-CN" altLang="en-US" dirty="0" smtClean="0"/>
              <a:t>能够</a:t>
            </a:r>
            <a:r>
              <a:rPr lang="zh-CN" altLang="en-US" dirty="0"/>
              <a:t>长期在后台运行，且比</a:t>
            </a:r>
            <a:r>
              <a:rPr lang="en-US" altLang="zh-CN" dirty="0"/>
              <a:t>Activity</a:t>
            </a:r>
            <a:r>
              <a:rPr lang="zh-CN" altLang="en-US" dirty="0"/>
              <a:t>具有更高的</a:t>
            </a:r>
            <a:r>
              <a:rPr lang="zh-CN" altLang="en-US" dirty="0" smtClean="0"/>
              <a:t>优先级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在</a:t>
            </a:r>
            <a:r>
              <a:rPr lang="zh-CN" altLang="en-US" dirty="0"/>
              <a:t>系统资源紧张时不会轻易被</a:t>
            </a:r>
            <a:r>
              <a:rPr lang="en-US" altLang="zh-CN" dirty="0"/>
              <a:t>Android</a:t>
            </a:r>
            <a:r>
              <a:rPr lang="zh-CN" altLang="en-US" dirty="0"/>
              <a:t>系统终止</a:t>
            </a:r>
          </a:p>
          <a:p>
            <a:pPr lvl="3"/>
            <a:r>
              <a:rPr lang="zh-CN" altLang="en-US" dirty="0"/>
              <a:t>每个服务都是从</a:t>
            </a:r>
            <a:r>
              <a:rPr lang="en-US" altLang="zh-CN" dirty="0"/>
              <a:t>Service</a:t>
            </a:r>
            <a:r>
              <a:rPr lang="zh-CN" altLang="en-US" dirty="0"/>
              <a:t>基类中派生</a:t>
            </a:r>
            <a:r>
              <a:rPr lang="zh-CN" altLang="en-US" dirty="0" smtClean="0"/>
              <a:t>的</a:t>
            </a:r>
            <a:endParaRPr lang="zh-CN" altLang="en-US" dirty="0"/>
          </a:p>
          <a:p>
            <a:pPr lvl="3"/>
            <a:r>
              <a:rPr lang="en-US" altLang="zh-CN" dirty="0" smtClean="0"/>
              <a:t>Service</a:t>
            </a:r>
            <a:r>
              <a:rPr lang="zh-CN" altLang="en-US" dirty="0" smtClean="0"/>
              <a:t>也</a:t>
            </a:r>
            <a:r>
              <a:rPr lang="zh-CN" altLang="en-US" dirty="0"/>
              <a:t>可以用于进程间的通信。</a:t>
            </a:r>
          </a:p>
          <a:p>
            <a:pPr lvl="3"/>
            <a:r>
              <a:rPr lang="zh-CN" altLang="en-US" dirty="0"/>
              <a:t>使用</a:t>
            </a:r>
            <a:r>
              <a:rPr lang="en-US" altLang="zh-CN" dirty="0"/>
              <a:t>Service</a:t>
            </a:r>
            <a:r>
              <a:rPr lang="zh-CN" altLang="en-US" dirty="0"/>
              <a:t>时，需要在</a:t>
            </a:r>
            <a:r>
              <a:rPr lang="en-US" altLang="zh-CN" dirty="0"/>
              <a:t>manifest</a:t>
            </a:r>
            <a:r>
              <a:rPr lang="zh-CN" altLang="en-US" dirty="0"/>
              <a:t>中进行声明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09128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3.2 Android</a:t>
            </a:r>
            <a:r>
              <a:rPr lang="zh-CN" altLang="en-US" dirty="0" smtClean="0"/>
              <a:t>应用程序核心组件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3.2.3 </a:t>
            </a:r>
            <a:r>
              <a:rPr lang="en-US" altLang="zh-CN" dirty="0" err="1" smtClean="0"/>
              <a:t>BroadCastReceiver</a:t>
            </a:r>
            <a:r>
              <a:rPr lang="zh-CN" altLang="en-US" dirty="0" smtClean="0"/>
              <a:t>介绍</a:t>
            </a:r>
            <a:endParaRPr lang="en-US" altLang="zh-CN" dirty="0" smtClean="0"/>
          </a:p>
          <a:p>
            <a:pPr lvl="2"/>
            <a:r>
              <a:rPr lang="en-US" altLang="zh-CN" dirty="0" err="1"/>
              <a:t>BroadCastReceiver</a:t>
            </a:r>
            <a:r>
              <a:rPr lang="en-US" altLang="zh-CN" dirty="0"/>
              <a:t> 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的广播机制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当</a:t>
            </a:r>
            <a:r>
              <a:rPr lang="zh-CN" altLang="en-US" dirty="0"/>
              <a:t>系统</a:t>
            </a:r>
            <a:r>
              <a:rPr lang="en-US" altLang="zh-CN" dirty="0"/>
              <a:t>/</a:t>
            </a:r>
            <a:r>
              <a:rPr lang="zh-CN" altLang="en-US" dirty="0"/>
              <a:t>应用程序运行时便会向</a:t>
            </a:r>
            <a:r>
              <a:rPr lang="en-US" altLang="zh-CN" dirty="0"/>
              <a:t>Android</a:t>
            </a:r>
            <a:r>
              <a:rPr lang="zh-CN" altLang="en-US" dirty="0"/>
              <a:t>注册各种</a:t>
            </a:r>
            <a:r>
              <a:rPr lang="zh-CN" altLang="en-US" dirty="0" smtClean="0"/>
              <a:t>广播</a:t>
            </a:r>
            <a:endParaRPr lang="zh-CN" altLang="en-US" dirty="0"/>
          </a:p>
          <a:p>
            <a:pPr lvl="4"/>
            <a:r>
              <a:rPr lang="zh-CN" altLang="en-US" dirty="0"/>
              <a:t>第一种是非常驻型广播，此类广播会伴随应用程序的</a:t>
            </a:r>
            <a:r>
              <a:rPr lang="zh-CN" altLang="en-US" dirty="0" smtClean="0"/>
              <a:t>生命周期存在</a:t>
            </a:r>
            <a:endParaRPr lang="zh-CN" altLang="en-US" dirty="0"/>
          </a:p>
          <a:p>
            <a:pPr lvl="4"/>
            <a:r>
              <a:rPr lang="zh-CN" altLang="en-US" dirty="0"/>
              <a:t>第二种是常驻型广播，此类广播不随应用程序是否关闭而存在，只要有广播来就会被系统调用自动</a:t>
            </a:r>
            <a:r>
              <a:rPr lang="zh-CN" altLang="en-US" dirty="0" smtClean="0"/>
              <a:t>运行</a:t>
            </a:r>
            <a:endParaRPr lang="en-US" altLang="zh-CN" dirty="0" smtClean="0"/>
          </a:p>
          <a:p>
            <a:pPr lvl="3"/>
            <a:r>
              <a:rPr lang="zh-CN" altLang="en-US" dirty="0"/>
              <a:t>通过广播机制，应用程序可向整个系统发送事件信息</a:t>
            </a:r>
            <a:endParaRPr lang="en-US" altLang="zh-CN" dirty="0"/>
          </a:p>
          <a:p>
            <a:pPr lvl="4"/>
            <a:r>
              <a:rPr lang="zh-CN" altLang="en-US" dirty="0" smtClean="0"/>
              <a:t>利用广播接收器，可以接收广播事件并进行处理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广播的例子：系统收到短信，发送广播信息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正常的处理：系统中的短信管理应用会接收该广播并处理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拦截短信：相关应用收到广播后，优先接收并处理，再转发广播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4291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基本原理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 lnSpcReduction="10000"/>
          </a:bodyPr>
          <a:lstStyle/>
          <a:p>
            <a:r>
              <a:rPr lang="en-US" altLang="zh-CN" dirty="0" smtClean="0"/>
              <a:t>3.2 Android</a:t>
            </a:r>
            <a:r>
              <a:rPr lang="zh-CN" altLang="en-US" dirty="0" smtClean="0"/>
              <a:t>应用程序核心组件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3.2.4 </a:t>
            </a:r>
            <a:r>
              <a:rPr lang="en-US" altLang="zh-CN" dirty="0" err="1" smtClean="0"/>
              <a:t>ContentProvider</a:t>
            </a:r>
            <a:r>
              <a:rPr lang="zh-CN" altLang="en-US" dirty="0" smtClean="0"/>
              <a:t>介绍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ContentProvider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的共享数据机制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Android</a:t>
            </a:r>
            <a:r>
              <a:rPr lang="zh-CN" altLang="en-US" dirty="0" smtClean="0"/>
              <a:t>系统中，每个应用的数据存储空间是独立且私有的</a:t>
            </a:r>
            <a:endParaRPr lang="en-US" altLang="zh-CN" dirty="0" smtClean="0"/>
          </a:p>
          <a:p>
            <a:pPr lvl="4"/>
            <a:r>
              <a:rPr lang="zh-CN" altLang="en-US" dirty="0"/>
              <a:t>没有一个公共的内存区域，供多个应用程序共享存储的数据</a:t>
            </a:r>
            <a:endParaRPr lang="en-US" altLang="zh-CN" dirty="0" smtClean="0"/>
          </a:p>
          <a:p>
            <a:pPr lvl="3"/>
            <a:r>
              <a:rPr lang="en-US" altLang="zh-CN" dirty="0" err="1"/>
              <a:t>ContentProvider</a:t>
            </a:r>
            <a:r>
              <a:rPr lang="zh-CN" altLang="en-US" dirty="0"/>
              <a:t>机制可支持在多个应用中存储和读取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是</a:t>
            </a:r>
            <a:r>
              <a:rPr lang="zh-CN" altLang="en-US" dirty="0"/>
              <a:t>跨应用共享数据的唯一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Android</a:t>
            </a:r>
            <a:r>
              <a:rPr lang="zh-CN" altLang="en-US" dirty="0"/>
              <a:t>系统提供了一些主要类型的</a:t>
            </a:r>
            <a:r>
              <a:rPr lang="en-US" altLang="zh-CN" dirty="0" err="1" smtClean="0"/>
              <a:t>ContentProvider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比如</a:t>
            </a:r>
            <a:r>
              <a:rPr lang="zh-CN" altLang="en-US" dirty="0"/>
              <a:t>音频、视频、图片和私人通讯录</a:t>
            </a:r>
            <a:r>
              <a:rPr lang="zh-CN" altLang="en-US" dirty="0" smtClean="0"/>
              <a:t>等，访问需要获取读取权限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如果</a:t>
            </a:r>
            <a:r>
              <a:rPr lang="zh-CN" altLang="en-US" dirty="0"/>
              <a:t>想公开自己的数据，那么</a:t>
            </a:r>
            <a:r>
              <a:rPr lang="zh-CN" altLang="en-US" dirty="0" smtClean="0"/>
              <a:t>可采用两种</a:t>
            </a:r>
            <a:r>
              <a:rPr lang="zh-CN" altLang="en-US" dirty="0"/>
              <a:t>办法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创建</a:t>
            </a:r>
            <a:r>
              <a:rPr lang="zh-CN" altLang="en-US" dirty="0"/>
              <a:t>自己的</a:t>
            </a:r>
            <a:r>
              <a:rPr lang="en-US" altLang="zh-CN" dirty="0" err="1" smtClean="0"/>
              <a:t>ContentProvider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将</a:t>
            </a:r>
            <a:r>
              <a:rPr lang="zh-CN" altLang="en-US" dirty="0"/>
              <a:t>数据写到已存在的</a:t>
            </a:r>
            <a:r>
              <a:rPr lang="en-US" altLang="zh-CN" dirty="0" err="1"/>
              <a:t>ContentProvider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Content Provider</a:t>
            </a:r>
            <a:r>
              <a:rPr lang="zh-CN" altLang="en-US" dirty="0" smtClean="0"/>
              <a:t>同时还是</a:t>
            </a:r>
            <a:r>
              <a:rPr lang="zh-CN" altLang="en-US" dirty="0"/>
              <a:t>标准的数据访问接口</a:t>
            </a:r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1033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4.1.1 Activity</a:t>
            </a:r>
            <a:r>
              <a:rPr lang="zh-CN" altLang="en-US" dirty="0" smtClean="0"/>
              <a:t>交互机制</a:t>
            </a:r>
            <a:endParaRPr lang="en-US" altLang="zh-CN" dirty="0" smtClean="0"/>
          </a:p>
          <a:p>
            <a:pPr lvl="2"/>
            <a:r>
              <a:rPr lang="en-US" altLang="zh-CN" dirty="0"/>
              <a:t>Android</a:t>
            </a:r>
            <a:r>
              <a:rPr lang="zh-CN" altLang="en-US" dirty="0"/>
              <a:t>针对</a:t>
            </a:r>
            <a:r>
              <a:rPr lang="en-US" altLang="zh-CN" dirty="0"/>
              <a:t>Activity</a:t>
            </a:r>
            <a:r>
              <a:rPr lang="zh-CN" altLang="en-US" dirty="0"/>
              <a:t>的管理使用的是栈</a:t>
            </a:r>
            <a:r>
              <a:rPr lang="zh-CN" altLang="en-US" dirty="0" smtClean="0"/>
              <a:t>机制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Activity</a:t>
            </a:r>
            <a:r>
              <a:rPr lang="zh-CN" altLang="en-US" dirty="0"/>
              <a:t>栈保存了已经启动并且没有终止的</a:t>
            </a:r>
            <a:r>
              <a:rPr lang="en-US" altLang="zh-CN" dirty="0" smtClean="0"/>
              <a:t>Activity</a:t>
            </a:r>
          </a:p>
          <a:p>
            <a:pPr lvl="3"/>
            <a:r>
              <a:rPr lang="zh-CN" altLang="en-US" dirty="0" smtClean="0"/>
              <a:t>遵循</a:t>
            </a:r>
            <a:r>
              <a:rPr lang="zh-CN" altLang="en-US" dirty="0"/>
              <a:t>“先进后出”的</a:t>
            </a:r>
            <a:r>
              <a:rPr lang="zh-CN" altLang="en-US" dirty="0" smtClean="0"/>
              <a:t>原则</a:t>
            </a:r>
            <a:endParaRPr lang="zh-CN" altLang="en-US" dirty="0"/>
          </a:p>
          <a:p>
            <a:pPr lvl="4"/>
            <a:r>
              <a:rPr lang="zh-CN" altLang="en-US" dirty="0" smtClean="0"/>
              <a:t>在</a:t>
            </a:r>
            <a:r>
              <a:rPr lang="zh-CN" altLang="en-US" dirty="0"/>
              <a:t>某个时刻只有一个</a:t>
            </a:r>
            <a:r>
              <a:rPr lang="en-US" altLang="zh-CN" dirty="0"/>
              <a:t>Activity</a:t>
            </a:r>
            <a:r>
              <a:rPr lang="zh-CN" altLang="en-US" dirty="0"/>
              <a:t>处在栈</a:t>
            </a:r>
            <a:r>
              <a:rPr lang="zh-CN" altLang="en-US" dirty="0" smtClean="0"/>
              <a:t>顶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当</a:t>
            </a:r>
            <a:r>
              <a:rPr lang="zh-CN" altLang="en-US" dirty="0"/>
              <a:t>这个</a:t>
            </a:r>
            <a:r>
              <a:rPr lang="en-US" altLang="zh-CN" dirty="0"/>
              <a:t>Activity</a:t>
            </a:r>
            <a:r>
              <a:rPr lang="zh-CN" altLang="en-US" dirty="0"/>
              <a:t>被销毁后，下面的</a:t>
            </a:r>
            <a:r>
              <a:rPr lang="en-US" altLang="zh-CN" dirty="0"/>
              <a:t>Activity</a:t>
            </a:r>
            <a:r>
              <a:rPr lang="zh-CN" altLang="en-US" dirty="0"/>
              <a:t>才可能处于栈</a:t>
            </a:r>
            <a:r>
              <a:rPr lang="zh-CN" altLang="en-US" dirty="0" smtClean="0"/>
              <a:t>顶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若有</a:t>
            </a:r>
            <a:r>
              <a:rPr lang="zh-CN" altLang="en-US" dirty="0"/>
              <a:t>一个新的</a:t>
            </a:r>
            <a:r>
              <a:rPr lang="en-US" altLang="zh-CN" dirty="0"/>
              <a:t>Activity</a:t>
            </a:r>
            <a:r>
              <a:rPr lang="zh-CN" altLang="en-US" dirty="0"/>
              <a:t>被创建出来，则上一个</a:t>
            </a:r>
            <a:r>
              <a:rPr lang="en-US" altLang="zh-CN" dirty="0"/>
              <a:t>Activity</a:t>
            </a:r>
            <a:r>
              <a:rPr lang="zh-CN" altLang="en-US" dirty="0"/>
              <a:t>就被压栈</a:t>
            </a:r>
            <a:r>
              <a:rPr lang="zh-CN" altLang="en-US" dirty="0" smtClean="0"/>
              <a:t>下去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任意时刻与用户交互的界面只有一个</a:t>
            </a:r>
            <a:endParaRPr lang="zh-CN" altLang="en-US" dirty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2987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4.1.1 Activity</a:t>
            </a:r>
            <a:r>
              <a:rPr lang="zh-CN" altLang="en-US" dirty="0" smtClean="0"/>
              <a:t>的状态</a:t>
            </a:r>
            <a:endParaRPr lang="en-US" altLang="zh-CN" dirty="0" smtClean="0"/>
          </a:p>
          <a:p>
            <a:pPr lvl="2"/>
            <a:r>
              <a:rPr lang="en-US" altLang="zh-CN" dirty="0"/>
              <a:t>Activity</a:t>
            </a:r>
            <a:r>
              <a:rPr lang="zh-CN" altLang="en-US" dirty="0"/>
              <a:t>生命周期是指</a:t>
            </a:r>
            <a:r>
              <a:rPr lang="en-US" altLang="zh-CN" dirty="0"/>
              <a:t>Activity</a:t>
            </a:r>
            <a:r>
              <a:rPr lang="zh-CN" altLang="en-US" dirty="0"/>
              <a:t>从创建到销毁的</a:t>
            </a:r>
            <a:r>
              <a:rPr lang="zh-CN" altLang="en-US" dirty="0" smtClean="0"/>
              <a:t>过程</a:t>
            </a:r>
            <a:endParaRPr lang="en-US" altLang="zh-CN" dirty="0" smtClean="0"/>
          </a:p>
          <a:p>
            <a:pPr lvl="3"/>
            <a:r>
              <a:rPr lang="zh-CN" altLang="en-US" dirty="0"/>
              <a:t>在这一过程中，</a:t>
            </a:r>
            <a:r>
              <a:rPr lang="en-US" altLang="zh-CN" dirty="0"/>
              <a:t>Activity</a:t>
            </a:r>
            <a:r>
              <a:rPr lang="zh-CN" altLang="en-US" dirty="0"/>
              <a:t>一般处于</a:t>
            </a:r>
            <a:r>
              <a:rPr lang="en-US" altLang="zh-CN" dirty="0"/>
              <a:t>4</a:t>
            </a:r>
            <a:r>
              <a:rPr lang="zh-CN" altLang="en-US" dirty="0"/>
              <a:t>种</a:t>
            </a:r>
            <a:r>
              <a:rPr lang="zh-CN" altLang="en-US" dirty="0" smtClean="0"/>
              <a:t>状态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963173"/>
              </p:ext>
            </p:extLst>
          </p:nvPr>
        </p:nvGraphicFramePr>
        <p:xfrm>
          <a:off x="1547664" y="3861048"/>
          <a:ext cx="7416824" cy="2521941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7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名称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状态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描述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Active/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Running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活动状态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当前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Activity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位于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Activity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栈顶，用户可见，并且可以获得焦点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Paused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暂停状态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失去了焦点的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Activity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，仍然可见，但是在内存低的情况下，它不能被系统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killed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（杀死）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9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Stop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停止状态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该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Activity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被其他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Activity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所覆盖，不可见，但是它仍然保存所有的状态和信息，不过，当内存低的情况下，它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可能会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被系统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killed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（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销毁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）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Killed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销毁状态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该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Activity</a:t>
                      </a:r>
                      <a:r>
                        <a:rPr kumimoji="0" lang="zh-CN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结束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宋体" pitchFamily="2" charset="-122"/>
                        </a:rPr>
                        <a:t>，被系统销毁，或者是处于未启动的状态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姚体" panose="02010601030101010101" pitchFamily="2" charset="-122"/>
                        <a:ea typeface="方正姚体" panose="02010601030101010101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46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4.1.2 Activity</a:t>
            </a:r>
            <a:r>
              <a:rPr lang="zh-CN" altLang="en-US" dirty="0" smtClean="0"/>
              <a:t>的状态</a:t>
            </a:r>
            <a:endParaRPr lang="en-US" altLang="zh-CN" dirty="0" smtClean="0"/>
          </a:p>
          <a:p>
            <a:pPr lvl="2"/>
            <a:r>
              <a:rPr lang="en-US" altLang="zh-CN" dirty="0"/>
              <a:t>Activity</a:t>
            </a:r>
            <a:r>
              <a:rPr lang="zh-CN" altLang="en-US" dirty="0"/>
              <a:t>生命周期是指</a:t>
            </a:r>
            <a:r>
              <a:rPr lang="en-US" altLang="zh-CN" dirty="0"/>
              <a:t>Activity</a:t>
            </a:r>
            <a:r>
              <a:rPr lang="zh-CN" altLang="en-US" dirty="0"/>
              <a:t>从创建到销毁的</a:t>
            </a:r>
            <a:r>
              <a:rPr lang="zh-CN" altLang="en-US" dirty="0" smtClean="0"/>
              <a:t>过程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Activity</a:t>
            </a:r>
            <a:r>
              <a:rPr lang="zh-CN" altLang="en-US" dirty="0"/>
              <a:t>四</a:t>
            </a:r>
            <a:r>
              <a:rPr lang="zh-CN" altLang="en-US" dirty="0" smtClean="0"/>
              <a:t>种状态的转换关系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sp>
        <p:nvSpPr>
          <p:cNvPr id="8" name="椭圆 7"/>
          <p:cNvSpPr/>
          <p:nvPr/>
        </p:nvSpPr>
        <p:spPr bwMode="auto">
          <a:xfrm>
            <a:off x="3504658" y="5351504"/>
            <a:ext cx="2003468" cy="590576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Pause</a:t>
            </a:r>
            <a:endParaRPr lang="zh-CN" altLang="en-US" sz="2000" b="1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2964952" y="3930754"/>
            <a:ext cx="2906894" cy="589979"/>
          </a:xfrm>
          <a:prstGeom prst="ellipse">
            <a:avLst/>
          </a:prstGeom>
          <a:ln w="28575">
            <a:headEnd type="none" w="med" len="med"/>
            <a:tailEnd type="none" w="med" len="med"/>
          </a:ln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Active/Running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1057032" y="6006799"/>
            <a:ext cx="1951355" cy="586819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000" b="1" dirty="0">
                <a:latin typeface="Arial" pitchFamily="34" charset="0"/>
                <a:ea typeface="宋体" pitchFamily="2" charset="-122"/>
              </a:rPr>
              <a:t>Stop</a:t>
            </a:r>
            <a:endParaRPr lang="zh-CN" altLang="en-US" sz="2000" b="1" dirty="0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6050660" y="6006800"/>
            <a:ext cx="1951355" cy="590552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000" b="1" dirty="0">
                <a:latin typeface="Arial" pitchFamily="34" charset="0"/>
                <a:ea typeface="宋体" pitchFamily="2" charset="-122"/>
              </a:rPr>
              <a:t>Killed</a:t>
            </a:r>
            <a:endParaRPr lang="zh-CN" altLang="en-US" sz="2000" b="1" dirty="0"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 bwMode="auto">
          <a:xfrm>
            <a:off x="4716016" y="4520733"/>
            <a:ext cx="0" cy="830771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 flipV="1">
            <a:off x="4211960" y="4478919"/>
            <a:ext cx="0" cy="872585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8" idx="3"/>
            <a:endCxn id="10" idx="7"/>
          </p:cNvCxnSpPr>
          <p:nvPr/>
        </p:nvCxnSpPr>
        <p:spPr bwMode="auto">
          <a:xfrm flipH="1">
            <a:off x="2722618" y="5855592"/>
            <a:ext cx="1075441" cy="237145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5"/>
            <a:endCxn id="11" idx="1"/>
          </p:cNvCxnSpPr>
          <p:nvPr/>
        </p:nvCxnSpPr>
        <p:spPr bwMode="auto">
          <a:xfrm>
            <a:off x="5214725" y="5855592"/>
            <a:ext cx="1121704" cy="237692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5"/>
          </p:cNvCxnSpPr>
          <p:nvPr/>
        </p:nvCxnSpPr>
        <p:spPr bwMode="auto">
          <a:xfrm>
            <a:off x="5446141" y="4434333"/>
            <a:ext cx="1286099" cy="1586489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9" idx="3"/>
          </p:cNvCxnSpPr>
          <p:nvPr/>
        </p:nvCxnSpPr>
        <p:spPr bwMode="auto">
          <a:xfrm flipH="1">
            <a:off x="2411760" y="4434333"/>
            <a:ext cx="978897" cy="1586489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1" idx="0"/>
          </p:cNvCxnSpPr>
          <p:nvPr/>
        </p:nvCxnSpPr>
        <p:spPr bwMode="auto">
          <a:xfrm flipH="1" flipV="1">
            <a:off x="5652120" y="4312599"/>
            <a:ext cx="1374218" cy="1694201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 bwMode="auto">
          <a:xfrm flipV="1">
            <a:off x="2019706" y="4312599"/>
            <a:ext cx="1040126" cy="1708223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18040" y="4612952"/>
            <a:ext cx="151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A14A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当前</a:t>
            </a:r>
            <a:r>
              <a:rPr lang="en-US" altLang="zh-CN" b="1" dirty="0" smtClean="0">
                <a:solidFill>
                  <a:srgbClr val="4A14A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Activity</a:t>
            </a:r>
            <a:r>
              <a:rPr lang="zh-CN" altLang="en-US" b="1" dirty="0" smtClean="0">
                <a:solidFill>
                  <a:srgbClr val="4A14A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部分被遮住</a:t>
            </a:r>
            <a:endParaRPr lang="zh-CN" altLang="en-US" b="1" dirty="0">
              <a:solidFill>
                <a:srgbClr val="4A14AC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0840" y="4581246"/>
            <a:ext cx="1503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A14A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当前</a:t>
            </a:r>
            <a:r>
              <a:rPr lang="en-US" altLang="zh-CN" b="1" dirty="0" smtClean="0">
                <a:solidFill>
                  <a:srgbClr val="4A14A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Activity</a:t>
            </a:r>
            <a:r>
              <a:rPr lang="zh-CN" altLang="en-US" b="1" dirty="0" smtClean="0">
                <a:solidFill>
                  <a:srgbClr val="4A14A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完全被遮住</a:t>
            </a:r>
            <a:endParaRPr lang="zh-CN" altLang="en-US" b="1" dirty="0">
              <a:solidFill>
                <a:srgbClr val="4A14AC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cxnSp>
        <p:nvCxnSpPr>
          <p:cNvPr id="42" name="直接箭头连接符 41"/>
          <p:cNvCxnSpPr>
            <a:stCxn id="10" idx="6"/>
            <a:endCxn id="11" idx="2"/>
          </p:cNvCxnSpPr>
          <p:nvPr/>
        </p:nvCxnSpPr>
        <p:spPr bwMode="auto">
          <a:xfrm>
            <a:off x="3008387" y="6300209"/>
            <a:ext cx="3042273" cy="1867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35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4.1.3 Activity</a:t>
            </a:r>
            <a:r>
              <a:rPr lang="zh-CN" altLang="en-US" dirty="0" smtClean="0"/>
              <a:t>生命周期的事件回调函数</a:t>
            </a:r>
            <a:endParaRPr lang="en-US" altLang="zh-CN" dirty="0" smtClean="0"/>
          </a:p>
          <a:p>
            <a:pPr lvl="2"/>
            <a:r>
              <a:rPr lang="zh-CN" altLang="en-US" dirty="0"/>
              <a:t>什么是回调函数</a:t>
            </a:r>
          </a:p>
          <a:p>
            <a:pPr lvl="3"/>
            <a:r>
              <a:rPr lang="zh-CN" altLang="en-US" dirty="0" smtClean="0"/>
              <a:t>应用程序调用库函数</a:t>
            </a:r>
            <a:r>
              <a:rPr lang="zh-CN" altLang="en-US" dirty="0"/>
              <a:t>时，该函数又要求应用程序先传给它一个函数，以便在合适的</a:t>
            </a:r>
            <a:r>
              <a:rPr lang="zh-CN" altLang="en-US" dirty="0" smtClean="0"/>
              <a:t>时候（事件发生时）调用</a:t>
            </a:r>
            <a:r>
              <a:rPr lang="zh-CN" altLang="en-US" dirty="0"/>
              <a:t>，以</a:t>
            </a:r>
            <a:r>
              <a:rPr lang="zh-CN" altLang="en-US" dirty="0" smtClean="0"/>
              <a:t>完成应用程序给定的任务。这个</a:t>
            </a:r>
            <a:r>
              <a:rPr lang="zh-CN" altLang="en-US" dirty="0"/>
              <a:t>要求被传入的，后又被调用的函数就成为回调函</a:t>
            </a:r>
            <a:r>
              <a:rPr lang="zh-CN" altLang="en-US" dirty="0" smtClean="0"/>
              <a:t>数</a:t>
            </a:r>
            <a:endParaRPr lang="en-US" altLang="zh-CN" dirty="0" smtClean="0"/>
          </a:p>
        </p:txBody>
      </p:sp>
      <p:sp>
        <p:nvSpPr>
          <p:cNvPr id="2" name="矩形 1"/>
          <p:cNvSpPr/>
          <p:nvPr/>
        </p:nvSpPr>
        <p:spPr>
          <a:xfrm>
            <a:off x="2051719" y="4797152"/>
            <a:ext cx="6480720" cy="8640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b="1" dirty="0" smtClean="0"/>
              <a:t>应用程序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2051720" y="5661248"/>
            <a:ext cx="6480720" cy="100811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zh-CN" altLang="en-US" b="1" dirty="0" smtClean="0"/>
              <a:t>软件库</a:t>
            </a:r>
            <a:endParaRPr lang="zh-CN" altLang="en-US" b="1" dirty="0"/>
          </a:p>
        </p:txBody>
      </p:sp>
      <p:sp>
        <p:nvSpPr>
          <p:cNvPr id="3" name="椭圆 2"/>
          <p:cNvSpPr/>
          <p:nvPr/>
        </p:nvSpPr>
        <p:spPr>
          <a:xfrm>
            <a:off x="4283967" y="5805264"/>
            <a:ext cx="2016224" cy="504056"/>
          </a:xfrm>
          <a:prstGeom prst="ellipse">
            <a:avLst/>
          </a:prstGeom>
          <a:gradFill flip="none" rotWithShape="1">
            <a:gsLst>
              <a:gs pos="98000">
                <a:schemeClr val="tx2">
                  <a:lumMod val="25000"/>
                  <a:lumOff val="75000"/>
                </a:schemeClr>
              </a:gs>
              <a:gs pos="833">
                <a:srgbClr val="00B0F0"/>
              </a:gs>
            </a:gsLst>
            <a:path path="rect">
              <a:fillToRect l="50000" t="50000" r="50000" b="50000"/>
            </a:path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库函数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216760" y="4977172"/>
            <a:ext cx="2016224" cy="504056"/>
          </a:xfrm>
          <a:prstGeom prst="ellipse">
            <a:avLst/>
          </a:prstGeom>
          <a:gradFill flip="none" rotWithShape="1">
            <a:gsLst>
              <a:gs pos="98000">
                <a:schemeClr val="tx2">
                  <a:lumMod val="25000"/>
                  <a:lumOff val="75000"/>
                </a:schemeClr>
              </a:gs>
              <a:gs pos="833">
                <a:srgbClr val="00B0F0"/>
              </a:gs>
            </a:gsLst>
            <a:path path="rect">
              <a:fillToRect l="50000" t="50000" r="50000" b="50000"/>
            </a:path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过程代码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372199" y="4977172"/>
            <a:ext cx="2016224" cy="504056"/>
          </a:xfrm>
          <a:prstGeom prst="ellipse">
            <a:avLst/>
          </a:prstGeom>
          <a:gradFill flip="none" rotWithShape="1">
            <a:gsLst>
              <a:gs pos="98000">
                <a:schemeClr val="tx2">
                  <a:lumMod val="25000"/>
                  <a:lumOff val="75000"/>
                </a:schemeClr>
              </a:gs>
              <a:gs pos="833">
                <a:srgbClr val="00B0F0"/>
              </a:gs>
            </a:gsLst>
            <a:path path="rect">
              <a:fillToRect l="50000" t="50000" r="50000" b="50000"/>
            </a:path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回调函数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3" idx="5"/>
            <a:endCxn id="3" idx="1"/>
          </p:cNvCxnSpPr>
          <p:nvPr/>
        </p:nvCxnSpPr>
        <p:spPr bwMode="auto">
          <a:xfrm>
            <a:off x="3937715" y="5407411"/>
            <a:ext cx="641521" cy="471670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3" idx="7"/>
            <a:endCxn id="24" idx="3"/>
          </p:cNvCxnSpPr>
          <p:nvPr/>
        </p:nvCxnSpPr>
        <p:spPr bwMode="auto">
          <a:xfrm flipV="1">
            <a:off x="6004922" y="5407411"/>
            <a:ext cx="662546" cy="471670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40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4.1.3 Activity</a:t>
            </a:r>
            <a:r>
              <a:rPr lang="zh-CN" altLang="en-US" dirty="0" smtClean="0"/>
              <a:t>生命周期的事件回调函数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为什么</a:t>
            </a:r>
            <a:r>
              <a:rPr lang="zh-CN" altLang="en-US" dirty="0"/>
              <a:t>要用回调函数</a:t>
            </a:r>
          </a:p>
          <a:p>
            <a:pPr lvl="3"/>
            <a:r>
              <a:rPr lang="zh-CN" altLang="en-US" dirty="0" smtClean="0"/>
              <a:t>在</a:t>
            </a:r>
            <a:r>
              <a:rPr lang="zh-CN" altLang="en-US" dirty="0"/>
              <a:t>面向对象程序设计中，程序由事件驱动，我们往往将某个事件的发生和某个函数绑定在一起。使得特定事件激活特定的函数。若要让事件执行我们自己的代码，则需要重新绑定，非常麻烦。通过回调函数，则可以把我们的代码，以函数的形式</a:t>
            </a:r>
            <a:r>
              <a:rPr lang="zh-CN" altLang="en-US" dirty="0" smtClean="0"/>
              <a:t>，交由事件绑定的函数调用执行，</a:t>
            </a:r>
            <a:r>
              <a:rPr lang="zh-CN" altLang="en-US" dirty="0"/>
              <a:t>从而</a:t>
            </a:r>
            <a:r>
              <a:rPr lang="zh-CN" altLang="en-US" dirty="0" smtClean="0"/>
              <a:t>实现保证程序的灵活性</a:t>
            </a:r>
            <a:endParaRPr lang="zh-CN" altLang="en-US" dirty="0"/>
          </a:p>
          <a:p>
            <a:pPr lvl="2"/>
            <a:r>
              <a:rPr lang="zh-CN" altLang="en-US" dirty="0" smtClean="0"/>
              <a:t>注意：回调与自定义函数不同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回调函数的函数头、返回值都是已经定义好的，需要按照规定的方式书写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56312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四、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4.1.3 Activity</a:t>
            </a:r>
            <a:r>
              <a:rPr lang="zh-CN" altLang="en-US" dirty="0" smtClean="0"/>
              <a:t>生命周期的事件回调函数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回</a:t>
            </a:r>
            <a:r>
              <a:rPr lang="zh-CN" altLang="en-US" dirty="0"/>
              <a:t>调函</a:t>
            </a:r>
            <a:r>
              <a:rPr lang="zh-CN" altLang="en-US" dirty="0" smtClean="0"/>
              <a:t>数列表</a:t>
            </a:r>
            <a:endParaRPr lang="en-US" altLang="zh-CN" dirty="0" smtClean="0"/>
          </a:p>
          <a:p>
            <a:pPr lvl="2"/>
            <a:endParaRPr lang="zh-CN" altLang="en-US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834287"/>
              </p:ext>
            </p:extLst>
          </p:nvPr>
        </p:nvGraphicFramePr>
        <p:xfrm>
          <a:off x="1259632" y="3717032"/>
          <a:ext cx="7416824" cy="2726729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回调函数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描述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3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 </a:t>
                      </a:r>
                      <a:r>
                        <a:rPr kumimoji="0" lang="en-US" altLang="zh-CN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onCreate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()	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Calibri" pitchFamily="34" charset="0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tc>
                  <a:txBody>
                    <a:bodyPr/>
                    <a:lstStyle>
                      <a:lvl1pPr indent="2667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2667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在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第一次被创建的时候调用。可在此处做初始化设置──创建视图、绑定数据至列表等。如果曾经有状态记录，则调用此方法时会传入一个表示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以前状态的包对象做为参数。 继以</a:t>
                      </a:r>
                      <a:r>
                        <a:rPr kumimoji="0" lang="en-US" altLang="zh-CN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onStart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()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9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 </a:t>
                      </a:r>
                      <a:r>
                        <a:rPr kumimoji="0" lang="en-US" altLang="zh-CN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onRestart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()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Calibri" pitchFamily="34" charset="0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tc>
                  <a:txBody>
                    <a:bodyPr/>
                    <a:lstStyle>
                      <a:lvl1pPr indent="2667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2667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在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停止后，再次启动前被调用。 继以</a:t>
                      </a:r>
                      <a:r>
                        <a:rPr kumimoji="0" lang="en-US" altLang="zh-CN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onStart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()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Calibri" pitchFamily="34" charset="0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0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 </a:t>
                      </a:r>
                      <a:r>
                        <a:rPr kumimoji="0" lang="en-US" altLang="zh-CN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onStart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()	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Calibri" pitchFamily="34" charset="0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tc>
                  <a:txBody>
                    <a:bodyPr/>
                    <a:lstStyle>
                      <a:lvl1pPr indent="2667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2667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当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正要变得为用户所见时被调用 </a:t>
                      </a:r>
                    </a:p>
                    <a:p>
                      <a:pPr marL="0" marR="0" lvl="0" indent="2667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当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转向前台时继以</a:t>
                      </a:r>
                      <a:r>
                        <a:rPr kumimoji="0" lang="en-US" altLang="zh-CN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onResume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();</a:t>
                      </a:r>
                      <a:endParaRPr kumimoji="0" lang="zh-CN" altLang="en-US" sz="1400" u="none" strike="noStrike" cap="none" normalizeH="0" baseline="0" dirty="0" smtClean="0">
                        <a:ln>
                          <a:noFill/>
                        </a:ln>
                        <a:effectLst/>
                        <a:sym typeface="Calibri" pitchFamily="34" charset="0"/>
                      </a:endParaRPr>
                    </a:p>
                    <a:p>
                      <a:pPr marL="0" marR="0" lvl="0" indent="2667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当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变为隐藏时继以</a:t>
                      </a:r>
                      <a:r>
                        <a:rPr kumimoji="0" lang="en-US" altLang="zh-CN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onStop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()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5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 </a:t>
                      </a:r>
                      <a:r>
                        <a:rPr kumimoji="0" lang="en-US" altLang="zh-CN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onResume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()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Calibri" pitchFamily="34" charset="0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tc>
                  <a:txBody>
                    <a:bodyPr/>
                    <a:lstStyle>
                      <a:lvl1pPr indent="2667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2667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在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开始与用户进行交互之前被调用。此时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位于堆栈顶部，用户可见。继以</a:t>
                      </a:r>
                      <a:r>
                        <a:rPr kumimoji="0" lang="en-US" altLang="zh-CN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onPause</a:t>
                      </a:r>
                      <a:r>
                        <a:rPr kumimoji="0" lang="en-US" altLang="zh-CN" sz="1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Calibri" pitchFamily="34" charset="0"/>
                        </a:rPr>
                        <a:t>()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61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四、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4.1.3 Activity</a:t>
            </a:r>
            <a:r>
              <a:rPr lang="zh-CN" altLang="en-US" dirty="0" smtClean="0"/>
              <a:t>生命周期的事件回调函数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回</a:t>
            </a:r>
            <a:r>
              <a:rPr lang="zh-CN" altLang="en-US" dirty="0"/>
              <a:t>调函</a:t>
            </a:r>
            <a:r>
              <a:rPr lang="zh-CN" altLang="en-US" dirty="0" smtClean="0"/>
              <a:t>数列表</a:t>
            </a:r>
            <a:endParaRPr lang="en-US" altLang="zh-CN" dirty="0" smtClean="0"/>
          </a:p>
          <a:p>
            <a:pPr lvl="2"/>
            <a:endParaRPr lang="zh-CN" altLang="en-US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25710"/>
              </p:ext>
            </p:extLst>
          </p:nvPr>
        </p:nvGraphicFramePr>
        <p:xfrm>
          <a:off x="1259632" y="3717032"/>
          <a:ext cx="7488832" cy="2853348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回调函数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sym typeface="宋体" pitchFamily="2" charset="-122"/>
                        </a:rPr>
                        <a:t>描述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92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 </a:t>
                      </a:r>
                      <a:r>
                        <a:rPr kumimoji="0" lang="en-US" altLang="zh-CN" sz="14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onPause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()</a:t>
                      </a:r>
                      <a:endParaRPr kumimoji="0" lang="en-US" altLang="zh-CN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tc>
                  <a:txBody>
                    <a:bodyPr/>
                    <a:lstStyle>
                      <a:lvl1pPr indent="2667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当系统将要启动另一个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或者弹出对话框时调用。此方法主要用于将所有持久性数据写入存储之中，应该在短时间内完成，因为下一个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必须等到此方法返回后才会继续。</a:t>
                      </a:r>
                    </a:p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当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重新回到前台时继以</a:t>
                      </a:r>
                      <a:r>
                        <a:rPr kumimoji="0" lang="en-US" altLang="zh-CN" sz="14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onResume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();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当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变为用户不可见时继以</a:t>
                      </a:r>
                      <a:r>
                        <a:rPr kumimoji="0" lang="en-US" altLang="zh-CN" sz="14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onStop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()</a:t>
                      </a:r>
                      <a:endParaRPr kumimoji="0" lang="zh-CN" altLang="en-US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1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  </a:t>
                      </a:r>
                      <a:r>
                        <a:rPr kumimoji="0" lang="en-US" altLang="zh-CN" sz="14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onStop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()</a:t>
                      </a:r>
                      <a:endParaRPr kumimoji="0" lang="en-US" altLang="zh-CN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tc>
                  <a:txBody>
                    <a:bodyPr/>
                    <a:lstStyle>
                      <a:lvl1pPr indent="2667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当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不再为用户可见时调用。这可能发生在它被销毁或者另一个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（可能是现存的或者是新的）回到运行状态并覆盖它时</a:t>
                      </a:r>
                    </a:p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如果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再次回到前台跟用户交互则继以</a:t>
                      </a:r>
                      <a:r>
                        <a:rPr kumimoji="0" lang="en-US" altLang="zh-CN" sz="14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onRestart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();</a:t>
                      </a:r>
                      <a:endParaRPr kumimoji="0" lang="zh-CN" altLang="en-US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Calibri" pitchFamily="34" charset="0"/>
                      </a:endParaRPr>
                    </a:p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如果关闭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则继以</a:t>
                      </a:r>
                      <a:r>
                        <a:rPr kumimoji="0" lang="en-US" altLang="zh-CN" sz="14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onDestroy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()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。</a:t>
                      </a:r>
                      <a:endParaRPr kumimoji="0" lang="zh-CN" altLang="en-US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0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 </a:t>
                      </a:r>
                      <a:r>
                        <a:rPr kumimoji="0" lang="en-US" altLang="zh-CN" sz="14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onDestroy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()</a:t>
                      </a:r>
                      <a:endParaRPr kumimoji="0" lang="en-US" altLang="zh-CN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tc>
                  <a:txBody>
                    <a:bodyPr/>
                    <a:lstStyle>
                      <a:lvl1pPr indent="2667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在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销毁前调用，这可能发生在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结束或者因为系统需要临时空间而销毁该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Activity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实例时。可以用</a:t>
                      </a:r>
                      <a:r>
                        <a:rPr kumimoji="0" lang="en-US" altLang="zh-CN" sz="14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isFinishing</a:t>
                      </a:r>
                      <a:r>
                        <a:rPr kumimoji="0" lang="en-US" altLang="zh-CN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Calibri" pitchFamily="34" charset="0"/>
                        </a:rPr>
                        <a:t>()</a:t>
                      </a:r>
                      <a:r>
                        <a:rPr kumimoji="0" lang="zh-CN" altLang="en-US" sz="1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宋体" pitchFamily="2" charset="-122"/>
                        </a:rPr>
                        <a:t>方法来区分这两种情况</a:t>
                      </a:r>
                      <a:endParaRPr kumimoji="0" lang="zh-CN" altLang="en-US" sz="14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itchFamily="18" charset="0"/>
                      </a:endParaRPr>
                    </a:p>
                  </a:txBody>
                  <a:tcPr marL="39774" marR="39774" marT="26514" marB="26514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93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1757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四、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7504" y="1916832"/>
            <a:ext cx="4104456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4.1.3 Activity</a:t>
            </a:r>
            <a:r>
              <a:rPr lang="zh-CN" altLang="en-US" dirty="0" smtClean="0"/>
              <a:t>生命周期的事件回调函数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生命周期过程</a:t>
            </a:r>
            <a:endParaRPr lang="en-US" altLang="zh-CN" dirty="0" smtClean="0"/>
          </a:p>
          <a:p>
            <a:pPr lvl="2"/>
            <a:r>
              <a:rPr lang="zh-CN" altLang="en-US" dirty="0"/>
              <a:t>历经</a:t>
            </a:r>
            <a:r>
              <a:rPr lang="zh-CN" altLang="en-US" dirty="0" smtClean="0"/>
              <a:t>状态变化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相关事件及回调函数</a:t>
            </a:r>
            <a:endParaRPr lang="en-US" altLang="zh-CN" dirty="0" smtClean="0"/>
          </a:p>
          <a:p>
            <a:pPr lvl="2"/>
            <a:endParaRPr lang="zh-CN" altLang="en-US" dirty="0"/>
          </a:p>
        </p:txBody>
      </p:sp>
      <p:pic>
        <p:nvPicPr>
          <p:cNvPr id="6" name="Picture 22" descr="Activity生命周期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82" y="1340769"/>
            <a:ext cx="4525202" cy="5377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272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四、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4.1.3 Activity</a:t>
            </a:r>
            <a:r>
              <a:rPr lang="zh-CN" altLang="en-US" dirty="0" smtClean="0"/>
              <a:t>生命周期的事件回调函数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创建一个生命周期的实例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单个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的运行情况</a:t>
            </a:r>
            <a:endParaRPr lang="en-US" altLang="zh-CN" dirty="0" smtClean="0"/>
          </a:p>
          <a:p>
            <a:pPr lvl="3"/>
            <a:endParaRPr lang="zh-CN" alt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861048"/>
            <a:ext cx="6002414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765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四、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及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通信机制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16832"/>
            <a:ext cx="8435280" cy="48058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4.1 Activity</a:t>
            </a:r>
            <a:r>
              <a:rPr lang="zh-CN" altLang="en-US" dirty="0" smtClean="0"/>
              <a:t>生命周期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4.1.3 Activity</a:t>
            </a:r>
            <a:r>
              <a:rPr lang="zh-CN" altLang="en-US" dirty="0" smtClean="0"/>
              <a:t>生命周期的事件回调函数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创建一个生命周期的实例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多个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的运行情况</a:t>
            </a:r>
            <a:endParaRPr lang="en-US" altLang="zh-CN" dirty="0" smtClean="0"/>
          </a:p>
          <a:p>
            <a:pPr lvl="3"/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861048"/>
            <a:ext cx="5882970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453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四、</a:t>
            </a:r>
            <a:r>
              <a:rPr lang="en-US" altLang="zh-CN" dirty="0"/>
              <a:t>Activity</a:t>
            </a:r>
            <a:r>
              <a:rPr lang="zh-CN" altLang="en-US" dirty="0"/>
              <a:t>及</a:t>
            </a:r>
            <a:r>
              <a:rPr lang="en-US" altLang="zh-CN" dirty="0"/>
              <a:t>Intent</a:t>
            </a:r>
            <a:r>
              <a:rPr lang="zh-CN" altLang="en-US" dirty="0"/>
              <a:t>通信机制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4.3 Intent</a:t>
            </a:r>
          </a:p>
          <a:p>
            <a:pPr lvl="1"/>
            <a:r>
              <a:rPr lang="en-US" altLang="zh-CN" dirty="0" smtClean="0"/>
              <a:t>Android</a:t>
            </a:r>
            <a:r>
              <a:rPr lang="zh-CN" altLang="en-US" dirty="0" smtClean="0"/>
              <a:t>各个组件之间使用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进行通信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4.3.1 Intent</a:t>
            </a:r>
            <a:r>
              <a:rPr lang="zh-CN" altLang="en-US" dirty="0" smtClean="0"/>
              <a:t>构成与属性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Intent</a:t>
            </a:r>
            <a:r>
              <a:rPr lang="zh-CN" altLang="en-US" dirty="0" smtClean="0"/>
              <a:t>是一个完整的动作描述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动作产生组件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动作接收组件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传递的数据信息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一部分已经定义的动作和数据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例：在应用中启动系统的拨号面板并导入号码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用户自己定义的数据，可以使用扩展信息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例：在应用中使用多个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并传递数据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2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6860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四、</a:t>
            </a:r>
            <a:r>
              <a:rPr lang="en-US" altLang="zh-CN" dirty="0"/>
              <a:t>Activity</a:t>
            </a:r>
            <a:r>
              <a:rPr lang="zh-CN" altLang="en-US" dirty="0"/>
              <a:t>及</a:t>
            </a:r>
            <a:r>
              <a:rPr lang="en-US" altLang="zh-CN" dirty="0"/>
              <a:t>Intent</a:t>
            </a:r>
            <a:r>
              <a:rPr lang="zh-CN" altLang="en-US" dirty="0"/>
              <a:t>通信机制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4.3 Intent</a:t>
            </a:r>
          </a:p>
          <a:p>
            <a:pPr lvl="1"/>
            <a:r>
              <a:rPr lang="en-US" altLang="zh-CN" dirty="0" smtClean="0"/>
              <a:t>4.3.2 Intent</a:t>
            </a:r>
            <a:r>
              <a:rPr lang="zh-CN" altLang="en-US" dirty="0" smtClean="0"/>
              <a:t>解析及实例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实例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：使用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实现开启网页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使用自定义的</a:t>
            </a:r>
            <a:r>
              <a:rPr lang="en-US" altLang="zh-CN" dirty="0" smtClean="0"/>
              <a:t>”</a:t>
            </a:r>
            <a:r>
              <a:rPr lang="en-US" altLang="zh-CN" dirty="0" err="1" smtClean="0"/>
              <a:t>text_action</a:t>
            </a:r>
            <a:r>
              <a:rPr lang="en-US" altLang="zh-CN" dirty="0" smtClean="0"/>
              <a:t>”</a:t>
            </a:r>
            <a:r>
              <a:rPr lang="zh-CN" altLang="en-US" dirty="0" smtClean="0"/>
              <a:t>动作启动窗体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/>
              <a:t>SetAciton</a:t>
            </a:r>
            <a:r>
              <a:rPr lang="en-US" altLang="zh-CN" dirty="0"/>
              <a:t>()</a:t>
            </a:r>
            <a:r>
              <a:rPr lang="zh-CN" altLang="en-US" dirty="0"/>
              <a:t>来</a:t>
            </a:r>
            <a:r>
              <a:rPr lang="zh-CN" altLang="en-US" dirty="0" smtClean="0"/>
              <a:t>设置</a:t>
            </a:r>
            <a:r>
              <a:rPr lang="en-US" altLang="zh-CN" dirty="0" smtClean="0"/>
              <a:t>intent</a:t>
            </a:r>
            <a:r>
              <a:rPr lang="zh-CN" altLang="en-US" dirty="0"/>
              <a:t>的</a:t>
            </a:r>
            <a:r>
              <a:rPr lang="zh-CN" altLang="en-US" dirty="0" smtClean="0"/>
              <a:t>动作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SetData</a:t>
            </a:r>
            <a:r>
              <a:rPr lang="en-US" altLang="zh-CN" dirty="0" smtClean="0"/>
              <a:t>()</a:t>
            </a:r>
            <a:r>
              <a:rPr lang="zh-CN" altLang="en-US" dirty="0" smtClean="0"/>
              <a:t>来设置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与动作相关的数据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/>
              <a:t>intent</a:t>
            </a:r>
            <a:r>
              <a:rPr lang="zh-CN" altLang="en-US" dirty="0"/>
              <a:t>启动</a:t>
            </a:r>
            <a:r>
              <a:rPr lang="en-US" altLang="zh-CN" dirty="0"/>
              <a:t>Activity</a:t>
            </a:r>
          </a:p>
          <a:p>
            <a:pPr lvl="4"/>
            <a:r>
              <a:rPr lang="zh-CN" altLang="en-US" dirty="0" smtClean="0"/>
              <a:t>打开网页的例子：</a:t>
            </a:r>
            <a:endParaRPr lang="en-US" altLang="zh-CN" dirty="0" smtClean="0"/>
          </a:p>
          <a:p>
            <a:pPr lvl="4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229200"/>
            <a:ext cx="5505450" cy="10001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6542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四、</a:t>
            </a:r>
            <a:r>
              <a:rPr lang="en-US" altLang="zh-CN" dirty="0"/>
              <a:t>Activity</a:t>
            </a:r>
            <a:r>
              <a:rPr lang="zh-CN" altLang="en-US" dirty="0"/>
              <a:t>及</a:t>
            </a:r>
            <a:r>
              <a:rPr lang="en-US" altLang="zh-CN" dirty="0"/>
              <a:t>Intent</a:t>
            </a:r>
            <a:r>
              <a:rPr lang="zh-CN" altLang="en-US" dirty="0"/>
              <a:t>通信机制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4.3 Intent</a:t>
            </a:r>
          </a:p>
          <a:p>
            <a:pPr lvl="1"/>
            <a:r>
              <a:rPr lang="en-US" altLang="zh-CN" dirty="0"/>
              <a:t>4.3.3 Activity</a:t>
            </a:r>
            <a:r>
              <a:rPr lang="zh-CN" altLang="en-US" dirty="0"/>
              <a:t>的跳</a:t>
            </a:r>
            <a:r>
              <a:rPr lang="zh-CN" altLang="en-US" dirty="0" smtClean="0"/>
              <a:t>转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Intent</a:t>
            </a:r>
            <a:r>
              <a:rPr lang="zh-CN" altLang="en-US" dirty="0" smtClean="0"/>
              <a:t>被称为两个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之间的信使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通过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Bundle</a:t>
            </a:r>
            <a:r>
              <a:rPr lang="zh-CN" altLang="en-US" dirty="0" smtClean="0"/>
              <a:t>对象，实现数据交换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Bundle</a:t>
            </a:r>
            <a:r>
              <a:rPr lang="zh-CN" altLang="en-US" dirty="0" smtClean="0"/>
              <a:t>传递数据的具体方式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定义并创建</a:t>
            </a:r>
            <a:r>
              <a:rPr lang="en-US" altLang="zh-CN" dirty="0" smtClean="0"/>
              <a:t>Bundle</a:t>
            </a:r>
            <a:r>
              <a:rPr lang="zh-CN" altLang="en-US" dirty="0" smtClean="0"/>
              <a:t>对象</a:t>
            </a:r>
            <a:r>
              <a:rPr lang="en-US" altLang="zh-CN" dirty="0" err="1" smtClean="0"/>
              <a:t>bd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使用</a:t>
            </a:r>
            <a:r>
              <a:rPr lang="en-US" altLang="zh-CN" dirty="0" err="1" smtClean="0"/>
              <a:t>bd</a:t>
            </a:r>
            <a:r>
              <a:rPr lang="zh-CN" altLang="en-US" dirty="0" smtClean="0"/>
              <a:t>对象的</a:t>
            </a:r>
            <a:r>
              <a:rPr lang="en-US" altLang="zh-CN" dirty="0" err="1" smtClean="0"/>
              <a:t>putXXX</a:t>
            </a:r>
            <a:r>
              <a:rPr lang="zh-CN" altLang="en-US" dirty="0"/>
              <a:t>（</a:t>
            </a:r>
            <a:r>
              <a:rPr lang="en-US" altLang="zh-CN" dirty="0"/>
              <a:t>key, </a:t>
            </a:r>
            <a:r>
              <a:rPr lang="zh-CN" altLang="en-US" dirty="0"/>
              <a:t>数据</a:t>
            </a:r>
            <a:r>
              <a:rPr lang="zh-CN" altLang="en-US" dirty="0" smtClean="0"/>
              <a:t>）指令将数据存入</a:t>
            </a:r>
            <a:r>
              <a:rPr lang="en-US" altLang="zh-CN" dirty="0" err="1" smtClean="0"/>
              <a:t>bd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定义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对象，使用</a:t>
            </a:r>
            <a:r>
              <a:rPr lang="en-US" altLang="zh-CN" dirty="0" err="1" smtClean="0"/>
              <a:t>putExtras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bd</a:t>
            </a:r>
            <a:r>
              <a:rPr lang="en-US" altLang="zh-CN" dirty="0" smtClean="0"/>
              <a:t>)</a:t>
            </a:r>
            <a:r>
              <a:rPr lang="zh-CN" altLang="en-US" dirty="0" smtClean="0"/>
              <a:t>将</a:t>
            </a:r>
            <a:r>
              <a:rPr lang="en-US" altLang="zh-CN" dirty="0" err="1" smtClean="0"/>
              <a:t>bd</a:t>
            </a:r>
            <a:r>
              <a:rPr lang="zh-CN" altLang="en-US" dirty="0" smtClean="0"/>
              <a:t>作为传递内容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使用</a:t>
            </a:r>
            <a:r>
              <a:rPr lang="en-US" altLang="zh-CN" dirty="0" err="1" smtClean="0"/>
              <a:t>startActivity</a:t>
            </a:r>
            <a:r>
              <a:rPr lang="zh-CN" altLang="en-US" dirty="0" smtClean="0"/>
              <a:t>启动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对象连接的对应窗体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在新窗体上定义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，使用</a:t>
            </a:r>
            <a:r>
              <a:rPr lang="en-US" altLang="zh-CN" dirty="0" err="1" smtClean="0"/>
              <a:t>getIntent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方法来获取已有的对象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在新窗体上定义</a:t>
            </a:r>
            <a:r>
              <a:rPr lang="en-US" altLang="zh-CN" dirty="0" smtClean="0"/>
              <a:t>Bundle</a:t>
            </a:r>
            <a:r>
              <a:rPr lang="zh-CN" altLang="en-US" dirty="0" smtClean="0"/>
              <a:t>，使用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来获取已有的</a:t>
            </a:r>
            <a:r>
              <a:rPr lang="en-US" altLang="zh-CN" dirty="0" smtClean="0"/>
              <a:t>Bundle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从新</a:t>
            </a:r>
            <a:r>
              <a:rPr lang="en-US" altLang="zh-CN" dirty="0" smtClean="0"/>
              <a:t>Bundle</a:t>
            </a:r>
            <a:r>
              <a:rPr lang="zh-CN" altLang="en-US" dirty="0" smtClean="0"/>
              <a:t>对象中，使用</a:t>
            </a:r>
            <a:r>
              <a:rPr lang="en-US" altLang="zh-CN" dirty="0" err="1" smtClean="0"/>
              <a:t>getXXX</a:t>
            </a:r>
            <a:r>
              <a:rPr lang="zh-CN" altLang="en-US" dirty="0" smtClean="0"/>
              <a:t>（</a:t>
            </a:r>
            <a:r>
              <a:rPr lang="en-US" altLang="zh-CN" dirty="0" smtClean="0"/>
              <a:t>key</a:t>
            </a:r>
            <a:r>
              <a:rPr lang="zh-CN" altLang="en-US" dirty="0" smtClean="0"/>
              <a:t>）来获取对应的数据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8858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四、</a:t>
            </a:r>
            <a:r>
              <a:rPr lang="en-US" altLang="zh-CN" dirty="0"/>
              <a:t>Activity</a:t>
            </a:r>
            <a:r>
              <a:rPr lang="zh-CN" altLang="en-US" dirty="0"/>
              <a:t>及</a:t>
            </a:r>
            <a:r>
              <a:rPr lang="en-US" altLang="zh-CN" dirty="0"/>
              <a:t>Intent</a:t>
            </a:r>
            <a:r>
              <a:rPr lang="zh-CN" altLang="en-US" dirty="0"/>
              <a:t>通信机制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4.3 Intent</a:t>
            </a:r>
          </a:p>
          <a:p>
            <a:pPr lvl="1"/>
            <a:r>
              <a:rPr lang="en-US" altLang="zh-CN" dirty="0" smtClean="0"/>
              <a:t>4.3.3 Activity</a:t>
            </a:r>
            <a:r>
              <a:rPr lang="zh-CN" altLang="en-US" dirty="0" smtClean="0"/>
              <a:t>的跳转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实例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：不带参数跳转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定义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对象，并指明动作产生对象，动作接收类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</a:t>
            </a:r>
            <a:r>
              <a:rPr lang="en-US" altLang="zh-CN" dirty="0" err="1" smtClean="0"/>
              <a:t>StartActivity</a:t>
            </a:r>
            <a:r>
              <a:rPr lang="zh-CN" altLang="en-US" dirty="0" smtClean="0"/>
              <a:t>并将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对象作为参数，启动另一个</a:t>
            </a:r>
            <a:r>
              <a:rPr lang="en-US" altLang="zh-CN" dirty="0" smtClean="0"/>
              <a:t>Activity</a:t>
            </a:r>
          </a:p>
          <a:p>
            <a:pPr lvl="4"/>
            <a:r>
              <a:rPr lang="zh-CN" altLang="en-US" dirty="0" smtClean="0"/>
              <a:t>两种方式如下：</a:t>
            </a:r>
            <a:endParaRPr lang="en-US" altLang="zh-CN" dirty="0" smtClean="0"/>
          </a:p>
          <a:p>
            <a:pPr lvl="4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653136"/>
            <a:ext cx="7048500" cy="6477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5634186"/>
            <a:ext cx="6010275" cy="819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07202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四、</a:t>
            </a:r>
            <a:r>
              <a:rPr lang="en-US" altLang="zh-CN" dirty="0"/>
              <a:t>Activity</a:t>
            </a:r>
            <a:r>
              <a:rPr lang="zh-CN" altLang="en-US" dirty="0"/>
              <a:t>及</a:t>
            </a:r>
            <a:r>
              <a:rPr lang="en-US" altLang="zh-CN" dirty="0"/>
              <a:t>Intent</a:t>
            </a:r>
            <a:r>
              <a:rPr lang="zh-CN" altLang="en-US" dirty="0"/>
              <a:t>通信机制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4.3 Intent</a:t>
            </a:r>
          </a:p>
          <a:p>
            <a:pPr lvl="1"/>
            <a:r>
              <a:rPr lang="en-US" altLang="zh-CN" dirty="0" smtClean="0"/>
              <a:t>4.3.3 Activity</a:t>
            </a:r>
            <a:r>
              <a:rPr lang="zh-CN" altLang="en-US" dirty="0" smtClean="0"/>
              <a:t>的跳转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实例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：带参数的跳转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需要使用</a:t>
            </a:r>
            <a:r>
              <a:rPr lang="en-US" altLang="zh-CN" dirty="0" smtClean="0"/>
              <a:t>Bundle</a:t>
            </a:r>
            <a:r>
              <a:rPr lang="zh-CN" altLang="en-US" dirty="0" smtClean="0"/>
              <a:t>来封装数据</a:t>
            </a:r>
            <a:endParaRPr lang="en-US" altLang="zh-CN" dirty="0" smtClean="0"/>
          </a:p>
          <a:p>
            <a:pPr lvl="4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933056"/>
            <a:ext cx="7389650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655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两个概念</a:t>
            </a:r>
            <a:endParaRPr lang="en-US" altLang="zh-CN" dirty="0"/>
          </a:p>
          <a:p>
            <a:pPr lvl="1"/>
            <a:r>
              <a:rPr lang="zh-CN" altLang="en-US" dirty="0" smtClean="0"/>
              <a:t>控件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继承自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，可完成特定的功能的类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外观（属性）：大小、位置、字体、色彩、文本、图片等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操作（事件）：点击、双击、状态改变等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行为（方法）：让控件实现特定的操作的方法</a:t>
            </a:r>
            <a:endParaRPr lang="en-US" altLang="zh-CN" dirty="0"/>
          </a:p>
          <a:p>
            <a:pPr lvl="1"/>
            <a:r>
              <a:rPr lang="zh-CN" altLang="en-US" dirty="0" smtClean="0"/>
              <a:t>容器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继承自</a:t>
            </a:r>
            <a:r>
              <a:rPr lang="en-US" altLang="zh-CN" dirty="0" err="1" smtClean="0"/>
              <a:t>ViewGroup</a:t>
            </a:r>
            <a:r>
              <a:rPr lang="zh-CN" altLang="en-US" dirty="0" smtClean="0"/>
              <a:t>，以一定的规则来放置控件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ViewGroup</a:t>
            </a:r>
            <a:r>
              <a:rPr lang="zh-CN" altLang="en-US" dirty="0" smtClean="0"/>
              <a:t>也继承自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，是一种特殊的</a:t>
            </a:r>
            <a:r>
              <a:rPr lang="en-US" altLang="zh-CN" dirty="0" smtClean="0"/>
              <a:t>View</a:t>
            </a:r>
          </a:p>
          <a:p>
            <a:pPr lvl="3"/>
            <a:r>
              <a:rPr lang="zh-CN" altLang="en-US" dirty="0" smtClean="0"/>
              <a:t>通过容器可以方便的排列和归</a:t>
            </a:r>
            <a:r>
              <a:rPr lang="zh-CN" altLang="en-US" dirty="0"/>
              <a:t>类</a:t>
            </a:r>
            <a:r>
              <a:rPr lang="zh-CN" altLang="en-US" dirty="0" smtClean="0"/>
              <a:t>控件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6495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5.1 View</a:t>
            </a:r>
          </a:p>
          <a:p>
            <a:pPr lvl="1"/>
            <a:r>
              <a:rPr lang="en-US" altLang="zh-CN" dirty="0" smtClean="0"/>
              <a:t>5.1.1 View</a:t>
            </a:r>
            <a:r>
              <a:rPr lang="zh-CN" altLang="en-US" dirty="0"/>
              <a:t>简介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所有可视化控件的基类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主要提供控件绘制和事件处理的方法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View</a:t>
            </a:r>
            <a:r>
              <a:rPr lang="zh-CN" altLang="en-US" dirty="0" smtClean="0"/>
              <a:t>类及其子类的相关属性设置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在</a:t>
            </a:r>
            <a:r>
              <a:rPr lang="en-US" altLang="zh-CN" dirty="0" smtClean="0"/>
              <a:t>XML</a:t>
            </a:r>
            <a:r>
              <a:rPr lang="zh-CN" altLang="en-US" dirty="0" smtClean="0"/>
              <a:t>布局文件中进行设置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通过成员方法在代码中进行设置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08449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5.1 View</a:t>
            </a:r>
          </a:p>
          <a:p>
            <a:pPr lvl="1"/>
            <a:r>
              <a:rPr lang="en-US" altLang="zh-CN" dirty="0" smtClean="0"/>
              <a:t>5.1.1 View</a:t>
            </a:r>
            <a:r>
              <a:rPr lang="zh-CN" altLang="en-US" dirty="0"/>
              <a:t>简介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View</a:t>
            </a:r>
            <a:r>
              <a:rPr lang="zh-CN" altLang="en-US" dirty="0" smtClean="0"/>
              <a:t>的继承关系</a:t>
            </a:r>
            <a:endParaRPr lang="en-US" altLang="zh-CN" dirty="0" smtClean="0"/>
          </a:p>
        </p:txBody>
      </p:sp>
      <p:sp>
        <p:nvSpPr>
          <p:cNvPr id="2" name="矩形 1"/>
          <p:cNvSpPr/>
          <p:nvPr/>
        </p:nvSpPr>
        <p:spPr>
          <a:xfrm>
            <a:off x="4499992" y="2924944"/>
            <a:ext cx="1324947" cy="487332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latin typeface="+mn-ea"/>
              </a:rPr>
              <a:t>View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6216" y="4021788"/>
            <a:ext cx="1523689" cy="487332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 smtClean="0">
                <a:latin typeface="+mn-ea"/>
              </a:rPr>
              <a:t>TextView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39752" y="4033773"/>
            <a:ext cx="1656184" cy="487332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 smtClean="0">
                <a:latin typeface="+mn-ea"/>
              </a:rPr>
              <a:t>ViewGroup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73093" y="4957892"/>
            <a:ext cx="1391195" cy="487332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 smtClean="0">
                <a:latin typeface="+mn-ea"/>
              </a:rPr>
              <a:t>EditView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452320" y="4957892"/>
            <a:ext cx="1258700" cy="487332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latin typeface="+mn-ea"/>
              </a:rPr>
              <a:t>Button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20930" y="4941168"/>
            <a:ext cx="1854926" cy="487332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latin typeface="+mn-ea"/>
              </a:rPr>
              <a:t>视图容器类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91880" y="4941168"/>
            <a:ext cx="1656184" cy="487332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latin typeface="+mn-ea"/>
              </a:rPr>
              <a:t>Layout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1560" y="5893996"/>
            <a:ext cx="1512168" cy="487332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 smtClean="0">
                <a:latin typeface="+mn-ea"/>
              </a:rPr>
              <a:t>GridView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83768" y="5893996"/>
            <a:ext cx="1484548" cy="487332"/>
          </a:xfrm>
          <a:prstGeom prst="rect">
            <a:avLst/>
          </a:prstGeom>
          <a:ln w="28575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 smtClean="0">
                <a:latin typeface="+mn-ea"/>
              </a:rPr>
              <a:t>ListView</a:t>
            </a:r>
            <a:endParaRPr lang="zh-CN" altLang="en-US" sz="2400" b="1" dirty="0">
              <a:latin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3635896" y="3412276"/>
            <a:ext cx="1080120" cy="609512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5580112" y="3412276"/>
            <a:ext cx="1296144" cy="609512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0" idx="0"/>
          </p:cNvCxnSpPr>
          <p:nvPr/>
        </p:nvCxnSpPr>
        <p:spPr>
          <a:xfrm flipV="1">
            <a:off x="2348393" y="4521106"/>
            <a:ext cx="531419" cy="420062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1" idx="0"/>
          </p:cNvCxnSpPr>
          <p:nvPr/>
        </p:nvCxnSpPr>
        <p:spPr>
          <a:xfrm flipH="1" flipV="1">
            <a:off x="3563888" y="4521105"/>
            <a:ext cx="756084" cy="420063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0"/>
          </p:cNvCxnSpPr>
          <p:nvPr/>
        </p:nvCxnSpPr>
        <p:spPr>
          <a:xfrm flipV="1">
            <a:off x="6468691" y="4521105"/>
            <a:ext cx="540059" cy="436787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9" idx="0"/>
          </p:cNvCxnSpPr>
          <p:nvPr/>
        </p:nvCxnSpPr>
        <p:spPr>
          <a:xfrm flipH="1" flipV="1">
            <a:off x="7596336" y="4521105"/>
            <a:ext cx="485334" cy="436787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12" idx="3"/>
            <a:endCxn id="13" idx="1"/>
          </p:cNvCxnSpPr>
          <p:nvPr/>
        </p:nvCxnSpPr>
        <p:spPr>
          <a:xfrm>
            <a:off x="2123728" y="6137662"/>
            <a:ext cx="360040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12" idx="0"/>
          </p:cNvCxnSpPr>
          <p:nvPr/>
        </p:nvCxnSpPr>
        <p:spPr>
          <a:xfrm flipV="1">
            <a:off x="1367644" y="5445224"/>
            <a:ext cx="612068" cy="448772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endCxn id="13" idx="0"/>
          </p:cNvCxnSpPr>
          <p:nvPr/>
        </p:nvCxnSpPr>
        <p:spPr>
          <a:xfrm>
            <a:off x="2636168" y="5445224"/>
            <a:ext cx="589874" cy="448772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19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5.1 View</a:t>
            </a:r>
          </a:p>
          <a:p>
            <a:pPr lvl="1"/>
            <a:r>
              <a:rPr lang="en-US" altLang="zh-CN" dirty="0" smtClean="0"/>
              <a:t>5.1.1 View</a:t>
            </a:r>
            <a:r>
              <a:rPr lang="zh-CN" altLang="en-US" dirty="0" smtClean="0"/>
              <a:t>简介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一些高级控件（包含多个对象）继承自</a:t>
            </a:r>
            <a:r>
              <a:rPr lang="en-US" altLang="zh-CN" dirty="0" err="1" smtClean="0"/>
              <a:t>ViewGroup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Android</a:t>
            </a:r>
            <a:r>
              <a:rPr lang="zh-CN" altLang="en-US" dirty="0" smtClean="0"/>
              <a:t>的布局管理器，继承自</a:t>
            </a:r>
            <a:r>
              <a:rPr lang="en-US" altLang="zh-CN" dirty="0" err="1" smtClean="0"/>
              <a:t>ViewGroup</a:t>
            </a:r>
            <a:endParaRPr lang="en-US" altLang="zh-CN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005064"/>
            <a:ext cx="6552728" cy="236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629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5.1 View</a:t>
            </a:r>
          </a:p>
          <a:p>
            <a:pPr lvl="1"/>
            <a:r>
              <a:rPr lang="en-US" altLang="zh-CN" dirty="0" smtClean="0"/>
              <a:t>5.1.2 </a:t>
            </a:r>
            <a:r>
              <a:rPr lang="en-US" altLang="zh-CN" dirty="0" err="1" smtClean="0"/>
              <a:t>TextView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EditText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文本框（</a:t>
            </a:r>
            <a:r>
              <a:rPr lang="en-US" altLang="zh-CN" dirty="0" err="1" smtClean="0"/>
              <a:t>TextView</a:t>
            </a:r>
            <a:r>
              <a:rPr lang="zh-CN" altLang="en-US" dirty="0" smtClean="0"/>
              <a:t>）概述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该控件用于在屏幕上显示文本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同其他软件的</a:t>
            </a:r>
            <a:r>
              <a:rPr lang="en-US" altLang="zh-CN" dirty="0" smtClean="0"/>
              <a:t>Label</a:t>
            </a:r>
            <a:r>
              <a:rPr lang="zh-CN" altLang="en-US" dirty="0" smtClean="0"/>
              <a:t>控件类似，只显示文本，用户不可编辑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可显示单行、多行、</a:t>
            </a:r>
            <a:r>
              <a:rPr lang="zh-CN" altLang="en-US" dirty="0" smtClean="0">
                <a:solidFill>
                  <a:srgbClr val="FF0000"/>
                </a:solidFill>
              </a:rPr>
              <a:t>附带图像</a:t>
            </a:r>
            <a:r>
              <a:rPr lang="zh-CN" altLang="en-US" dirty="0" smtClean="0"/>
              <a:t>的文本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在</a:t>
            </a:r>
            <a:r>
              <a:rPr lang="en-US" altLang="zh-CN" dirty="0" smtClean="0"/>
              <a:t>XML</a:t>
            </a:r>
            <a:r>
              <a:rPr lang="zh-CN" altLang="en-US" dirty="0" smtClean="0"/>
              <a:t>中设置添加并设置文本框控件的属性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在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代码中创建文本框类对象并设置属性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文本框控件的常用</a:t>
            </a:r>
            <a:r>
              <a:rPr lang="en-US" altLang="zh-CN" dirty="0" smtClean="0"/>
              <a:t>XML</a:t>
            </a:r>
            <a:r>
              <a:rPr lang="zh-CN" altLang="en-US" dirty="0" smtClean="0"/>
              <a:t>属性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文本显示属性：</a:t>
            </a:r>
            <a:r>
              <a:rPr lang="en-US" altLang="zh-CN" dirty="0" smtClean="0"/>
              <a:t>Text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TextColor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TextSize</a:t>
            </a:r>
            <a:r>
              <a:rPr lang="zh-CN" altLang="en-US" dirty="0" smtClean="0"/>
              <a:t>等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文本设置属性：</a:t>
            </a:r>
            <a:r>
              <a:rPr lang="en-US" altLang="zh-CN" dirty="0" err="1" smtClean="0"/>
              <a:t>ellipsize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singleLine</a:t>
            </a:r>
            <a:r>
              <a:rPr lang="zh-CN" altLang="en-US" dirty="0" smtClean="0"/>
              <a:t>等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一些属性需要配合使用才能发挥效果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7112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5.1 View</a:t>
            </a:r>
          </a:p>
          <a:p>
            <a:pPr lvl="1"/>
            <a:r>
              <a:rPr lang="en-US" altLang="zh-CN" dirty="0"/>
              <a:t>5.1.2 </a:t>
            </a:r>
            <a:r>
              <a:rPr lang="en-US" altLang="zh-CN" dirty="0" err="1"/>
              <a:t>TextView</a:t>
            </a:r>
            <a:r>
              <a:rPr lang="zh-CN" altLang="en-US" dirty="0"/>
              <a:t>和</a:t>
            </a:r>
            <a:r>
              <a:rPr lang="en-US" altLang="zh-CN" dirty="0" err="1"/>
              <a:t>EditText</a:t>
            </a:r>
            <a:endParaRPr lang="en-US" altLang="zh-CN" dirty="0"/>
          </a:p>
          <a:p>
            <a:pPr lvl="2"/>
            <a:r>
              <a:rPr lang="zh-CN" altLang="en-US" dirty="0" smtClean="0"/>
              <a:t>编辑框（</a:t>
            </a:r>
            <a:r>
              <a:rPr lang="en-US" altLang="zh-CN" dirty="0" err="1" smtClean="0"/>
              <a:t>EditText</a:t>
            </a:r>
            <a:r>
              <a:rPr lang="zh-CN" altLang="en-US" dirty="0" smtClean="0"/>
              <a:t>）概述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控件屏幕上显示文本输入框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能够接收用户输入的数据，是最常见的交互方式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可输入单行、多行、以及指定格式的文本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可分别在</a:t>
            </a:r>
            <a:r>
              <a:rPr lang="en-US" altLang="zh-CN" dirty="0" smtClean="0"/>
              <a:t>XML</a:t>
            </a:r>
            <a:r>
              <a:rPr lang="zh-CN" altLang="en-US" dirty="0" smtClean="0"/>
              <a:t>中或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代码中创建编辑框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编辑框控件的常用</a:t>
            </a:r>
            <a:r>
              <a:rPr lang="en-US" altLang="zh-CN" dirty="0" smtClean="0"/>
              <a:t>XML</a:t>
            </a:r>
            <a:r>
              <a:rPr lang="zh-CN" altLang="en-US" dirty="0" smtClean="0"/>
              <a:t>属性</a:t>
            </a:r>
            <a:endParaRPr lang="en-US" altLang="zh-CN" dirty="0" smtClean="0"/>
          </a:p>
          <a:p>
            <a:pPr lvl="4"/>
            <a:r>
              <a:rPr lang="zh-CN" altLang="en-US" dirty="0" smtClean="0">
                <a:solidFill>
                  <a:srgbClr val="FF0000"/>
                </a:solidFill>
              </a:rPr>
              <a:t>是</a:t>
            </a:r>
            <a:r>
              <a:rPr lang="en-US" altLang="zh-CN" dirty="0" err="1" smtClean="0">
                <a:solidFill>
                  <a:srgbClr val="FF0000"/>
                </a:solidFill>
              </a:rPr>
              <a:t>TextView</a:t>
            </a:r>
            <a:r>
              <a:rPr lang="zh-CN" altLang="en-US" dirty="0" smtClean="0">
                <a:solidFill>
                  <a:srgbClr val="FF0000"/>
                </a:solidFill>
              </a:rPr>
              <a:t>的子类，包含</a:t>
            </a:r>
            <a:r>
              <a:rPr lang="en-US" altLang="zh-CN" dirty="0" err="1" smtClean="0">
                <a:solidFill>
                  <a:srgbClr val="FF0000"/>
                </a:solidFill>
              </a:rPr>
              <a:t>TextView</a:t>
            </a:r>
            <a:r>
              <a:rPr lang="zh-CN" altLang="en-US" dirty="0" smtClean="0">
                <a:solidFill>
                  <a:srgbClr val="FF0000"/>
                </a:solidFill>
              </a:rPr>
              <a:t>的各项属性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4"/>
            <a:r>
              <a:rPr lang="zh-CN" altLang="en-US" dirty="0" smtClean="0"/>
              <a:t>在编辑框中常用的有：</a:t>
            </a:r>
            <a:endParaRPr lang="en-US" altLang="zh-CN" dirty="0" smtClean="0"/>
          </a:p>
          <a:p>
            <a:pPr lvl="5"/>
            <a:r>
              <a:rPr lang="en-US" altLang="zh-CN" dirty="0" err="1" smtClean="0"/>
              <a:t>maxLength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password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editable</a:t>
            </a:r>
            <a:r>
              <a:rPr lang="zh-CN" altLang="en-US" dirty="0" smtClean="0"/>
              <a:t>等</a:t>
            </a:r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7021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5.1 View</a:t>
            </a:r>
          </a:p>
          <a:p>
            <a:pPr lvl="1"/>
            <a:r>
              <a:rPr lang="en-US" altLang="zh-CN" dirty="0" smtClean="0"/>
              <a:t>5.1.3 Button</a:t>
            </a:r>
            <a:endParaRPr lang="en-US" altLang="zh-CN" dirty="0"/>
          </a:p>
          <a:p>
            <a:pPr lvl="2"/>
            <a:r>
              <a:rPr lang="zh-CN" altLang="en-US" dirty="0" smtClean="0"/>
              <a:t>普通按钮（</a:t>
            </a:r>
            <a:r>
              <a:rPr lang="en-US" altLang="zh-CN" dirty="0" smtClean="0"/>
              <a:t>Button</a:t>
            </a:r>
            <a:r>
              <a:rPr lang="zh-CN" altLang="en-US" dirty="0" smtClean="0"/>
              <a:t>）概述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按钮继承自</a:t>
            </a:r>
            <a:r>
              <a:rPr lang="en-US" altLang="zh-CN" dirty="0" err="1" smtClean="0"/>
              <a:t>TextView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可进行按下、单击等操作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可分别在</a:t>
            </a:r>
            <a:r>
              <a:rPr lang="en-US" altLang="zh-CN" dirty="0" smtClean="0"/>
              <a:t>XML</a:t>
            </a:r>
            <a:r>
              <a:rPr lang="zh-CN" altLang="en-US" dirty="0" smtClean="0"/>
              <a:t>中或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代码中创建按钮</a:t>
            </a:r>
            <a:endParaRPr lang="en-US" altLang="zh-CN" dirty="0" smtClean="0"/>
          </a:p>
          <a:p>
            <a:pPr lvl="4"/>
            <a:r>
              <a:rPr lang="zh-CN" altLang="en-US" dirty="0" smtClean="0">
                <a:solidFill>
                  <a:srgbClr val="FF0000"/>
                </a:solidFill>
              </a:rPr>
              <a:t>通过设置</a:t>
            </a:r>
            <a:r>
              <a:rPr lang="en-US" altLang="zh-CN" dirty="0" err="1" smtClean="0">
                <a:solidFill>
                  <a:srgbClr val="FF0000"/>
                </a:solidFill>
              </a:rPr>
              <a:t>View.OnClickListener</a:t>
            </a:r>
            <a:r>
              <a:rPr lang="zh-CN" altLang="en-US" dirty="0" smtClean="0">
                <a:solidFill>
                  <a:srgbClr val="FF0000"/>
                </a:solidFill>
              </a:rPr>
              <a:t>监听器实现事件处理代码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3"/>
            <a:r>
              <a:rPr lang="zh-CN" altLang="en-US" dirty="0" smtClean="0"/>
              <a:t>两种处理按钮单击事件的方法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在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代码中设置按钮的事件监听对象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对象可以是匿名内部类、也可以是自定义的监听对象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在</a:t>
            </a:r>
            <a:r>
              <a:rPr lang="en-US" altLang="zh-CN" dirty="0" smtClean="0"/>
              <a:t>XML</a:t>
            </a:r>
            <a:r>
              <a:rPr lang="zh-CN" altLang="en-US" dirty="0" smtClean="0"/>
              <a:t>中指定单击事件对应的方法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利用反射调用自动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中的方法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37125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5.1 View</a:t>
            </a:r>
          </a:p>
          <a:p>
            <a:pPr lvl="1"/>
            <a:r>
              <a:rPr lang="en-US" altLang="zh-CN" dirty="0"/>
              <a:t>5.1.3 Button</a:t>
            </a:r>
          </a:p>
          <a:p>
            <a:pPr lvl="1"/>
            <a:r>
              <a:rPr lang="zh-CN" altLang="en-US" dirty="0" smtClean="0"/>
              <a:t>普通</a:t>
            </a:r>
            <a:r>
              <a:rPr lang="zh-CN" altLang="en-US" dirty="0"/>
              <a:t>按钮（</a:t>
            </a:r>
            <a:r>
              <a:rPr lang="en-US" altLang="zh-CN" dirty="0"/>
              <a:t>Button</a:t>
            </a:r>
            <a:r>
              <a:rPr lang="zh-CN" altLang="en-US" dirty="0"/>
              <a:t>）概述及</a:t>
            </a:r>
            <a:r>
              <a:rPr lang="zh-CN" altLang="en-US" dirty="0" smtClean="0"/>
              <a:t>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两种处理按钮单击事件的方法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设置按钮的事件监听对象、使用匿名内部类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定义按钮对象，使用</a:t>
            </a:r>
            <a:r>
              <a:rPr lang="en-US" altLang="zh-CN" dirty="0" err="1" smtClean="0"/>
              <a:t>findViewById</a:t>
            </a:r>
            <a:r>
              <a:rPr lang="zh-CN" altLang="en-US" dirty="0" smtClean="0"/>
              <a:t>找到对应的按钮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使用按钮对象的</a:t>
            </a:r>
            <a:r>
              <a:rPr lang="en-US" altLang="zh-CN" dirty="0" err="1" smtClean="0"/>
              <a:t>SetOnClickListenser</a:t>
            </a:r>
            <a:r>
              <a:rPr lang="zh-CN" altLang="en-US" dirty="0" smtClean="0"/>
              <a:t>方法，设定监听对象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使用匿名内部类，创建监听对象，重写监听对象的</a:t>
            </a:r>
            <a:r>
              <a:rPr lang="en-US" altLang="zh-CN" dirty="0" err="1" smtClean="0"/>
              <a:t>OnClick</a:t>
            </a:r>
            <a:r>
              <a:rPr lang="zh-CN" altLang="en-US" dirty="0" smtClean="0"/>
              <a:t>方法</a:t>
            </a:r>
            <a:endParaRPr lang="en-US" altLang="zh-CN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229200"/>
            <a:ext cx="4680520" cy="14452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11696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55776" y="5229200"/>
            <a:ext cx="4608512" cy="15841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5.1 View</a:t>
            </a:r>
          </a:p>
          <a:p>
            <a:pPr lvl="1"/>
            <a:r>
              <a:rPr lang="en-US" altLang="zh-CN" dirty="0"/>
              <a:t>5.1.3 Button</a:t>
            </a:r>
          </a:p>
          <a:p>
            <a:pPr lvl="2"/>
            <a:r>
              <a:rPr lang="zh-CN" altLang="en-US" dirty="0" smtClean="0"/>
              <a:t>普通</a:t>
            </a:r>
            <a:r>
              <a:rPr lang="zh-CN" altLang="en-US" dirty="0"/>
              <a:t>按钮（</a:t>
            </a:r>
            <a:r>
              <a:rPr lang="en-US" altLang="zh-CN" dirty="0"/>
              <a:t>Button</a:t>
            </a:r>
            <a:r>
              <a:rPr lang="zh-CN" altLang="en-US" dirty="0"/>
              <a:t>）概述及</a:t>
            </a:r>
            <a:r>
              <a:rPr lang="zh-CN" altLang="en-US" dirty="0" smtClean="0"/>
              <a:t>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两种处理按钮单击事件的方法</a:t>
            </a:r>
            <a:endParaRPr lang="en-US" altLang="zh-CN" dirty="0" smtClean="0"/>
          </a:p>
          <a:p>
            <a:pPr lvl="4"/>
            <a:r>
              <a:rPr lang="zh-CN" altLang="en-US" dirty="0"/>
              <a:t>在</a:t>
            </a:r>
            <a:r>
              <a:rPr lang="en-US" altLang="zh-CN" dirty="0"/>
              <a:t>XML</a:t>
            </a:r>
            <a:r>
              <a:rPr lang="zh-CN" altLang="en-US" dirty="0"/>
              <a:t>中指定单击</a:t>
            </a:r>
            <a:r>
              <a:rPr lang="zh-CN" altLang="en-US" dirty="0" smtClean="0"/>
              <a:t>事件的方法，利用反射调用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在按钮的</a:t>
            </a:r>
            <a:r>
              <a:rPr lang="en-US" altLang="zh-CN" dirty="0" smtClean="0"/>
              <a:t>XML</a:t>
            </a:r>
            <a:r>
              <a:rPr lang="zh-CN" altLang="en-US" dirty="0" smtClean="0"/>
              <a:t>描述中，添加</a:t>
            </a:r>
            <a:r>
              <a:rPr lang="en-US" altLang="zh-CN" dirty="0" err="1" smtClean="0"/>
              <a:t>android:OnClick</a:t>
            </a:r>
            <a:r>
              <a:rPr lang="en-US" altLang="zh-CN" dirty="0" smtClean="0"/>
              <a:t>=“</a:t>
            </a:r>
            <a:r>
              <a:rPr lang="zh-CN" altLang="en-US" dirty="0" smtClean="0"/>
              <a:t>函数名</a:t>
            </a:r>
            <a:r>
              <a:rPr lang="en-US" altLang="zh-CN" dirty="0" smtClean="0"/>
              <a:t>”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pPr lvl="6"/>
            <a:r>
              <a:rPr lang="zh-CN" altLang="en-US" dirty="0" smtClean="0"/>
              <a:t>指明该按钮的点击事件，所对应的函数名称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在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中直接创建对应的函数，编写需执行的操作</a:t>
            </a:r>
            <a:endParaRPr lang="en-US" altLang="zh-CN" dirty="0" smtClean="0"/>
          </a:p>
          <a:p>
            <a:pPr lvl="6"/>
            <a:r>
              <a:rPr lang="zh-CN" altLang="en-US" dirty="0" smtClean="0"/>
              <a:t>通过函数的参数，传递对应按钮对象的引用</a:t>
            </a:r>
            <a:endParaRPr lang="en-US" altLang="zh-CN" dirty="0" smtClean="0"/>
          </a:p>
          <a:p>
            <a:pPr lvl="6"/>
            <a:endParaRPr lang="en-US" altLang="zh-CN" sz="1100" b="1" dirty="0" smtClean="0">
              <a:solidFill>
                <a:srgbClr val="FF0000"/>
              </a:solidFill>
            </a:endParaRPr>
          </a:p>
          <a:p>
            <a:pPr marL="1737360" lvl="6" indent="0">
              <a:buNone/>
            </a:pPr>
            <a:r>
              <a:rPr lang="en-US" altLang="zh-CN" sz="1100" b="1" dirty="0" smtClean="0">
                <a:solidFill>
                  <a:srgbClr val="FF0000"/>
                </a:solidFill>
              </a:rPr>
              <a:t>           XML</a:t>
            </a:r>
            <a:r>
              <a:rPr lang="zh-CN" altLang="en-US" sz="1100" b="1" dirty="0" smtClean="0">
                <a:solidFill>
                  <a:srgbClr val="FF0000"/>
                </a:solidFill>
              </a:rPr>
              <a:t>代码（在按钮的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XML</a:t>
            </a:r>
            <a:r>
              <a:rPr lang="zh-CN" altLang="en-US" sz="1100" b="1" dirty="0" smtClean="0">
                <a:solidFill>
                  <a:srgbClr val="FF0000"/>
                </a:solidFill>
              </a:rPr>
              <a:t>设定中添加如下内容）</a:t>
            </a:r>
            <a:endParaRPr lang="en-US" altLang="zh-CN" sz="1100" b="1" dirty="0">
              <a:solidFill>
                <a:srgbClr val="FF0000"/>
              </a:solidFill>
            </a:endParaRPr>
          </a:p>
          <a:p>
            <a:pPr marL="1737360" lvl="6" indent="0">
              <a:buNone/>
            </a:pPr>
            <a:r>
              <a:rPr lang="en-US" altLang="zh-CN" sz="1100" b="1" dirty="0" smtClean="0">
                <a:solidFill>
                  <a:srgbClr val="FF0000"/>
                </a:solidFill>
              </a:rPr>
              <a:t>                 </a:t>
            </a:r>
            <a:r>
              <a:rPr lang="en-US" altLang="zh-CN" sz="1100" b="1" dirty="0" smtClean="0"/>
              <a:t> </a:t>
            </a:r>
            <a:r>
              <a:rPr lang="en-US" altLang="zh-CN" sz="1100" b="1" dirty="0" err="1" smtClean="0"/>
              <a:t>android:OnClick</a:t>
            </a:r>
            <a:r>
              <a:rPr lang="en-US" altLang="zh-CN" sz="1100" b="1" dirty="0" smtClean="0"/>
              <a:t>=“</a:t>
            </a:r>
            <a:r>
              <a:rPr lang="en-US" altLang="zh-CN" sz="1100" b="1" dirty="0" err="1" smtClean="0">
                <a:solidFill>
                  <a:schemeClr val="bg2">
                    <a:lumMod val="50000"/>
                  </a:schemeClr>
                </a:solidFill>
              </a:rPr>
              <a:t>butClick</a:t>
            </a:r>
            <a:r>
              <a:rPr lang="en-US" altLang="zh-CN" sz="1100" b="1" dirty="0" smtClean="0"/>
              <a:t>”</a:t>
            </a:r>
          </a:p>
          <a:p>
            <a:pPr marL="1737360" lvl="6" indent="0">
              <a:buNone/>
            </a:pPr>
            <a:r>
              <a:rPr lang="zh-CN" altLang="en-US" sz="1100" b="1" dirty="0" smtClean="0">
                <a:solidFill>
                  <a:srgbClr val="FF0000"/>
                </a:solidFill>
              </a:rPr>
              <a:t>           在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Activity</a:t>
            </a:r>
            <a:r>
              <a:rPr lang="zh-CN" altLang="en-US" sz="1100" b="1" dirty="0" smtClean="0">
                <a:solidFill>
                  <a:srgbClr val="FF0000"/>
                </a:solidFill>
              </a:rPr>
              <a:t>中编写对应的</a:t>
            </a:r>
            <a:r>
              <a:rPr lang="en-US" altLang="zh-CN" sz="1100" b="1" dirty="0" smtClean="0">
                <a:solidFill>
                  <a:srgbClr val="FF0000"/>
                </a:solidFill>
              </a:rPr>
              <a:t>Java</a:t>
            </a:r>
            <a:r>
              <a:rPr lang="zh-CN" altLang="en-US" sz="1100" b="1" dirty="0" smtClean="0">
                <a:solidFill>
                  <a:srgbClr val="FF0000"/>
                </a:solidFill>
              </a:rPr>
              <a:t>代码（添加一个新的函数）</a:t>
            </a:r>
            <a:endParaRPr lang="en-US" altLang="zh-CN" sz="1100" b="1" dirty="0" smtClean="0">
              <a:solidFill>
                <a:srgbClr val="FF0000"/>
              </a:solidFill>
            </a:endParaRPr>
          </a:p>
          <a:p>
            <a:pPr marL="2011680" lvl="7" indent="0">
              <a:buNone/>
            </a:pPr>
            <a:r>
              <a:rPr lang="en-US" altLang="zh-CN" sz="1100" b="1" dirty="0" smtClean="0"/>
              <a:t>         public </a:t>
            </a:r>
            <a:r>
              <a:rPr lang="en-US" altLang="zh-CN" sz="1100" b="1" dirty="0"/>
              <a:t>void </a:t>
            </a:r>
            <a:r>
              <a:rPr lang="en-US" altLang="zh-CN" sz="1100" b="1" dirty="0" err="1">
                <a:solidFill>
                  <a:schemeClr val="bg2">
                    <a:lumMod val="50000"/>
                  </a:schemeClr>
                </a:solidFill>
              </a:rPr>
              <a:t>butClick</a:t>
            </a:r>
            <a:r>
              <a:rPr lang="en-US" altLang="zh-CN" sz="11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altLang="zh-CN" sz="1100" b="1" dirty="0"/>
              <a:t>View v</a:t>
            </a:r>
            <a:r>
              <a:rPr lang="en-US" altLang="zh-CN" sz="1100" b="1" dirty="0" smtClean="0"/>
              <a:t>)</a:t>
            </a:r>
          </a:p>
          <a:p>
            <a:pPr marL="2011680" lvl="7" indent="0">
              <a:buNone/>
            </a:pPr>
            <a:r>
              <a:rPr lang="en-US" altLang="zh-CN" sz="1100" b="1" dirty="0" smtClean="0"/>
              <a:t>         {</a:t>
            </a:r>
          </a:p>
          <a:p>
            <a:pPr marL="2011680" lvl="7" indent="0">
              <a:buNone/>
            </a:pPr>
            <a:r>
              <a:rPr lang="en-US" altLang="zh-CN" sz="1100" b="1" dirty="0" smtClean="0"/>
              <a:t>              Button </a:t>
            </a:r>
            <a:r>
              <a:rPr lang="en-US" altLang="zh-CN" sz="1100" b="1" dirty="0" err="1" smtClean="0"/>
              <a:t>bt</a:t>
            </a:r>
            <a:r>
              <a:rPr lang="en-US" altLang="zh-CN" sz="1100" b="1" dirty="0" smtClean="0"/>
              <a:t>= (</a:t>
            </a:r>
            <a:r>
              <a:rPr lang="en-US" altLang="zh-CN" sz="1100" b="1" dirty="0"/>
              <a:t>Button)v;</a:t>
            </a:r>
          </a:p>
          <a:p>
            <a:pPr marL="2011680" lvl="7" indent="0">
              <a:buNone/>
            </a:pPr>
            <a:r>
              <a:rPr lang="en-US" altLang="zh-CN" sz="1100" b="1" dirty="0" smtClean="0"/>
              <a:t>              </a:t>
            </a:r>
            <a:r>
              <a:rPr lang="en-US" altLang="zh-CN" sz="1100" b="1" dirty="0" err="1" smtClean="0"/>
              <a:t>bt.setText</a:t>
            </a:r>
            <a:r>
              <a:rPr lang="en-US" altLang="zh-CN" sz="1100" b="1" dirty="0" smtClean="0"/>
              <a:t>(“</a:t>
            </a:r>
            <a:r>
              <a:rPr lang="zh-CN" altLang="en-US" sz="1100" b="1" dirty="0" smtClean="0"/>
              <a:t>事件发生</a:t>
            </a:r>
            <a:r>
              <a:rPr lang="en-US" altLang="zh-CN" sz="1100" b="1" dirty="0" smtClean="0"/>
              <a:t>");</a:t>
            </a:r>
          </a:p>
          <a:p>
            <a:pPr marL="2011680" lvl="7" indent="0">
              <a:buNone/>
            </a:pPr>
            <a:r>
              <a:rPr lang="en-US" altLang="zh-CN" sz="1100" b="1" dirty="0"/>
              <a:t> </a:t>
            </a:r>
            <a:r>
              <a:rPr lang="en-US" altLang="zh-CN" sz="1100" b="1" dirty="0" smtClean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84427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5.1 View</a:t>
            </a:r>
          </a:p>
          <a:p>
            <a:pPr lvl="1"/>
            <a:r>
              <a:rPr lang="en-US" altLang="zh-CN" dirty="0" smtClean="0"/>
              <a:t>5.1.4 </a:t>
            </a:r>
            <a:r>
              <a:rPr lang="en-US" altLang="zh-CN" dirty="0" err="1" smtClean="0"/>
              <a:t>ImageView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 </a:t>
            </a:r>
            <a:r>
              <a:rPr lang="zh-CN" altLang="en-US" dirty="0" smtClean="0"/>
              <a:t>图像视图（</a:t>
            </a:r>
            <a:r>
              <a:rPr lang="en-US" altLang="zh-CN" dirty="0" err="1" smtClean="0"/>
              <a:t>ImageView</a:t>
            </a:r>
            <a:r>
              <a:rPr lang="zh-CN" altLang="en-US" dirty="0" smtClean="0"/>
              <a:t>）属性及实例</a:t>
            </a:r>
            <a:endParaRPr lang="en-US" altLang="zh-CN" dirty="0"/>
          </a:p>
          <a:p>
            <a:pPr lvl="3"/>
            <a:r>
              <a:rPr lang="zh-CN" altLang="en-US" dirty="0" smtClean="0"/>
              <a:t>图像视图属性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adjustViewBounds</a:t>
            </a:r>
            <a:r>
              <a:rPr lang="zh-CN" altLang="en-US" dirty="0" smtClean="0"/>
              <a:t>：是否保持高宽比，需要和</a:t>
            </a:r>
            <a:r>
              <a:rPr lang="en-US" altLang="zh-CN" dirty="0" err="1" smtClean="0"/>
              <a:t>MaxWidth</a:t>
            </a:r>
            <a:r>
              <a:rPr lang="zh-CN" altLang="en-US" dirty="0" smtClean="0"/>
              <a:t>设置最大宽度、</a:t>
            </a:r>
            <a:r>
              <a:rPr lang="en-US" altLang="zh-CN" dirty="0" err="1" smtClean="0"/>
              <a:t>MaxHeight</a:t>
            </a:r>
            <a:r>
              <a:rPr lang="zh-CN" altLang="en-US" dirty="0" smtClean="0"/>
              <a:t>设置最大高度一起使用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scaleType</a:t>
            </a:r>
            <a:r>
              <a:rPr lang="zh-CN" altLang="en-US" dirty="0" smtClean="0"/>
              <a:t>：所显示图片的在控件中的位置及缩放效果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src</a:t>
            </a:r>
            <a:r>
              <a:rPr lang="zh-CN" altLang="en-US" dirty="0" smtClean="0"/>
              <a:t>：设置显示的图片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列表视图实例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应用实例：使用图像视图来显示图片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66644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5.2 </a:t>
            </a:r>
            <a:r>
              <a:rPr lang="zh-CN" altLang="en-US" dirty="0" smtClean="0"/>
              <a:t>布局管理器</a:t>
            </a:r>
            <a:r>
              <a:rPr lang="en-US" altLang="zh-CN" dirty="0" smtClean="0"/>
              <a:t>Layout</a:t>
            </a:r>
          </a:p>
          <a:p>
            <a:pPr lvl="1"/>
            <a:r>
              <a:rPr lang="en-US" altLang="zh-CN" dirty="0" smtClean="0"/>
              <a:t>5.2.1 </a:t>
            </a:r>
            <a:r>
              <a:rPr lang="zh-CN" altLang="en-US" dirty="0" smtClean="0"/>
              <a:t>线性布局：</a:t>
            </a:r>
            <a:r>
              <a:rPr lang="en-US" altLang="zh-CN" dirty="0" err="1" smtClean="0"/>
              <a:t>LinearLayout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将放入其中的控件按照垂直或水平方向来布局</a:t>
            </a:r>
            <a:endParaRPr lang="en-US" altLang="zh-CN" dirty="0" smtClean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每</a:t>
            </a:r>
            <a:r>
              <a:rPr lang="zh-CN" altLang="en-US" dirty="0" smtClean="0">
                <a:solidFill>
                  <a:srgbClr val="FF0000"/>
                </a:solidFill>
              </a:rPr>
              <a:t>一行（每一列）只能放入一个控件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2"/>
            <a:r>
              <a:rPr lang="zh-CN" altLang="en-US" dirty="0" smtClean="0"/>
              <a:t>主要属性列表</a:t>
            </a:r>
            <a:endParaRPr lang="en-US" altLang="zh-CN" dirty="0" smtClean="0"/>
          </a:p>
          <a:p>
            <a:pPr lvl="3"/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en-US" altLang="zh-CN" dirty="0" smtClean="0">
                <a:solidFill>
                  <a:srgbClr val="FF0000"/>
                </a:solidFill>
              </a:rPr>
              <a:t>rientation</a:t>
            </a:r>
            <a:r>
              <a:rPr lang="zh-CN" altLang="en-US" dirty="0" smtClean="0"/>
              <a:t>：控制排列方式：</a:t>
            </a:r>
            <a:r>
              <a:rPr lang="en-US" altLang="zh-CN" dirty="0" smtClean="0"/>
              <a:t>horizontal</a:t>
            </a:r>
            <a:r>
              <a:rPr lang="zh-CN" altLang="en-US" dirty="0" smtClean="0"/>
              <a:t>或</a:t>
            </a:r>
            <a:r>
              <a:rPr lang="en-US" altLang="zh-CN" dirty="0" smtClean="0"/>
              <a:t>vertical</a:t>
            </a:r>
          </a:p>
          <a:p>
            <a:pPr lvl="3"/>
            <a:r>
              <a:rPr lang="en-US" altLang="zh-CN" dirty="0" smtClean="0">
                <a:solidFill>
                  <a:srgbClr val="FF0000"/>
                </a:solidFill>
              </a:rPr>
              <a:t>gravity</a:t>
            </a:r>
            <a:r>
              <a:rPr lang="zh-CN" altLang="en-US" dirty="0" smtClean="0"/>
              <a:t>：设置放入其内控件的对齐方式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继承自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对象的属性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layout_width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layout_Height</a:t>
            </a:r>
            <a:r>
              <a:rPr lang="zh-CN" altLang="en-US" dirty="0" smtClean="0"/>
              <a:t>：设置对象本身的宽度和高度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id</a:t>
            </a:r>
            <a:r>
              <a:rPr lang="zh-CN" altLang="en-US" dirty="0" smtClean="0"/>
              <a:t>：设置对象的名称标识符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background</a:t>
            </a:r>
            <a:r>
              <a:rPr lang="zh-CN" altLang="en-US" dirty="0" smtClean="0"/>
              <a:t>：设置对象的背景：颜色或图片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15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布局管理器</a:t>
            </a:r>
            <a:r>
              <a:rPr lang="en-US" altLang="zh-CN" dirty="0"/>
              <a:t>Layout</a:t>
            </a:r>
          </a:p>
          <a:p>
            <a:pPr lvl="1"/>
            <a:r>
              <a:rPr lang="en-US" altLang="zh-CN" dirty="0"/>
              <a:t>5.2.1 </a:t>
            </a:r>
            <a:r>
              <a:rPr lang="zh-CN" altLang="en-US" dirty="0"/>
              <a:t>线性布局：</a:t>
            </a:r>
            <a:r>
              <a:rPr lang="en-US" altLang="zh-CN" dirty="0" err="1"/>
              <a:t>LinearLayout</a:t>
            </a:r>
            <a:endParaRPr lang="en-US" altLang="zh-CN" dirty="0"/>
          </a:p>
          <a:p>
            <a:pPr lvl="2"/>
            <a:r>
              <a:rPr lang="zh-CN" altLang="en-US" dirty="0" smtClean="0">
                <a:solidFill>
                  <a:srgbClr val="FF0000"/>
                </a:solidFill>
              </a:rPr>
              <a:t>线性布局的使用方法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3"/>
            <a:r>
              <a:rPr lang="zh-CN" altLang="en-US" dirty="0" smtClean="0"/>
              <a:t>控制线性布局中控件的大小：</a:t>
            </a:r>
            <a:endParaRPr lang="en-US" altLang="zh-CN" dirty="0" smtClean="0"/>
          </a:p>
          <a:p>
            <a:pPr lvl="4"/>
            <a:r>
              <a:rPr lang="zh-CN" altLang="en-US" dirty="0" smtClean="0">
                <a:solidFill>
                  <a:srgbClr val="FF0000"/>
                </a:solidFill>
              </a:rPr>
              <a:t>设置控件的</a:t>
            </a:r>
            <a:r>
              <a:rPr lang="en-US" altLang="zh-CN" dirty="0" smtClean="0">
                <a:solidFill>
                  <a:srgbClr val="FF0000"/>
                </a:solidFill>
              </a:rPr>
              <a:t>Margins</a:t>
            </a:r>
            <a:r>
              <a:rPr lang="zh-CN" altLang="en-US" dirty="0" smtClean="0">
                <a:solidFill>
                  <a:srgbClr val="FF0000"/>
                </a:solidFill>
              </a:rPr>
              <a:t>属性组中对应的边距属性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3"/>
            <a:r>
              <a:rPr lang="zh-CN" altLang="en-US" dirty="0" smtClean="0"/>
              <a:t>让固定数目的控件填充整个屏幕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线性布局在屏幕上显示的行列的数目是不确定的</a:t>
            </a:r>
            <a:endParaRPr lang="en-US" altLang="zh-CN" dirty="0" smtClean="0"/>
          </a:p>
          <a:p>
            <a:pPr lvl="4"/>
            <a:r>
              <a:rPr lang="zh-CN" altLang="en-US" dirty="0" smtClean="0">
                <a:solidFill>
                  <a:srgbClr val="FF0000"/>
                </a:solidFill>
              </a:rPr>
              <a:t>设定控件的</a:t>
            </a:r>
            <a:r>
              <a:rPr lang="en-US" altLang="zh-CN" dirty="0" err="1" smtClean="0">
                <a:solidFill>
                  <a:srgbClr val="FF0000"/>
                </a:solidFill>
              </a:rPr>
              <a:t>layout_weight</a:t>
            </a:r>
            <a:r>
              <a:rPr lang="zh-CN" altLang="en-US" dirty="0" smtClean="0">
                <a:solidFill>
                  <a:srgbClr val="FF0000"/>
                </a:solidFill>
              </a:rPr>
              <a:t>属性来确定其占有的比例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5"/>
            <a:r>
              <a:rPr lang="zh-CN" altLang="en-US" dirty="0" smtClean="0"/>
              <a:t>位避免冲突，将其对应的宽度或高度属性设为零</a:t>
            </a:r>
            <a:endParaRPr lang="en-US" altLang="zh-CN" dirty="0" smtClean="0"/>
          </a:p>
          <a:p>
            <a:pPr lvl="5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3972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布局管理器</a:t>
            </a:r>
            <a:r>
              <a:rPr lang="en-US" altLang="zh-CN" dirty="0"/>
              <a:t>Layout</a:t>
            </a:r>
          </a:p>
          <a:p>
            <a:pPr lvl="1"/>
            <a:r>
              <a:rPr lang="en-US" altLang="zh-CN" dirty="0" smtClean="0"/>
              <a:t>5.2.2 </a:t>
            </a:r>
            <a:r>
              <a:rPr lang="zh-CN" altLang="en-US" dirty="0" smtClean="0"/>
              <a:t>相对布局：</a:t>
            </a:r>
            <a:r>
              <a:rPr lang="en-US" altLang="zh-CN" dirty="0" err="1" smtClean="0"/>
              <a:t>RelativeLayout</a:t>
            </a:r>
            <a:endParaRPr lang="en-US" altLang="zh-CN" dirty="0" smtClean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一</a:t>
            </a:r>
            <a:r>
              <a:rPr lang="zh-CN" altLang="en-US" dirty="0" smtClean="0">
                <a:solidFill>
                  <a:srgbClr val="FF0000"/>
                </a:solidFill>
              </a:rPr>
              <a:t>个控件的位置，是由另一个控件的位置来决定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3"/>
            <a:r>
              <a:rPr lang="zh-CN" altLang="en-US" dirty="0" smtClean="0"/>
              <a:t>功能强大，是设计用户界面的有力工具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控件新增的关联属性</a:t>
            </a:r>
            <a:endParaRPr lang="en-US" altLang="zh-CN" dirty="0" smtClean="0"/>
          </a:p>
          <a:p>
            <a:pPr lvl="4"/>
            <a:r>
              <a:rPr lang="zh-CN" altLang="en-US" dirty="0" smtClean="0">
                <a:solidFill>
                  <a:srgbClr val="FF0000"/>
                </a:solidFill>
              </a:rPr>
              <a:t>指定位置关联</a:t>
            </a:r>
            <a:r>
              <a:rPr lang="zh-CN" altLang="en-US" dirty="0" smtClean="0"/>
              <a:t>控件：</a:t>
            </a:r>
            <a:r>
              <a:rPr lang="en-US" altLang="zh-CN" dirty="0" smtClean="0"/>
              <a:t>below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above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toLeftOf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toRightOf</a:t>
            </a:r>
            <a:endParaRPr lang="en-US" altLang="zh-CN" dirty="0"/>
          </a:p>
          <a:p>
            <a:pPr lvl="4"/>
            <a:r>
              <a:rPr lang="zh-CN" altLang="en-US" dirty="0" smtClean="0">
                <a:solidFill>
                  <a:srgbClr val="FF0000"/>
                </a:solidFill>
              </a:rPr>
              <a:t>指定对齐目标</a:t>
            </a:r>
            <a:r>
              <a:rPr lang="zh-CN" altLang="en-US" dirty="0" smtClean="0"/>
              <a:t>控件：</a:t>
            </a:r>
            <a:r>
              <a:rPr lang="en-US" altLang="zh-CN" dirty="0" err="1" smtClean="0"/>
              <a:t>alignTop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alignLeft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alignBottom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alignRight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指定是否紧靠父元素：布尔型，内容详见课本</a:t>
            </a:r>
            <a:r>
              <a:rPr lang="en-US" altLang="zh-CN" smtClean="0"/>
              <a:t>P76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相对布局往往会先放置一个位置固定的控件作为参考，再依次放置其他控件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6317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布局管理器</a:t>
            </a:r>
            <a:r>
              <a:rPr lang="en-US" altLang="zh-CN" dirty="0"/>
              <a:t>Layout</a:t>
            </a:r>
          </a:p>
          <a:p>
            <a:pPr lvl="1"/>
            <a:r>
              <a:rPr lang="en-US" altLang="zh-CN" dirty="0" smtClean="0"/>
              <a:t>5.2.3 </a:t>
            </a:r>
            <a:r>
              <a:rPr lang="zh-CN" altLang="en-US" dirty="0" smtClean="0"/>
              <a:t>帧布局：</a:t>
            </a:r>
            <a:r>
              <a:rPr lang="en-US" altLang="zh-CN" dirty="0" err="1" smtClean="0"/>
              <a:t>FrameLayout</a:t>
            </a:r>
            <a:endParaRPr lang="en-US" altLang="zh-CN" dirty="0" smtClean="0"/>
          </a:p>
          <a:p>
            <a:pPr lvl="2"/>
            <a:r>
              <a:rPr lang="zh-CN" altLang="en-US" dirty="0"/>
              <a:t>一</a:t>
            </a:r>
            <a:r>
              <a:rPr lang="zh-CN" altLang="en-US" dirty="0" smtClean="0"/>
              <a:t>个控件占据一个区域，</a:t>
            </a:r>
            <a:r>
              <a:rPr lang="zh-CN" altLang="en-US" dirty="0" smtClean="0">
                <a:solidFill>
                  <a:srgbClr val="FF0000"/>
                </a:solidFill>
              </a:rPr>
              <a:t>层叠的排列控件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3"/>
            <a:r>
              <a:rPr lang="zh-CN" altLang="en-US" dirty="0" smtClean="0"/>
              <a:t>帧布局的各个相对比较自由，控件之间没有边界限制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避免因为分辨率的不同导致不可预料的堆叠</a:t>
            </a:r>
            <a:endParaRPr lang="en-US" altLang="zh-CN" dirty="0"/>
          </a:p>
          <a:p>
            <a:pPr lvl="3"/>
            <a:r>
              <a:rPr lang="zh-CN" altLang="en-US" dirty="0" smtClean="0"/>
              <a:t>常用属性：</a:t>
            </a:r>
            <a:endParaRPr lang="en-US" altLang="zh-CN" dirty="0" smtClean="0"/>
          </a:p>
          <a:p>
            <a:pPr lvl="4"/>
            <a:r>
              <a:rPr lang="zh-CN" altLang="en-US" dirty="0">
                <a:solidFill>
                  <a:srgbClr val="FF0000"/>
                </a:solidFill>
              </a:rPr>
              <a:t>控件</a:t>
            </a:r>
            <a:r>
              <a:rPr lang="en-US" altLang="zh-CN" dirty="0" err="1" smtClean="0">
                <a:solidFill>
                  <a:srgbClr val="FF0000"/>
                </a:solidFill>
              </a:rPr>
              <a:t>LayoutParameters</a:t>
            </a:r>
            <a:r>
              <a:rPr lang="zh-CN" altLang="en-US" dirty="0" smtClean="0">
                <a:solidFill>
                  <a:srgbClr val="FF0000"/>
                </a:solidFill>
              </a:rPr>
              <a:t>属性组中的</a:t>
            </a:r>
            <a:r>
              <a:rPr lang="en-US" altLang="zh-CN" dirty="0" smtClean="0">
                <a:solidFill>
                  <a:srgbClr val="FF0000"/>
                </a:solidFill>
              </a:rPr>
              <a:t>Gravity</a:t>
            </a:r>
            <a:r>
              <a:rPr lang="zh-CN" altLang="en-US" dirty="0" smtClean="0">
                <a:solidFill>
                  <a:srgbClr val="FF0000"/>
                </a:solidFill>
              </a:rPr>
              <a:t>属性：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5"/>
            <a:r>
              <a:rPr lang="zh-CN" altLang="en-US" dirty="0" smtClean="0"/>
              <a:t>设置控件在屏幕中的对齐位置</a:t>
            </a:r>
            <a:endParaRPr lang="en-US" altLang="zh-CN" dirty="0" smtClean="0"/>
          </a:p>
          <a:p>
            <a:pPr lvl="4"/>
            <a:r>
              <a:rPr lang="zh-CN" altLang="en-US" dirty="0" smtClean="0">
                <a:solidFill>
                  <a:srgbClr val="FF0000"/>
                </a:solidFill>
              </a:rPr>
              <a:t>控件本身的</a:t>
            </a:r>
            <a:r>
              <a:rPr lang="en-US" altLang="zh-CN" dirty="0" smtClean="0">
                <a:solidFill>
                  <a:srgbClr val="FF0000"/>
                </a:solidFill>
              </a:rPr>
              <a:t>Gravity</a:t>
            </a:r>
            <a:r>
              <a:rPr lang="zh-CN" altLang="en-US" dirty="0" smtClean="0">
                <a:solidFill>
                  <a:srgbClr val="FF0000"/>
                </a:solidFill>
              </a:rPr>
              <a:t>属性：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5"/>
            <a:r>
              <a:rPr lang="zh-CN" altLang="en-US" dirty="0" smtClean="0"/>
              <a:t>控件中文本、图像等内容在控件中的对齐位置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232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布局管理器</a:t>
            </a:r>
            <a:r>
              <a:rPr lang="en-US" altLang="zh-CN" dirty="0"/>
              <a:t>Layout</a:t>
            </a:r>
          </a:p>
          <a:p>
            <a:pPr lvl="1"/>
            <a:r>
              <a:rPr lang="en-US" altLang="zh-CN" dirty="0" smtClean="0"/>
              <a:t>5.3.4 </a:t>
            </a:r>
            <a:r>
              <a:rPr lang="zh-CN" altLang="en-US" dirty="0" smtClean="0"/>
              <a:t>表格布局：</a:t>
            </a:r>
            <a:r>
              <a:rPr lang="en-US" altLang="zh-CN" dirty="0" err="1" smtClean="0"/>
              <a:t>TableLayout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按表格的形式（多行多列）排列控件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表格布局管理器实际是线性布局管理的组合</a:t>
            </a:r>
            <a:endParaRPr lang="en-US" altLang="zh-CN" dirty="0" smtClean="0"/>
          </a:p>
          <a:p>
            <a:pPr lvl="4"/>
            <a:r>
              <a:rPr lang="zh-CN" altLang="en-US" dirty="0">
                <a:solidFill>
                  <a:srgbClr val="FF0000"/>
                </a:solidFill>
              </a:rPr>
              <a:t>继承自</a:t>
            </a:r>
            <a:r>
              <a:rPr lang="en-US" altLang="zh-CN" dirty="0" err="1">
                <a:solidFill>
                  <a:srgbClr val="FF0000"/>
                </a:solidFill>
              </a:rPr>
              <a:t>LinearLayout</a:t>
            </a:r>
            <a:r>
              <a:rPr lang="zh-CN" altLang="en-US" dirty="0">
                <a:solidFill>
                  <a:srgbClr val="FF0000"/>
                </a:solidFill>
              </a:rPr>
              <a:t>，可以使用其原有的属性方法</a:t>
            </a:r>
            <a:endParaRPr lang="en-US" altLang="zh-CN" dirty="0">
              <a:solidFill>
                <a:srgbClr val="FF0000"/>
              </a:solidFill>
            </a:endParaRPr>
          </a:p>
          <a:p>
            <a:pPr lvl="4"/>
            <a:r>
              <a:rPr lang="en-US" altLang="zh-CN" dirty="0" err="1" smtClean="0"/>
              <a:t>TableLayout</a:t>
            </a:r>
            <a:r>
              <a:rPr lang="zh-CN" altLang="en-US" dirty="0" smtClean="0"/>
              <a:t>可以包含多个</a:t>
            </a:r>
            <a:r>
              <a:rPr lang="en-US" altLang="zh-CN" dirty="0" err="1" smtClean="0"/>
              <a:t>TableRow</a:t>
            </a:r>
            <a:r>
              <a:rPr lang="zh-CN" altLang="en-US" dirty="0" smtClean="0"/>
              <a:t>，每个占一行</a:t>
            </a:r>
            <a:endParaRPr lang="en-US" altLang="zh-CN" dirty="0"/>
          </a:p>
          <a:p>
            <a:pPr lvl="4"/>
            <a:r>
              <a:rPr lang="zh-CN" altLang="en-US" dirty="0" smtClean="0"/>
              <a:t>每个</a:t>
            </a:r>
            <a:r>
              <a:rPr lang="en-US" altLang="zh-CN" dirty="0" err="1" smtClean="0"/>
              <a:t>TableRow</a:t>
            </a:r>
            <a:r>
              <a:rPr lang="zh-CN" altLang="en-US" dirty="0" smtClean="0"/>
              <a:t>包含多个竖向列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新增属性：</a:t>
            </a:r>
            <a:r>
              <a:rPr lang="zh-CN" altLang="en-US" dirty="0" smtClean="0">
                <a:solidFill>
                  <a:srgbClr val="FF0000"/>
                </a:solidFill>
              </a:rPr>
              <a:t>设置所有的</a:t>
            </a:r>
            <a:r>
              <a:rPr lang="en-US" altLang="zh-CN" dirty="0" err="1" smtClean="0">
                <a:solidFill>
                  <a:srgbClr val="FF0000"/>
                </a:solidFill>
              </a:rPr>
              <a:t>TableRow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5"/>
            <a:r>
              <a:rPr lang="en-US" altLang="zh-CN" dirty="0" err="1" smtClean="0">
                <a:solidFill>
                  <a:srgbClr val="FF0000"/>
                </a:solidFill>
              </a:rPr>
              <a:t>collapseColumns</a:t>
            </a:r>
            <a:r>
              <a:rPr lang="zh-CN" altLang="en-US" dirty="0" smtClean="0"/>
              <a:t>：设置需要隐藏的列号</a:t>
            </a:r>
            <a:endParaRPr lang="en-US" altLang="zh-CN" dirty="0" smtClean="0"/>
          </a:p>
          <a:p>
            <a:pPr lvl="5"/>
            <a:r>
              <a:rPr lang="en-US" altLang="zh-CN" dirty="0" err="1" smtClean="0">
                <a:solidFill>
                  <a:srgbClr val="FF0000"/>
                </a:solidFill>
              </a:rPr>
              <a:t>shrinkColumns</a:t>
            </a:r>
            <a:r>
              <a:rPr lang="zh-CN" altLang="en-US" dirty="0" smtClean="0"/>
              <a:t>：设置允许被收缩的列号</a:t>
            </a:r>
            <a:endParaRPr lang="en-US" altLang="zh-CN" dirty="0" smtClean="0"/>
          </a:p>
          <a:p>
            <a:pPr lvl="5"/>
            <a:r>
              <a:rPr lang="en-US" altLang="zh-CN" dirty="0" err="1" smtClean="0">
                <a:solidFill>
                  <a:srgbClr val="FF0000"/>
                </a:solidFill>
              </a:rPr>
              <a:t>strechColumns</a:t>
            </a:r>
            <a:r>
              <a:rPr lang="zh-CN" altLang="en-US" dirty="0" smtClean="0"/>
              <a:t>：设置允许被拉伸的列号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615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5.2 </a:t>
            </a:r>
            <a:r>
              <a:rPr lang="zh-CN" altLang="en-US" dirty="0" smtClean="0"/>
              <a:t>布局管理器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小结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布局管理器通过分割屏幕等方式，来放置控件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布局不考虑分辨率，仅考虑相对屏幕的比例和位置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使用布局管理排列控件，不应指定控件布局属性的具体数值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若确实需要设定控件的位置大小，应通过计算获得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熟练掌握布局管理器和控件的有关布局的属性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牢记有关位置、大小、对齐、边距等属性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区分好控件的自身属性和与布局属性的区别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尝试组合使用布局管理器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01324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Dialog</a:t>
            </a:r>
            <a:r>
              <a:rPr lang="zh-CN" altLang="en-US" dirty="0" smtClean="0"/>
              <a:t>概述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人机交互中常见的控件，用来方便的显示信息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常见的一些对话窗体，每次都由用户实现比较麻烦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Dialog</a:t>
            </a:r>
            <a:r>
              <a:rPr lang="zh-CN" altLang="en-US" dirty="0" smtClean="0"/>
              <a:t>类定义了一些常见的对话窗体，以方便用户调用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Android</a:t>
            </a:r>
            <a:r>
              <a:rPr lang="zh-CN" altLang="en-US" dirty="0" smtClean="0"/>
              <a:t>平台常见的对话框（基类：</a:t>
            </a:r>
            <a:r>
              <a:rPr lang="en-US" altLang="zh-CN" dirty="0" smtClean="0"/>
              <a:t>Dialog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AlterDialoy</a:t>
            </a:r>
            <a:r>
              <a:rPr lang="zh-CN" altLang="en-US" dirty="0" smtClean="0"/>
              <a:t>：提示对话框，</a:t>
            </a:r>
            <a:r>
              <a:rPr lang="zh-CN" altLang="en-US" dirty="0"/>
              <a:t>可</a:t>
            </a:r>
            <a:r>
              <a:rPr lang="zh-CN" altLang="en-US" dirty="0" smtClean="0"/>
              <a:t>包含若干个按钮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ProgressDialog</a:t>
            </a:r>
            <a:r>
              <a:rPr lang="zh-CN" altLang="en-US" dirty="0" smtClean="0"/>
              <a:t>：进度对话框，显示进度信息，继承自</a:t>
            </a:r>
            <a:r>
              <a:rPr lang="en-US" altLang="zh-CN" dirty="0" err="1" smtClean="0"/>
              <a:t>AlterDialog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DatePickerDialog</a:t>
            </a:r>
            <a:r>
              <a:rPr lang="zh-CN" altLang="en-US" dirty="0" smtClean="0"/>
              <a:t>：日期选择对话框，显示并允许用户选择日期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TimePickerDialog</a:t>
            </a:r>
            <a:r>
              <a:rPr lang="zh-CN" altLang="en-US" dirty="0" smtClean="0"/>
              <a:t>：时间选择对话框，显示</a:t>
            </a:r>
            <a:r>
              <a:rPr lang="zh-CN" altLang="en-US" dirty="0"/>
              <a:t>并允许</a:t>
            </a:r>
            <a:r>
              <a:rPr lang="zh-CN" altLang="en-US" dirty="0" smtClean="0"/>
              <a:t>用户选择时间</a:t>
            </a:r>
            <a:endParaRPr lang="en-US" altLang="zh-CN" dirty="0" smtClean="0"/>
          </a:p>
          <a:p>
            <a:pPr lvl="4"/>
            <a:endParaRPr lang="en-US" altLang="zh-CN" dirty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2"/>
            <a:endParaRPr lang="en-US" altLang="zh-CN" dirty="0" smtClean="0"/>
          </a:p>
          <a:p>
            <a:pPr marL="1252728" lvl="4" indent="0">
              <a:buNone/>
            </a:pP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628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5.3.1 </a:t>
            </a:r>
            <a:r>
              <a:rPr lang="en-US" altLang="zh-CN" dirty="0" err="1" smtClean="0"/>
              <a:t>AlertDialog</a:t>
            </a:r>
            <a:r>
              <a:rPr lang="zh-CN" altLang="en-US" dirty="0"/>
              <a:t>提示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AlertDialog</a:t>
            </a:r>
            <a:r>
              <a:rPr lang="zh-CN" altLang="en-US" dirty="0" smtClean="0"/>
              <a:t>对话框属性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AlertDialog</a:t>
            </a:r>
            <a:r>
              <a:rPr lang="zh-CN" altLang="en-US" dirty="0" smtClean="0"/>
              <a:t>对话框不能直接由构建方法创建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通过</a:t>
            </a:r>
            <a:r>
              <a:rPr lang="en-US" altLang="zh-CN" dirty="0" err="1" smtClean="0"/>
              <a:t>AlertDialog.Builder</a:t>
            </a:r>
            <a:r>
              <a:rPr lang="zh-CN" altLang="en-US" dirty="0" smtClean="0"/>
              <a:t>来设置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setTitle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：设置对话框标题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setIcon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：设置对话框图标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setMessage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：设置对话框的提示信息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setPositiveButton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：为对话框添加确认按钮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setNegativeButton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：为对话框添加取消按钮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setNeutralButton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：为对话框添加第三个按钮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marL="1252728" lvl="4" indent="0">
              <a:buNone/>
            </a:pP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01245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5.3.1 </a:t>
            </a:r>
            <a:r>
              <a:rPr lang="en-US" altLang="zh-CN" dirty="0" err="1" smtClean="0"/>
              <a:t>AlertDialog</a:t>
            </a:r>
            <a:r>
              <a:rPr lang="zh-CN" altLang="en-US" dirty="0"/>
              <a:t>提示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AlertDialog</a:t>
            </a:r>
            <a:r>
              <a:rPr lang="zh-CN" altLang="en-US" dirty="0" smtClean="0"/>
              <a:t>对话框实例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创建一个简单的</a:t>
            </a:r>
            <a:r>
              <a:rPr lang="en-US" altLang="zh-CN" dirty="0" err="1" smtClean="0"/>
              <a:t>AlertDialog</a:t>
            </a:r>
            <a:r>
              <a:rPr lang="zh-CN" altLang="en-US" dirty="0" smtClean="0"/>
              <a:t>对话框并显示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通过</a:t>
            </a:r>
            <a:r>
              <a:rPr lang="en-US" altLang="zh-CN" dirty="0" smtClean="0"/>
              <a:t>Builder</a:t>
            </a:r>
            <a:r>
              <a:rPr lang="zh-CN" altLang="en-US" dirty="0" smtClean="0"/>
              <a:t>来设置对话框的参数</a:t>
            </a:r>
            <a:endParaRPr lang="en-US" altLang="zh-CN" dirty="0" smtClean="0"/>
          </a:p>
          <a:p>
            <a:pPr marL="1252728" lvl="4" indent="0">
              <a:buNone/>
            </a:pP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275406"/>
            <a:ext cx="4752528" cy="17925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68570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88840"/>
            <a:ext cx="8219256" cy="486916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5.3.1 </a:t>
            </a:r>
            <a:r>
              <a:rPr lang="en-US" altLang="zh-CN" dirty="0" err="1" smtClean="0"/>
              <a:t>AlertDialog</a:t>
            </a:r>
            <a:r>
              <a:rPr lang="zh-CN" altLang="en-US" dirty="0"/>
              <a:t>提示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AlertDialog</a:t>
            </a:r>
            <a:r>
              <a:rPr lang="zh-CN" altLang="en-US" dirty="0" smtClean="0"/>
              <a:t>对话框实例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创建一个带按钮的</a:t>
            </a:r>
            <a:r>
              <a:rPr lang="en-US" altLang="zh-CN" dirty="0" err="1" smtClean="0"/>
              <a:t>AlertDialog</a:t>
            </a:r>
            <a:r>
              <a:rPr lang="zh-CN" altLang="en-US" dirty="0" smtClean="0"/>
              <a:t>对话框并显示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setXXXButton</a:t>
            </a:r>
            <a:r>
              <a:rPr lang="zh-CN" altLang="en-US" dirty="0" smtClean="0"/>
              <a:t>来分别设置按钮的名称及对应的监听器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这里演示了先定义</a:t>
            </a:r>
            <a:r>
              <a:rPr lang="en-US" altLang="zh-CN" dirty="0" smtClean="0"/>
              <a:t>builder</a:t>
            </a:r>
            <a:r>
              <a:rPr lang="zh-CN" altLang="en-US" dirty="0" smtClean="0"/>
              <a:t>对象，再创建对话框的方式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38" y="4725144"/>
            <a:ext cx="6768752" cy="1943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293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5.3.2 </a:t>
            </a:r>
            <a:r>
              <a:rPr lang="en-US" altLang="zh-CN" dirty="0" err="1" smtClean="0"/>
              <a:t>AlertDialog</a:t>
            </a:r>
            <a:r>
              <a:rPr lang="zh-CN" altLang="en-US" dirty="0" smtClean="0"/>
              <a:t>单选对话框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创建一个单选对话框的方法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setSingleChoiceItems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CharSequence</a:t>
            </a:r>
            <a:r>
              <a:rPr lang="en-US" altLang="zh-CN" dirty="0" smtClean="0"/>
              <a:t>[]  items,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checkedItem</a:t>
            </a:r>
            <a:endParaRPr lang="en-US" altLang="zh-CN" dirty="0" smtClean="0"/>
          </a:p>
          <a:p>
            <a:pPr marL="978408" lvl="3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final </a:t>
            </a:r>
            <a:r>
              <a:rPr lang="en-US" altLang="zh-CN" dirty="0" err="1" smtClean="0"/>
              <a:t>OnClickListener</a:t>
            </a:r>
            <a:r>
              <a:rPr lang="en-US" altLang="zh-CN" dirty="0" smtClean="0"/>
              <a:t>  listener)</a:t>
            </a:r>
          </a:p>
          <a:p>
            <a:pPr lvl="4"/>
            <a:r>
              <a:rPr lang="zh-CN" altLang="en-US" dirty="0" smtClean="0"/>
              <a:t>定义一个显示数据的数组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定义一个初始被选定的数据（单选按钮）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并为该数据定义一个单击触发事件（按钮被点击）</a:t>
            </a:r>
            <a:endParaRPr lang="en-US" altLang="zh-CN" dirty="0"/>
          </a:p>
          <a:p>
            <a:pPr lvl="5"/>
            <a:r>
              <a:rPr lang="zh-CN" altLang="en-US" dirty="0" smtClean="0"/>
              <a:t>在该事件中，被选中按钮的</a:t>
            </a:r>
            <a:r>
              <a:rPr lang="en-US" altLang="zh-CN" dirty="0" smtClean="0"/>
              <a:t>id</a:t>
            </a:r>
            <a:r>
              <a:rPr lang="zh-CN" altLang="en-US" dirty="0" smtClean="0"/>
              <a:t>会作为事件参数传递下来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往往要记录被选中按钮的</a:t>
            </a:r>
            <a:r>
              <a:rPr lang="en-US" altLang="zh-CN" dirty="0" smtClean="0"/>
              <a:t>id</a:t>
            </a:r>
            <a:r>
              <a:rPr lang="zh-CN" altLang="en-US" dirty="0" smtClean="0"/>
              <a:t>，以便在其他位置使用</a:t>
            </a:r>
            <a:endParaRPr lang="en-US" altLang="zh-CN" dirty="0" smtClean="0"/>
          </a:p>
          <a:p>
            <a:pPr marL="1252728" lvl="4" indent="0">
              <a:buNone/>
            </a:pP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38363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5.3.3 </a:t>
            </a:r>
            <a:r>
              <a:rPr lang="en-US" altLang="zh-CN" dirty="0" err="1" smtClean="0"/>
              <a:t>AlertDialog</a:t>
            </a:r>
            <a:r>
              <a:rPr lang="zh-CN" altLang="en-US" dirty="0" smtClean="0"/>
              <a:t>复选对话框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创建一个复选框对话框的方法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setMultiChoiceItems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CharSequence</a:t>
            </a:r>
            <a:r>
              <a:rPr lang="en-US" altLang="zh-CN" dirty="0" smtClean="0"/>
              <a:t>[]  items,  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[] </a:t>
            </a:r>
            <a:r>
              <a:rPr lang="en-US" altLang="zh-CN" dirty="0" err="1" smtClean="0"/>
              <a:t>checkedItems</a:t>
            </a:r>
            <a:endParaRPr lang="en-US" altLang="zh-CN" dirty="0" smtClean="0"/>
          </a:p>
          <a:p>
            <a:pPr marL="978408" lvl="3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final </a:t>
            </a:r>
            <a:r>
              <a:rPr lang="en-US" altLang="zh-CN" dirty="0" err="1" smtClean="0"/>
              <a:t>OnMultiChoiceClickListener</a:t>
            </a:r>
            <a:r>
              <a:rPr lang="en-US" altLang="zh-CN" dirty="0" smtClean="0"/>
              <a:t>  listener)</a:t>
            </a:r>
          </a:p>
          <a:p>
            <a:pPr lvl="4"/>
            <a:r>
              <a:rPr lang="zh-CN" altLang="en-US" dirty="0" smtClean="0"/>
              <a:t>定义一个显示数据的数组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定义一个存储每个数据选定状态的数组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并为该数据定义一个单击触发事件（不同与单选按钮的监听器）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该监听器多了一个参数：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isChecked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该参数用来表示该按钮在单击后，是否是被选中状态</a:t>
            </a:r>
            <a:endParaRPr lang="en-US" altLang="zh-CN" dirty="0" smtClean="0"/>
          </a:p>
          <a:p>
            <a:pPr marL="1252728" lvl="4" indent="0">
              <a:buNone/>
            </a:pP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5076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5.3.4 </a:t>
            </a:r>
            <a:r>
              <a:rPr lang="en-US" altLang="zh-CN" dirty="0" err="1" smtClean="0"/>
              <a:t>AlertDialog</a:t>
            </a:r>
            <a:r>
              <a:rPr lang="zh-CN" altLang="en-US" dirty="0" smtClean="0"/>
              <a:t>列表对话框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创建一个列表对话框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setItems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CharSequence</a:t>
            </a:r>
            <a:r>
              <a:rPr lang="en-US" altLang="zh-CN" dirty="0" smtClean="0"/>
              <a:t>[]  items, final </a:t>
            </a:r>
            <a:r>
              <a:rPr lang="en-US" altLang="zh-CN" dirty="0" err="1" smtClean="0"/>
              <a:t>OnClickListener</a:t>
            </a:r>
            <a:r>
              <a:rPr lang="en-US" altLang="zh-CN" dirty="0" smtClean="0"/>
              <a:t>  listener)</a:t>
            </a:r>
          </a:p>
          <a:p>
            <a:pPr lvl="4"/>
            <a:r>
              <a:rPr lang="zh-CN" altLang="en-US" dirty="0" smtClean="0"/>
              <a:t> 定义一个显示数据的数组，并为该数组定义一个单击触发事件</a:t>
            </a:r>
            <a:endParaRPr lang="en-US" altLang="zh-CN" dirty="0" smtClean="0"/>
          </a:p>
          <a:p>
            <a:pPr lvl="5"/>
            <a:endParaRPr lang="en-US" altLang="zh-CN" dirty="0" smtClean="0"/>
          </a:p>
          <a:p>
            <a:pPr marL="1252728" lvl="4" indent="0">
              <a:buNone/>
            </a:pP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760967"/>
            <a:ext cx="7524834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294674"/>
            <a:ext cx="6854169" cy="44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802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5.3. 5 </a:t>
            </a:r>
            <a:r>
              <a:rPr lang="zh-CN" altLang="en-US" dirty="0" smtClean="0"/>
              <a:t>进度条对话框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进度条对话框属性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ProgressDialog</a:t>
            </a:r>
            <a:r>
              <a:rPr lang="zh-CN" altLang="en-US" dirty="0" smtClean="0"/>
              <a:t>是</a:t>
            </a:r>
            <a:r>
              <a:rPr lang="en-US" altLang="zh-CN" dirty="0" err="1" smtClean="0"/>
              <a:t>AlertDialog</a:t>
            </a:r>
            <a:r>
              <a:rPr lang="zh-CN" altLang="en-US" dirty="0" smtClean="0"/>
              <a:t>类的扩展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在一个对话框中，显示一个进度信息及文本信息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主要方法：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继承自</a:t>
            </a:r>
            <a:r>
              <a:rPr lang="en-US" altLang="zh-CN" dirty="0" err="1" smtClean="0"/>
              <a:t>AlertDialog</a:t>
            </a:r>
            <a:r>
              <a:rPr lang="zh-CN" altLang="en-US" dirty="0" smtClean="0"/>
              <a:t>类的方法：</a:t>
            </a:r>
            <a:r>
              <a:rPr lang="en-US" altLang="zh-CN" dirty="0" err="1" smtClean="0"/>
              <a:t>setTitle</a:t>
            </a:r>
            <a:r>
              <a:rPr lang="en-US" altLang="zh-CN" dirty="0" smtClean="0"/>
              <a:t>()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setIcon</a:t>
            </a:r>
            <a:r>
              <a:rPr lang="en-US" altLang="zh-CN" dirty="0" smtClean="0"/>
              <a:t>()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setMessage</a:t>
            </a:r>
            <a:r>
              <a:rPr lang="en-US" altLang="zh-CN" dirty="0" smtClean="0"/>
              <a:t>()</a:t>
            </a:r>
          </a:p>
          <a:p>
            <a:pPr lvl="4"/>
            <a:r>
              <a:rPr lang="en-US" altLang="zh-CN" dirty="0" err="1" smtClean="0"/>
              <a:t>setProgressStyle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：设置进度条的风格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setButton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：设置一个</a:t>
            </a:r>
            <a:r>
              <a:rPr lang="en-US" altLang="zh-CN" dirty="0" smtClean="0"/>
              <a:t>Button</a:t>
            </a:r>
          </a:p>
          <a:p>
            <a:pPr lvl="4"/>
            <a:r>
              <a:rPr lang="en-US" altLang="zh-CN" dirty="0" err="1" smtClean="0"/>
              <a:t>setProgress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：设置进度条的进度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setCancelable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：设置是否可以按退回键取消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6163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5.3.6 </a:t>
            </a:r>
            <a:r>
              <a:rPr lang="zh-CN" altLang="en-US" dirty="0" smtClean="0"/>
              <a:t>日期选择对话框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日期对话框概述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其主要用来进行日期的设定，使用比较简单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定义日期对话框的实例对象，并使用</a:t>
            </a:r>
            <a:r>
              <a:rPr lang="en-US" altLang="zh-CN" dirty="0" smtClean="0"/>
              <a:t>show()</a:t>
            </a:r>
            <a:r>
              <a:rPr lang="zh-CN" altLang="en-US" dirty="0" smtClean="0"/>
              <a:t>方法显示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日期对话框的构造函数，需要设定监听器、默认值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为日期对话框绑定监听器，获取用户选定的内容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监听器中的</a:t>
            </a:r>
            <a:r>
              <a:rPr lang="en-US" altLang="zh-CN" dirty="0" err="1" smtClean="0"/>
              <a:t>OnClick</a:t>
            </a:r>
            <a:r>
              <a:rPr lang="zh-CN" altLang="en-US" dirty="0" smtClean="0"/>
              <a:t>事件函数的参数，即为用户设定的日期信息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45900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5.3.6 </a:t>
            </a:r>
            <a:r>
              <a:rPr lang="zh-CN" altLang="en-US" dirty="0" smtClean="0"/>
              <a:t>日期对话框属性及实例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日期对话框实例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717032"/>
            <a:ext cx="7673249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28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5.3.7 </a:t>
            </a:r>
            <a:r>
              <a:rPr lang="zh-CN" altLang="en-US" dirty="0" smtClean="0"/>
              <a:t>时间选择对话框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时间对话框概述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时间选择对话框与日期选择对话框非常相似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077072"/>
            <a:ext cx="7560840" cy="222036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65727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5.3.8 </a:t>
            </a:r>
            <a:r>
              <a:rPr lang="zh-CN" altLang="en-US" dirty="0" smtClean="0"/>
              <a:t>拖动对话框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通过创建</a:t>
            </a:r>
            <a:r>
              <a:rPr lang="en-US" altLang="zh-CN" dirty="0" smtClean="0"/>
              <a:t>Dialog</a:t>
            </a:r>
            <a:r>
              <a:rPr lang="zh-CN" altLang="en-US" dirty="0" smtClean="0"/>
              <a:t>类对象来创建对话框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创建自定义界面对话框的过程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定义一个布局文件，在界面中设计对话框所需的控件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直接创建一个</a:t>
            </a:r>
            <a:r>
              <a:rPr lang="en-US" altLang="zh-CN" dirty="0" smtClean="0"/>
              <a:t>Dialog</a:t>
            </a:r>
            <a:r>
              <a:rPr lang="zh-CN" altLang="en-US" dirty="0" smtClean="0"/>
              <a:t>类的实例对象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将布局文件加载到</a:t>
            </a:r>
            <a:r>
              <a:rPr lang="en-US" altLang="zh-CN" dirty="0" smtClean="0"/>
              <a:t>Dialog</a:t>
            </a:r>
            <a:r>
              <a:rPr lang="zh-CN" altLang="en-US" dirty="0" smtClean="0"/>
              <a:t>实例中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通过对话框实例找到对应的控件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编写设置控件属性、响应控件事件的代码</a:t>
            </a:r>
            <a:endParaRPr lang="en-US" altLang="zh-CN" dirty="0" smtClean="0"/>
          </a:p>
          <a:p>
            <a:pPr lvl="4"/>
            <a:r>
              <a:rPr lang="zh-CN" altLang="en-US" smtClean="0"/>
              <a:t>将对话框显示出来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03472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对话框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5.3.8 </a:t>
            </a:r>
            <a:r>
              <a:rPr lang="zh-CN" altLang="en-US" dirty="0" smtClean="0"/>
              <a:t>拖动对话框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创建拖动对话框</a:t>
            </a:r>
            <a:r>
              <a:rPr lang="zh-CN" altLang="en-US" dirty="0"/>
              <a:t>实例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79" y="3573016"/>
            <a:ext cx="7316639" cy="2952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17295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5.4 </a:t>
            </a:r>
            <a:r>
              <a:rPr lang="zh-CN" altLang="en-US" dirty="0" smtClean="0"/>
              <a:t>菜单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菜单综述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包含选择菜单和上下文菜单两种类型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选项菜单</a:t>
            </a:r>
            <a:r>
              <a:rPr lang="en-US" altLang="zh-CN" dirty="0" err="1" smtClean="0"/>
              <a:t>OptionsMenu</a:t>
            </a:r>
            <a:r>
              <a:rPr lang="zh-CN" altLang="en-US" dirty="0" smtClean="0"/>
              <a:t>概述</a:t>
            </a:r>
            <a:endParaRPr lang="en-US" altLang="zh-CN" dirty="0" smtClean="0"/>
          </a:p>
          <a:p>
            <a:pPr lvl="4"/>
            <a:r>
              <a:rPr lang="zh-CN" altLang="en-US" dirty="0"/>
              <a:t>选择菜单</a:t>
            </a:r>
            <a:r>
              <a:rPr lang="en-US" altLang="zh-CN" dirty="0"/>
              <a:t>Menu</a:t>
            </a:r>
            <a:r>
              <a:rPr lang="zh-CN" altLang="en-US" dirty="0"/>
              <a:t>服务于</a:t>
            </a:r>
            <a:r>
              <a:rPr lang="en-US" altLang="zh-CN" dirty="0" smtClean="0"/>
              <a:t>Activity</a:t>
            </a:r>
          </a:p>
          <a:p>
            <a:pPr lvl="4"/>
            <a:r>
              <a:rPr lang="zh-CN" altLang="en-US" dirty="0" smtClean="0"/>
              <a:t>通过点选手机上的</a:t>
            </a:r>
            <a:r>
              <a:rPr lang="en-US" altLang="zh-CN" dirty="0" smtClean="0"/>
              <a:t>Menu</a:t>
            </a:r>
            <a:r>
              <a:rPr lang="zh-CN" altLang="en-US" dirty="0" smtClean="0"/>
              <a:t>键来弹出菜单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上下文菜单</a:t>
            </a:r>
            <a:r>
              <a:rPr lang="en-US" altLang="zh-CN" dirty="0" err="1" smtClean="0"/>
              <a:t>ContextMenu</a:t>
            </a:r>
            <a:r>
              <a:rPr lang="zh-CN" altLang="en-US" dirty="0"/>
              <a:t>概述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ContextMenu</a:t>
            </a:r>
            <a:r>
              <a:rPr lang="zh-CN" altLang="en-US" dirty="0" smtClean="0"/>
              <a:t>则服务于某个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（控件）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通过长按某个控件来启动上下文菜单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使用统一的菜单类来管理菜单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Menu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MenuItem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SubMenu</a:t>
            </a:r>
            <a:r>
              <a:rPr lang="zh-CN" altLang="en-US" dirty="0" smtClean="0"/>
              <a:t>三个类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79485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菜单</a:t>
            </a:r>
            <a:endParaRPr lang="en-US" altLang="zh-CN" dirty="0"/>
          </a:p>
          <a:p>
            <a:pPr lvl="1"/>
            <a:r>
              <a:rPr lang="zh-CN" altLang="en-US" dirty="0" smtClean="0"/>
              <a:t>创建管理菜单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菜单类概述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Menu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4"/>
            <a:r>
              <a:rPr lang="zh-CN" altLang="en-US" dirty="0"/>
              <a:t>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Menu</a:t>
            </a:r>
            <a:r>
              <a:rPr lang="zh-CN" altLang="en-US" dirty="0" smtClean="0"/>
              <a:t>对象代表一个菜单，是整个菜单的基础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Menu</a:t>
            </a:r>
            <a:r>
              <a:rPr lang="zh-CN" altLang="en-US" dirty="0" smtClean="0"/>
              <a:t>类的常用方法：添加一个菜单</a:t>
            </a:r>
            <a:endParaRPr lang="en-US" altLang="zh-CN" dirty="0" smtClean="0"/>
          </a:p>
          <a:p>
            <a:pPr lvl="5"/>
            <a:r>
              <a:rPr lang="en-US" altLang="zh-CN" dirty="0" smtClean="0"/>
              <a:t>add(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/>
              <a:t>groupId</a:t>
            </a:r>
            <a:r>
              <a:rPr lang="en-US" altLang="zh-CN" dirty="0"/>
              <a:t>,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itemId</a:t>
            </a:r>
            <a:r>
              <a:rPr lang="en-US" altLang="zh-CN" dirty="0"/>
              <a:t>, </a:t>
            </a:r>
            <a:r>
              <a:rPr lang="en-US" altLang="zh-CN" dirty="0" err="1"/>
              <a:t>int</a:t>
            </a:r>
            <a:r>
              <a:rPr lang="en-US" altLang="zh-CN" dirty="0"/>
              <a:t> order, </a:t>
            </a:r>
            <a:r>
              <a:rPr lang="en-US" altLang="zh-CN" dirty="0" err="1"/>
              <a:t>CharSequence</a:t>
            </a:r>
            <a:r>
              <a:rPr lang="en-US" altLang="zh-CN" dirty="0"/>
              <a:t> </a:t>
            </a:r>
            <a:r>
              <a:rPr lang="en-US" altLang="zh-CN" dirty="0" smtClean="0"/>
              <a:t>title)</a:t>
            </a:r>
            <a:endParaRPr lang="en-US" altLang="zh-CN" dirty="0"/>
          </a:p>
          <a:p>
            <a:pPr lvl="3"/>
            <a:r>
              <a:rPr lang="en-US" altLang="zh-CN" dirty="0" err="1" smtClean="0"/>
              <a:t>MenuItem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MenuItem</a:t>
            </a:r>
            <a:r>
              <a:rPr lang="zh-CN" altLang="en-US" dirty="0" smtClean="0"/>
              <a:t>代表一个菜单项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MenuItem</a:t>
            </a:r>
            <a:r>
              <a:rPr lang="zh-CN" altLang="en-US" dirty="0" smtClean="0"/>
              <a:t>往往是通过</a:t>
            </a:r>
            <a:r>
              <a:rPr lang="en-US" altLang="zh-CN" dirty="0" smtClean="0"/>
              <a:t>Menu</a:t>
            </a:r>
            <a:r>
              <a:rPr lang="zh-CN" altLang="en-US" dirty="0" smtClean="0"/>
              <a:t>的</a:t>
            </a:r>
            <a:r>
              <a:rPr lang="en-US" altLang="zh-CN" dirty="0" smtClean="0"/>
              <a:t>add</a:t>
            </a:r>
            <a:r>
              <a:rPr lang="zh-CN" altLang="en-US" dirty="0" smtClean="0"/>
              <a:t>方法来获取的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subMenu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subMenu</a:t>
            </a:r>
            <a:r>
              <a:rPr lang="zh-CN" altLang="en-US" dirty="0" smtClean="0"/>
              <a:t>继承</a:t>
            </a:r>
            <a:r>
              <a:rPr lang="zh-CN" altLang="en-US" dirty="0"/>
              <a:t>自</a:t>
            </a:r>
            <a:r>
              <a:rPr lang="en-US" altLang="zh-CN" dirty="0" smtClean="0"/>
              <a:t>Menu</a:t>
            </a:r>
            <a:r>
              <a:rPr lang="zh-CN" altLang="en-US" dirty="0" smtClean="0"/>
              <a:t>，其代表一个子菜单</a:t>
            </a:r>
            <a:endParaRPr lang="en-US" altLang="zh-CN" dirty="0" smtClean="0"/>
          </a:p>
          <a:p>
            <a:pPr lvl="5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7082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菜单</a:t>
            </a:r>
            <a:endParaRPr lang="en-US" altLang="zh-CN" dirty="0"/>
          </a:p>
          <a:p>
            <a:pPr lvl="1"/>
            <a:r>
              <a:rPr lang="zh-CN" altLang="en-US" dirty="0"/>
              <a:t>创建管理菜单</a:t>
            </a:r>
            <a:endParaRPr lang="en-US" altLang="zh-CN" dirty="0"/>
          </a:p>
          <a:p>
            <a:pPr lvl="2"/>
            <a:r>
              <a:rPr lang="zh-CN" altLang="en-US" dirty="0"/>
              <a:t>菜单类概述</a:t>
            </a:r>
            <a:endParaRPr lang="en-US" altLang="zh-CN" dirty="0"/>
          </a:p>
          <a:p>
            <a:pPr lvl="3"/>
            <a:r>
              <a:rPr lang="en-US" altLang="zh-CN" dirty="0" smtClean="0"/>
              <a:t>Menu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MenuItem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SubMenu</a:t>
            </a:r>
            <a:r>
              <a:rPr lang="zh-CN" altLang="en-US" dirty="0" smtClean="0"/>
              <a:t>的使用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Menu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add</a:t>
            </a:r>
            <a:r>
              <a:rPr lang="zh-CN" altLang="en-US" dirty="0" smtClean="0"/>
              <a:t>方法，来添加菜单项</a:t>
            </a:r>
            <a:r>
              <a:rPr lang="en-US" altLang="zh-CN" dirty="0" err="1" smtClean="0"/>
              <a:t>MenuItem</a:t>
            </a:r>
            <a:r>
              <a:rPr lang="zh-CN" altLang="en-US" dirty="0" smtClean="0"/>
              <a:t>并返回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Menu</a:t>
            </a:r>
            <a:r>
              <a:rPr lang="zh-CN" altLang="en-US" dirty="0" smtClean="0"/>
              <a:t>通过</a:t>
            </a:r>
            <a:r>
              <a:rPr lang="en-US" altLang="zh-CN" dirty="0" err="1" smtClean="0"/>
              <a:t>addSubMenu</a:t>
            </a:r>
            <a:r>
              <a:rPr lang="zh-CN" altLang="en-US" dirty="0" smtClean="0"/>
              <a:t>方法，来添加自菜单</a:t>
            </a:r>
            <a:r>
              <a:rPr lang="en-US" altLang="zh-CN" dirty="0" err="1" smtClean="0"/>
              <a:t>SubMenu</a:t>
            </a:r>
            <a:r>
              <a:rPr lang="zh-CN" altLang="en-US" dirty="0" smtClean="0"/>
              <a:t>并返回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通过</a:t>
            </a:r>
            <a:r>
              <a:rPr lang="en-US" altLang="zh-CN" dirty="0" err="1" smtClean="0"/>
              <a:t>MenuItem</a:t>
            </a:r>
            <a:r>
              <a:rPr lang="zh-CN" altLang="en-US" dirty="0" smtClean="0"/>
              <a:t>的多个方法，来设定菜单项的状态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快捷键、图标、监听器、标题等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SubMenu</a:t>
            </a:r>
            <a:r>
              <a:rPr lang="zh-CN" altLang="en-US" dirty="0" smtClean="0"/>
              <a:t>继承自</a:t>
            </a:r>
            <a:r>
              <a:rPr lang="en-US" altLang="zh-CN" dirty="0" smtClean="0"/>
              <a:t>Menu</a:t>
            </a:r>
            <a:r>
              <a:rPr lang="zh-CN" altLang="en-US" dirty="0" smtClean="0"/>
              <a:t>，用相同方法，添加</a:t>
            </a:r>
            <a:r>
              <a:rPr lang="en-US" altLang="zh-CN" dirty="0" err="1" smtClean="0"/>
              <a:t>MenuItem</a:t>
            </a:r>
            <a:r>
              <a:rPr lang="zh-CN" altLang="en-US" dirty="0" smtClean="0"/>
              <a:t>及</a:t>
            </a:r>
            <a:r>
              <a:rPr lang="en-US" altLang="zh-CN" dirty="0" err="1" smtClean="0"/>
              <a:t>SubMenu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通过</a:t>
            </a:r>
            <a:r>
              <a:rPr lang="en-US" altLang="zh-CN" dirty="0" err="1" smtClean="0"/>
              <a:t>SubMenu</a:t>
            </a:r>
            <a:r>
              <a:rPr lang="zh-CN" altLang="en-US" dirty="0" smtClean="0"/>
              <a:t>的多个方法，设定</a:t>
            </a:r>
            <a:r>
              <a:rPr lang="en-US" altLang="zh-CN" dirty="0" err="1" smtClean="0"/>
              <a:t>SubMenu</a:t>
            </a:r>
            <a:r>
              <a:rPr lang="zh-CN" altLang="en-US" dirty="0" smtClean="0"/>
              <a:t>的状态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411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5.4 </a:t>
            </a:r>
            <a:r>
              <a:rPr lang="zh-CN" altLang="en-US" dirty="0" smtClean="0"/>
              <a:t>菜单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5.4.1 </a:t>
            </a:r>
            <a:r>
              <a:rPr lang="zh-CN" altLang="en-US" dirty="0" smtClean="0"/>
              <a:t>上下文菜单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上下文菜单的使用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类似</a:t>
            </a:r>
            <a:r>
              <a:rPr lang="en-US" altLang="zh-CN" dirty="0" smtClean="0"/>
              <a:t>PC</a:t>
            </a:r>
            <a:r>
              <a:rPr lang="zh-CN" altLang="en-US" dirty="0" smtClean="0"/>
              <a:t>的右键菜单，需要注册到某个控件中，长按出现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ContextMenu</a:t>
            </a:r>
            <a:r>
              <a:rPr lang="zh-CN" altLang="en-US" dirty="0" smtClean="0"/>
              <a:t>在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中的回调函数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onCreateContextMenu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ContextMenu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menu,View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v,ContextMenuInfo</a:t>
            </a:r>
            <a:r>
              <a:rPr lang="en-US" altLang="zh-CN" dirty="0" smtClean="0"/>
              <a:t> info)</a:t>
            </a:r>
          </a:p>
          <a:p>
            <a:pPr lvl="5"/>
            <a:r>
              <a:rPr lang="zh-CN" altLang="en-US" dirty="0" smtClean="0"/>
              <a:t>初始化，第一次调用菜单时执行，用于创建菜单项目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onContextItemSelected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MenuItem</a:t>
            </a:r>
            <a:r>
              <a:rPr lang="en-US" altLang="zh-CN" dirty="0" smtClean="0"/>
              <a:t> item)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菜单项被选中后调用，用于处理菜单事件</a:t>
            </a:r>
            <a:endParaRPr lang="en-US" altLang="zh-CN" dirty="0" smtClean="0"/>
          </a:p>
          <a:p>
            <a:pPr lvl="5"/>
            <a:r>
              <a:rPr lang="zh-CN" altLang="en-US" dirty="0"/>
              <a:t>根据传递的</a:t>
            </a:r>
            <a:r>
              <a:rPr lang="en-US" altLang="zh-CN" dirty="0"/>
              <a:t>item</a:t>
            </a:r>
            <a:r>
              <a:rPr lang="zh-CN" altLang="en-US" dirty="0"/>
              <a:t>参数，确定具体的菜单项，进行</a:t>
            </a:r>
            <a:r>
              <a:rPr lang="zh-CN" altLang="en-US" dirty="0" smtClean="0"/>
              <a:t>设计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onContextMenuClosed</a:t>
            </a:r>
            <a:r>
              <a:rPr lang="en-US" altLang="zh-CN" dirty="0" smtClean="0"/>
              <a:t>(Menu menu)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菜单被关闭时调用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3668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菜单</a:t>
            </a:r>
            <a:endParaRPr lang="en-US" altLang="zh-CN" dirty="0"/>
          </a:p>
          <a:p>
            <a:pPr lvl="1"/>
            <a:r>
              <a:rPr lang="en-US" altLang="zh-CN" dirty="0"/>
              <a:t>5.4.1 </a:t>
            </a:r>
            <a:r>
              <a:rPr lang="zh-CN" altLang="en-US" dirty="0"/>
              <a:t>上下文菜单</a:t>
            </a:r>
            <a:endParaRPr lang="en-US" altLang="zh-CN" dirty="0"/>
          </a:p>
          <a:p>
            <a:pPr lvl="2"/>
            <a:r>
              <a:rPr lang="zh-CN" altLang="en-US" dirty="0" smtClean="0"/>
              <a:t>上下文菜单的使用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ContextMenu</a:t>
            </a:r>
            <a:r>
              <a:rPr lang="zh-CN" altLang="en-US" dirty="0" smtClean="0"/>
              <a:t>的实现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registerForContextMenu</a:t>
            </a:r>
            <a:r>
              <a:rPr lang="en-US" altLang="zh-CN" dirty="0" smtClean="0"/>
              <a:t>(View view)</a:t>
            </a:r>
            <a:r>
              <a:rPr lang="zh-CN" altLang="en-US" dirty="0" smtClean="0"/>
              <a:t>来为控件注册上下文菜单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onCreateContextMenu</a:t>
            </a:r>
            <a:r>
              <a:rPr lang="en-US" altLang="zh-CN" dirty="0" smtClean="0"/>
              <a:t>()</a:t>
            </a:r>
            <a:r>
              <a:rPr lang="zh-CN" altLang="en-US" dirty="0" smtClean="0"/>
              <a:t>回调函数创建上下文菜单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上下文菜单不支持快捷键和图标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onContextItemSelected</a:t>
            </a:r>
            <a:r>
              <a:rPr lang="en-US" altLang="zh-CN" dirty="0" smtClean="0"/>
              <a:t>()</a:t>
            </a:r>
            <a:r>
              <a:rPr lang="zh-CN" altLang="en-US" dirty="0" smtClean="0"/>
              <a:t>回调函数或监听器来实现菜单操作</a:t>
            </a:r>
            <a:endParaRPr lang="en-US" altLang="zh-CN" dirty="0" smtClean="0"/>
          </a:p>
          <a:p>
            <a:pPr lvl="3"/>
            <a:r>
              <a:rPr lang="zh-CN" altLang="en-US" dirty="0"/>
              <a:t>同</a:t>
            </a:r>
            <a:r>
              <a:rPr lang="zh-CN" altLang="en-US" dirty="0" smtClean="0"/>
              <a:t>一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下实现多个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对应不同的</a:t>
            </a:r>
            <a:r>
              <a:rPr lang="en-US" altLang="zh-CN" dirty="0" err="1" smtClean="0"/>
              <a:t>ContextMenu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对需要上下文菜单的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依次进行注册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在创建菜单的回调函数中，根据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id</a:t>
            </a:r>
            <a:r>
              <a:rPr lang="zh-CN" altLang="en-US" dirty="0" smtClean="0"/>
              <a:t>不同，创建不同的菜单项</a:t>
            </a:r>
            <a:endParaRPr lang="en-US" altLang="zh-CN" dirty="0" smtClean="0"/>
          </a:p>
          <a:p>
            <a:pPr lvl="5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4376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菜单</a:t>
            </a:r>
            <a:endParaRPr lang="en-US" altLang="zh-CN" dirty="0"/>
          </a:p>
          <a:p>
            <a:pPr lvl="1"/>
            <a:r>
              <a:rPr lang="en-US" altLang="zh-CN" dirty="0"/>
              <a:t>5.4.1 </a:t>
            </a:r>
            <a:r>
              <a:rPr lang="zh-CN" altLang="en-US" dirty="0"/>
              <a:t>上下文菜单</a:t>
            </a:r>
            <a:endParaRPr lang="en-US" altLang="zh-CN" dirty="0"/>
          </a:p>
          <a:p>
            <a:pPr lvl="2"/>
            <a:r>
              <a:rPr lang="zh-CN" altLang="en-US" dirty="0" smtClean="0"/>
              <a:t>上下文菜单的例子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创建菜单项目及注册菜单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533444"/>
            <a:ext cx="6048672" cy="23245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933056"/>
            <a:ext cx="3744416" cy="51060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54286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菜单</a:t>
            </a:r>
            <a:endParaRPr lang="en-US" altLang="zh-CN" dirty="0"/>
          </a:p>
          <a:p>
            <a:pPr lvl="1"/>
            <a:r>
              <a:rPr lang="en-US" altLang="zh-CN" dirty="0"/>
              <a:t>5.4.1 </a:t>
            </a:r>
            <a:r>
              <a:rPr lang="zh-CN" altLang="en-US" dirty="0"/>
              <a:t>上下文菜单</a:t>
            </a:r>
            <a:endParaRPr lang="en-US" altLang="zh-CN" dirty="0"/>
          </a:p>
          <a:p>
            <a:pPr lvl="2"/>
            <a:r>
              <a:rPr lang="zh-CN" altLang="en-US" dirty="0" smtClean="0"/>
              <a:t>上下文菜单的例子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响应菜单选择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829062"/>
            <a:ext cx="5616624" cy="2895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9693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5.4 </a:t>
            </a:r>
            <a:r>
              <a:rPr lang="zh-CN" altLang="en-US" dirty="0" smtClean="0"/>
              <a:t>菜单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5.4.2</a:t>
            </a:r>
            <a:r>
              <a:rPr lang="zh-CN" altLang="en-US" dirty="0" smtClean="0"/>
              <a:t>选项菜单</a:t>
            </a:r>
            <a:endParaRPr lang="en-US" altLang="zh-CN" dirty="0" smtClean="0"/>
          </a:p>
          <a:p>
            <a:pPr lvl="2"/>
            <a:r>
              <a:rPr lang="zh-CN" altLang="en-US" dirty="0"/>
              <a:t>选项</a:t>
            </a:r>
            <a:r>
              <a:rPr lang="zh-CN" altLang="en-US" dirty="0" smtClean="0"/>
              <a:t>菜单的使用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选项菜单的使用方法和上下文菜单基本相同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OptionsMenu</a:t>
            </a:r>
            <a:r>
              <a:rPr lang="zh-CN" altLang="en-US" dirty="0" smtClean="0"/>
              <a:t>选项菜单在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中的回调方法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onCreateOptionsMenu</a:t>
            </a:r>
            <a:r>
              <a:rPr lang="en-US" altLang="zh-CN" dirty="0" smtClean="0"/>
              <a:t>(Menu menu)</a:t>
            </a:r>
          </a:p>
          <a:p>
            <a:pPr lvl="5"/>
            <a:r>
              <a:rPr lang="zh-CN" altLang="en-US" dirty="0" smtClean="0"/>
              <a:t>初始化选项菜单，初次显示菜单时调用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public </a:t>
            </a:r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 err="1"/>
              <a:t>onOptionsItemSeleted</a:t>
            </a:r>
            <a:r>
              <a:rPr lang="en-US" altLang="zh-CN" dirty="0"/>
              <a:t>(</a:t>
            </a:r>
            <a:r>
              <a:rPr lang="en-US" altLang="zh-CN" dirty="0" err="1"/>
              <a:t>MenuItem</a:t>
            </a:r>
            <a:r>
              <a:rPr lang="en-US" altLang="zh-CN" dirty="0"/>
              <a:t> item)</a:t>
            </a:r>
          </a:p>
          <a:p>
            <a:pPr lvl="5"/>
            <a:r>
              <a:rPr lang="zh-CN" altLang="en-US" dirty="0"/>
              <a:t>选项菜单中的某个选项被选中时，调用该方法</a:t>
            </a:r>
            <a:endParaRPr lang="en-US" altLang="zh-CN" dirty="0"/>
          </a:p>
          <a:p>
            <a:pPr lvl="4"/>
            <a:r>
              <a:rPr lang="en-US" altLang="zh-CN" dirty="0" smtClean="0"/>
              <a:t>public </a:t>
            </a:r>
            <a:r>
              <a:rPr lang="en-US" altLang="zh-CN" dirty="0"/>
              <a:t>void </a:t>
            </a:r>
            <a:r>
              <a:rPr lang="en-US" altLang="zh-CN" dirty="0" err="1"/>
              <a:t>onOptionMenuClosed</a:t>
            </a:r>
            <a:r>
              <a:rPr lang="en-US" altLang="zh-CN" dirty="0"/>
              <a:t>(Menu menu)</a:t>
            </a:r>
          </a:p>
          <a:p>
            <a:pPr lvl="5"/>
            <a:r>
              <a:rPr lang="zh-CN" altLang="en-US" dirty="0"/>
              <a:t>当关闭菜单时调用该方法</a:t>
            </a:r>
            <a:endParaRPr lang="en-US" altLang="zh-CN" dirty="0"/>
          </a:p>
          <a:p>
            <a:pPr marL="1527048" lvl="5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7698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5.5 Toast</a:t>
            </a:r>
          </a:p>
          <a:p>
            <a:pPr lvl="1"/>
            <a:r>
              <a:rPr lang="en-US" altLang="zh-CN" dirty="0" smtClean="0"/>
              <a:t>5.5.1 </a:t>
            </a:r>
            <a:r>
              <a:rPr lang="zh-CN" altLang="en-US" dirty="0" smtClean="0"/>
              <a:t>常规</a:t>
            </a:r>
            <a:r>
              <a:rPr lang="en-US" altLang="zh-CN" dirty="0" smtClean="0"/>
              <a:t>Toast</a:t>
            </a:r>
          </a:p>
          <a:p>
            <a:pPr lvl="2"/>
            <a:r>
              <a:rPr lang="en-US" altLang="zh-CN" dirty="0" smtClean="0"/>
              <a:t>Toast</a:t>
            </a:r>
            <a:r>
              <a:rPr lang="zh-CN" altLang="en-US" dirty="0" smtClean="0"/>
              <a:t>概述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消息提示框对象的方法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makeText</a:t>
            </a:r>
            <a:r>
              <a:rPr lang="en-US" altLang="zh-CN" dirty="0" smtClean="0"/>
              <a:t>(context </a:t>
            </a:r>
            <a:r>
              <a:rPr lang="en-US" altLang="zh-CN" dirty="0" err="1" smtClean="0"/>
              <a:t>context,CharSequence</a:t>
            </a:r>
            <a:r>
              <a:rPr lang="en-US" altLang="zh-CN" dirty="0" smtClean="0"/>
              <a:t> text,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Duration)</a:t>
            </a:r>
          </a:p>
          <a:p>
            <a:pPr lvl="4"/>
            <a:r>
              <a:rPr lang="zh-CN" altLang="en-US" dirty="0" smtClean="0"/>
              <a:t>参数分别是：容器、显示的文本信息、显示停留时间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其他方法：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show()</a:t>
            </a:r>
            <a:r>
              <a:rPr lang="zh-CN" altLang="en-US" dirty="0" smtClean="0"/>
              <a:t>：显示消息提示框信息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setGravity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：设置显示位置，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三个参数分别是：起点位置，右偏移值、下偏移值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setMargin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：以横向和纵向的百分比设置显示位置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两个参数：水平偏移正右负左，垂直偏移正上负下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2377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5.5 </a:t>
            </a:r>
            <a:r>
              <a:rPr lang="en-US" altLang="zh-CN" dirty="0"/>
              <a:t>Toast</a:t>
            </a:r>
          </a:p>
          <a:p>
            <a:pPr lvl="1"/>
            <a:r>
              <a:rPr lang="en-US" altLang="zh-CN" dirty="0"/>
              <a:t>5.5.1 </a:t>
            </a:r>
            <a:r>
              <a:rPr lang="zh-CN" altLang="en-US" dirty="0"/>
              <a:t>常规</a:t>
            </a:r>
            <a:r>
              <a:rPr lang="en-US" altLang="zh-CN" dirty="0" smtClean="0"/>
              <a:t>Toast</a:t>
            </a:r>
          </a:p>
          <a:p>
            <a:pPr lvl="2"/>
            <a:r>
              <a:rPr lang="en-US" altLang="zh-CN" dirty="0" smtClean="0"/>
              <a:t>Toast</a:t>
            </a:r>
            <a:r>
              <a:rPr lang="zh-CN" altLang="en-US" dirty="0" smtClean="0"/>
              <a:t>实例</a:t>
            </a:r>
            <a:endParaRPr lang="en-US" altLang="zh-CN" dirty="0"/>
          </a:p>
          <a:p>
            <a:pPr lvl="3"/>
            <a:r>
              <a:rPr lang="zh-CN" altLang="en-US" dirty="0" smtClean="0"/>
              <a:t>直接创建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匿名对象并显示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r>
              <a:rPr lang="zh-CN" altLang="en-US" dirty="0" smtClean="0"/>
              <a:t>创建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对象并进行设置后显示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不要使用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的构造方法创建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，使用</a:t>
            </a:r>
            <a:r>
              <a:rPr lang="en-US" altLang="zh-CN" dirty="0" err="1" smtClean="0"/>
              <a:t>makeText</a:t>
            </a:r>
            <a:r>
              <a:rPr lang="zh-CN" altLang="en-US" dirty="0" smtClean="0"/>
              <a:t>创建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5"/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861048"/>
            <a:ext cx="6696744" cy="288032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237" y="5013176"/>
            <a:ext cx="6752753" cy="1224136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00983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5.5 Toast</a:t>
            </a:r>
          </a:p>
          <a:p>
            <a:pPr lvl="1"/>
            <a:r>
              <a:rPr lang="en-US" altLang="zh-CN" dirty="0" smtClean="0"/>
              <a:t>5.5.2 </a:t>
            </a:r>
            <a:r>
              <a:rPr lang="zh-CN" altLang="en-US" dirty="0" smtClean="0"/>
              <a:t>自定义</a:t>
            </a:r>
            <a:r>
              <a:rPr lang="en-US" altLang="zh-CN" dirty="0" smtClean="0"/>
              <a:t>Toast</a:t>
            </a:r>
            <a:endParaRPr lang="en-US" altLang="zh-CN" dirty="0"/>
          </a:p>
          <a:p>
            <a:pPr lvl="2"/>
            <a:r>
              <a:rPr lang="zh-CN" altLang="en-US" dirty="0"/>
              <a:t>自定义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的方法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创建并设计一个界面文件</a:t>
            </a:r>
            <a:r>
              <a:rPr lang="en-US" altLang="zh-CN" dirty="0" smtClean="0"/>
              <a:t>XML</a:t>
            </a:r>
            <a:r>
              <a:rPr lang="zh-CN" altLang="en-US" dirty="0" smtClean="0"/>
              <a:t>，作为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的显示内容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</a:t>
            </a:r>
            <a:r>
              <a:rPr lang="en-US" altLang="zh-CN" dirty="0" err="1" smtClean="0"/>
              <a:t>LayoutInflater</a:t>
            </a:r>
            <a:r>
              <a:rPr lang="zh-CN" altLang="en-US" dirty="0" smtClean="0"/>
              <a:t>来获取界面文件，并将其实例化为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从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对象中获取界面中的控件并设定控件内容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通过构造函数定义一个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使用</a:t>
            </a:r>
            <a:r>
              <a:rPr lang="en-US" altLang="zh-CN" dirty="0" err="1" smtClean="0"/>
              <a:t>setView</a:t>
            </a:r>
            <a:r>
              <a:rPr lang="en-US" altLang="zh-CN" dirty="0" smtClean="0"/>
              <a:t> ()</a:t>
            </a:r>
            <a:r>
              <a:rPr lang="zh-CN" altLang="en-US" dirty="0" smtClean="0"/>
              <a:t>方法来加载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使用其他的设定方法来设定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使用</a:t>
            </a:r>
            <a:r>
              <a:rPr lang="en-US" altLang="zh-CN" dirty="0" smtClean="0"/>
              <a:t>show()</a:t>
            </a:r>
            <a:r>
              <a:rPr lang="zh-CN" altLang="en-US" dirty="0" smtClean="0"/>
              <a:t>方法来显示</a:t>
            </a:r>
            <a:r>
              <a:rPr lang="en-US" altLang="zh-CN" dirty="0" smtClean="0"/>
              <a:t>Toast</a:t>
            </a:r>
          </a:p>
        </p:txBody>
      </p:sp>
    </p:spTree>
    <p:extLst>
      <p:ext uri="{BB962C8B-B14F-4D97-AF65-F5344CB8AC3E}">
        <p14:creationId xmlns:p14="http://schemas.microsoft.com/office/powerpoint/2010/main" val="122652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5.5 Toast</a:t>
            </a:r>
          </a:p>
          <a:p>
            <a:pPr lvl="1"/>
            <a:r>
              <a:rPr lang="en-US" altLang="zh-CN" dirty="0" smtClean="0"/>
              <a:t>5.5.2 </a:t>
            </a:r>
            <a:r>
              <a:rPr lang="zh-CN" altLang="en-US" dirty="0" smtClean="0"/>
              <a:t>自定义</a:t>
            </a:r>
            <a:r>
              <a:rPr lang="en-US" altLang="zh-CN" dirty="0" smtClean="0"/>
              <a:t>Toast</a:t>
            </a:r>
            <a:endParaRPr lang="en-US" altLang="zh-CN" dirty="0"/>
          </a:p>
          <a:p>
            <a:pPr lvl="2"/>
            <a:r>
              <a:rPr lang="zh-CN" altLang="en-US" dirty="0" smtClean="0"/>
              <a:t>自定义</a:t>
            </a:r>
            <a:r>
              <a:rPr lang="en-US" altLang="zh-CN" dirty="0" smtClean="0"/>
              <a:t>Toast</a:t>
            </a:r>
            <a:r>
              <a:rPr lang="zh-CN" altLang="en-US" dirty="0" smtClean="0"/>
              <a:t>实例</a:t>
            </a:r>
            <a:endParaRPr lang="en-US" altLang="zh-CN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574302"/>
            <a:ext cx="7610475" cy="298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06276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5.6 Notification</a:t>
            </a:r>
          </a:p>
          <a:p>
            <a:pPr lvl="1"/>
            <a:r>
              <a:rPr lang="en-US" altLang="zh-CN" dirty="0" smtClean="0"/>
              <a:t>Notification</a:t>
            </a:r>
            <a:r>
              <a:rPr lang="zh-CN" altLang="en-US" dirty="0" smtClean="0"/>
              <a:t>概述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真对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中不同的情况，提供了不同的提醒方式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Toast Notification</a:t>
            </a:r>
            <a:r>
              <a:rPr lang="zh-CN" altLang="en-US" dirty="0" smtClean="0"/>
              <a:t>：出现在屏幕上暂时性的通知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Dialog Notification</a:t>
            </a:r>
            <a:r>
              <a:rPr lang="zh-CN" altLang="en-US" dirty="0" smtClean="0"/>
              <a:t>：以对话框的形式出现在屏幕上</a:t>
            </a:r>
            <a:endParaRPr lang="en-US" altLang="zh-CN" dirty="0" smtClean="0"/>
          </a:p>
          <a:p>
            <a:pPr lvl="3"/>
            <a:r>
              <a:rPr lang="en-US" altLang="zh-CN" dirty="0"/>
              <a:t>Status Bar Notification</a:t>
            </a:r>
            <a:r>
              <a:rPr lang="zh-CN" altLang="en-US" dirty="0"/>
              <a:t>：出现在系统顶部状态栏的通知</a:t>
            </a:r>
            <a:endParaRPr lang="en-US" altLang="zh-CN" dirty="0"/>
          </a:p>
          <a:p>
            <a:pPr lvl="4"/>
            <a:r>
              <a:rPr lang="zh-CN" altLang="en-US" dirty="0" smtClean="0"/>
              <a:t>当应用程序处于后台运行时，比较合适使用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通过在顶部下拉来查看通知信息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Notification</a:t>
            </a:r>
            <a:r>
              <a:rPr lang="zh-CN" altLang="en-US" dirty="0" smtClean="0"/>
              <a:t>使用涉及到的类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Notifaction</a:t>
            </a:r>
            <a:r>
              <a:rPr lang="zh-CN" altLang="en-US" dirty="0" smtClean="0"/>
              <a:t>类：显示通知信息，由用户定义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NotificationManager</a:t>
            </a:r>
            <a:r>
              <a:rPr lang="zh-CN" altLang="en-US" dirty="0" smtClean="0"/>
              <a:t>类：管理通知信息，由系统获取该类对象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9016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5.6 Notification</a:t>
            </a:r>
          </a:p>
          <a:p>
            <a:pPr lvl="1"/>
            <a:r>
              <a:rPr lang="en-US" altLang="zh-CN" dirty="0" smtClean="0"/>
              <a:t>5.6.1 </a:t>
            </a:r>
            <a:r>
              <a:rPr lang="zh-CN" altLang="en-US" dirty="0" smtClean="0"/>
              <a:t>常规</a:t>
            </a:r>
            <a:r>
              <a:rPr lang="en-US" altLang="zh-CN" dirty="0" smtClean="0"/>
              <a:t>Notification</a:t>
            </a:r>
          </a:p>
          <a:p>
            <a:pPr lvl="2"/>
            <a:r>
              <a:rPr lang="zh-CN" altLang="en-US" dirty="0" smtClean="0"/>
              <a:t>使用方式</a:t>
            </a:r>
            <a:endParaRPr lang="en-US" altLang="zh-CN" dirty="0" smtClean="0"/>
          </a:p>
          <a:p>
            <a:pPr lvl="3"/>
            <a:r>
              <a:rPr lang="zh-CN" altLang="en-US" dirty="0"/>
              <a:t>调用</a:t>
            </a:r>
            <a:r>
              <a:rPr lang="en-US" altLang="zh-CN" dirty="0" err="1"/>
              <a:t>getSystemService</a:t>
            </a:r>
            <a:r>
              <a:rPr lang="en-US" altLang="zh-CN" dirty="0"/>
              <a:t>()</a:t>
            </a:r>
            <a:r>
              <a:rPr lang="zh-CN" altLang="en-US" dirty="0"/>
              <a:t>方法获取系统的</a:t>
            </a:r>
            <a:r>
              <a:rPr lang="en-US" altLang="zh-CN" dirty="0" err="1"/>
              <a:t>NotificationManager</a:t>
            </a:r>
            <a:r>
              <a:rPr lang="zh-CN" altLang="en-US" dirty="0" smtClean="0"/>
              <a:t>服务</a:t>
            </a:r>
            <a:endParaRPr lang="zh-CN" altLang="en-US" dirty="0"/>
          </a:p>
          <a:p>
            <a:pPr lvl="3"/>
            <a:r>
              <a:rPr lang="zh-CN" altLang="en-US" dirty="0" smtClean="0"/>
              <a:t>创建</a:t>
            </a:r>
            <a:r>
              <a:rPr lang="zh-CN" altLang="en-US" dirty="0"/>
              <a:t>一个</a:t>
            </a:r>
            <a:r>
              <a:rPr lang="en-US" altLang="zh-CN" dirty="0"/>
              <a:t>Notification</a:t>
            </a:r>
            <a:r>
              <a:rPr lang="zh-CN" altLang="en-US" dirty="0"/>
              <a:t>对象，并为其设置各种</a:t>
            </a:r>
            <a:r>
              <a:rPr lang="zh-CN" altLang="en-US" dirty="0" smtClean="0"/>
              <a:t>属性</a:t>
            </a:r>
            <a:endParaRPr lang="zh-CN" altLang="en-US" dirty="0"/>
          </a:p>
          <a:p>
            <a:pPr lvl="3"/>
            <a:r>
              <a:rPr lang="zh-CN" altLang="en-US" dirty="0" smtClean="0"/>
              <a:t>为</a:t>
            </a:r>
            <a:r>
              <a:rPr lang="en-US" altLang="zh-CN" dirty="0" smtClean="0"/>
              <a:t>Notification</a:t>
            </a:r>
            <a:r>
              <a:rPr lang="zh-CN" altLang="en-US" dirty="0"/>
              <a:t>对象设置事件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通过</a:t>
            </a:r>
            <a:r>
              <a:rPr lang="en-US" altLang="zh-CN" dirty="0" err="1"/>
              <a:t>NotificationManager</a:t>
            </a:r>
            <a:r>
              <a:rPr lang="zh-CN" altLang="en-US" dirty="0"/>
              <a:t>类的</a:t>
            </a:r>
            <a:r>
              <a:rPr lang="en-US" altLang="zh-CN" dirty="0"/>
              <a:t>notify()</a:t>
            </a:r>
            <a:r>
              <a:rPr lang="zh-CN" altLang="en-US" dirty="0"/>
              <a:t>方法发送</a:t>
            </a:r>
            <a:r>
              <a:rPr lang="en-US" altLang="zh-CN" dirty="0"/>
              <a:t>Notification</a:t>
            </a:r>
            <a:r>
              <a:rPr lang="zh-CN" altLang="en-US" dirty="0" smtClean="0"/>
              <a:t>通知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若需要激活另一个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来显示信息，则需要使用</a:t>
            </a:r>
            <a:r>
              <a:rPr lang="en-US" altLang="zh-CN" dirty="0" smtClean="0"/>
              <a:t>Intent</a:t>
            </a:r>
          </a:p>
          <a:p>
            <a:pPr lvl="4"/>
            <a:r>
              <a:rPr lang="zh-CN" altLang="en-US" dirty="0" smtClean="0"/>
              <a:t>创建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对象，并由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对象再创建</a:t>
            </a:r>
            <a:r>
              <a:rPr lang="en-US" altLang="zh-CN" dirty="0" err="1" smtClean="0"/>
              <a:t>PendingIntent</a:t>
            </a:r>
            <a:r>
              <a:rPr lang="zh-CN" altLang="en-US" dirty="0" smtClean="0"/>
              <a:t>对象来作为传递信息的通道</a:t>
            </a:r>
            <a:endParaRPr lang="en-US" altLang="zh-CN" dirty="0" smtClean="0"/>
          </a:p>
          <a:p>
            <a:pPr lvl="3"/>
            <a:r>
              <a:rPr lang="zh-CN" altLang="en-US" dirty="0" smtClean="0">
                <a:solidFill>
                  <a:srgbClr val="FF0000"/>
                </a:solidFill>
              </a:rPr>
              <a:t>注意：新版的</a:t>
            </a:r>
            <a:r>
              <a:rPr lang="en-US" altLang="zh-CN" dirty="0" smtClean="0">
                <a:solidFill>
                  <a:srgbClr val="FF0000"/>
                </a:solidFill>
              </a:rPr>
              <a:t>Notification</a:t>
            </a:r>
            <a:r>
              <a:rPr lang="zh-CN" altLang="en-US" dirty="0" smtClean="0">
                <a:solidFill>
                  <a:srgbClr val="FF0000"/>
                </a:solidFill>
              </a:rPr>
              <a:t>需要使用</a:t>
            </a:r>
            <a:r>
              <a:rPr lang="en-US" altLang="zh-CN" dirty="0" smtClean="0">
                <a:solidFill>
                  <a:srgbClr val="FF0000"/>
                </a:solidFill>
              </a:rPr>
              <a:t>Builder()</a:t>
            </a:r>
            <a:r>
              <a:rPr lang="zh-CN" altLang="en-US" dirty="0" smtClean="0">
                <a:solidFill>
                  <a:srgbClr val="FF0000"/>
                </a:solidFill>
              </a:rPr>
              <a:t>方法来构造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4"/>
            <a:r>
              <a:rPr lang="en-US" altLang="zh-CN" dirty="0" err="1" smtClean="0">
                <a:solidFill>
                  <a:srgbClr val="FF0000"/>
                </a:solidFill>
              </a:rPr>
              <a:t>setLatestEventInfo</a:t>
            </a:r>
            <a:r>
              <a:rPr lang="en-US" altLang="zh-CN" dirty="0" smtClean="0">
                <a:solidFill>
                  <a:srgbClr val="FF0000"/>
                </a:solidFill>
              </a:rPr>
              <a:t>()</a:t>
            </a:r>
            <a:r>
              <a:rPr lang="zh-CN" altLang="en-US" dirty="0" smtClean="0">
                <a:solidFill>
                  <a:srgbClr val="FF0000"/>
                </a:solidFill>
              </a:rPr>
              <a:t>方法已经被弃用</a:t>
            </a:r>
            <a:endParaRPr lang="zh-CN" altLang="en-US" dirty="0">
              <a:solidFill>
                <a:srgbClr val="FF0000"/>
              </a:solidFill>
            </a:endParaRPr>
          </a:p>
          <a:p>
            <a:pPr lvl="5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09847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5.6 Notification</a:t>
            </a:r>
          </a:p>
          <a:p>
            <a:pPr lvl="1"/>
            <a:r>
              <a:rPr lang="en-US" altLang="zh-CN" dirty="0"/>
              <a:t>5.6.1 </a:t>
            </a:r>
            <a:r>
              <a:rPr lang="zh-CN" altLang="en-US" dirty="0"/>
              <a:t>常规</a:t>
            </a:r>
            <a:r>
              <a:rPr lang="en-US" altLang="zh-CN" dirty="0"/>
              <a:t>Notification</a:t>
            </a:r>
          </a:p>
          <a:p>
            <a:pPr lvl="2"/>
            <a:r>
              <a:rPr lang="en-US" altLang="zh-CN" dirty="0" smtClean="0"/>
              <a:t>Notification</a:t>
            </a:r>
            <a:r>
              <a:rPr lang="zh-CN" altLang="en-US" dirty="0" smtClean="0"/>
              <a:t>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创建一个简单的通知信息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zh-CN" altLang="en-US" dirty="0">
                <a:solidFill>
                  <a:srgbClr val="FF0000"/>
                </a:solidFill>
              </a:rPr>
              <a:t>新版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4"/>
            <a:endParaRPr lang="en-US" altLang="zh-CN" dirty="0" smtClean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288" y="4005064"/>
            <a:ext cx="7486650" cy="20478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1794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5.6 </a:t>
            </a:r>
            <a:r>
              <a:rPr lang="en-US" altLang="zh-CN" dirty="0"/>
              <a:t>Notification</a:t>
            </a:r>
          </a:p>
          <a:p>
            <a:pPr lvl="1"/>
            <a:r>
              <a:rPr lang="en-US" altLang="zh-CN" dirty="0"/>
              <a:t>5.6.1 </a:t>
            </a:r>
            <a:r>
              <a:rPr lang="zh-CN" altLang="en-US" dirty="0"/>
              <a:t>常规</a:t>
            </a:r>
            <a:r>
              <a:rPr lang="en-US" altLang="zh-CN" dirty="0" smtClean="0"/>
              <a:t>Notification</a:t>
            </a:r>
          </a:p>
          <a:p>
            <a:pPr lvl="2"/>
            <a:r>
              <a:rPr lang="en-US" altLang="zh-CN" dirty="0"/>
              <a:t>Notification</a:t>
            </a:r>
            <a:r>
              <a:rPr lang="zh-CN" altLang="en-US" dirty="0" smtClean="0"/>
              <a:t>实例</a:t>
            </a:r>
            <a:endParaRPr lang="en-US" altLang="zh-CN" dirty="0"/>
          </a:p>
          <a:p>
            <a:pPr lvl="3"/>
            <a:r>
              <a:rPr lang="zh-CN" altLang="en-US" dirty="0" smtClean="0"/>
              <a:t>创建一个简单通知，并通过通知启动其他</a:t>
            </a:r>
            <a:r>
              <a:rPr lang="en-US" altLang="zh-CN" dirty="0" smtClean="0"/>
              <a:t>Activity</a:t>
            </a:r>
            <a:r>
              <a:rPr lang="zh-CN" altLang="en-US" dirty="0">
                <a:solidFill>
                  <a:srgbClr val="FF0000"/>
                </a:solidFill>
              </a:rPr>
              <a:t>（新版）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/>
          </a:p>
          <a:p>
            <a:pPr lvl="4"/>
            <a:endParaRPr lang="en-US" altLang="zh-CN" dirty="0" smtClean="0"/>
          </a:p>
          <a:p>
            <a:pPr marL="1252728" lvl="4" indent="0">
              <a:buNone/>
            </a:pPr>
            <a:endParaRPr lang="en-US" altLang="zh-C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994826"/>
            <a:ext cx="7610475" cy="25812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77203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5.7 </a:t>
            </a:r>
            <a:r>
              <a:rPr lang="zh-CN" altLang="en-US" dirty="0" smtClean="0"/>
              <a:t>列表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列表类简介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ListView</a:t>
            </a:r>
            <a:r>
              <a:rPr lang="zh-CN" altLang="en-US" dirty="0" smtClean="0"/>
              <a:t>的父类是</a:t>
            </a:r>
            <a:r>
              <a:rPr lang="en-US" altLang="zh-CN" dirty="0" err="1" smtClean="0"/>
              <a:t>viewGroup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自己定义了排列子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的规则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需要通过适配器</a:t>
            </a:r>
            <a:r>
              <a:rPr lang="en-US" altLang="zh-CN" dirty="0" smtClean="0"/>
              <a:t>Adapter</a:t>
            </a:r>
            <a:r>
              <a:rPr lang="zh-CN" altLang="en-US" dirty="0" smtClean="0"/>
              <a:t>来展示数据内容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/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365104"/>
            <a:ext cx="704204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26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5.7 </a:t>
            </a:r>
            <a:r>
              <a:rPr lang="zh-CN" altLang="en-US" dirty="0" smtClean="0"/>
              <a:t>列表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5.7.1 </a:t>
            </a:r>
            <a:r>
              <a:rPr lang="zh-CN" altLang="en-US" dirty="0" smtClean="0"/>
              <a:t>常用</a:t>
            </a:r>
            <a:r>
              <a:rPr lang="en-US" altLang="zh-CN" dirty="0" smtClean="0"/>
              <a:t>Adapter</a:t>
            </a:r>
          </a:p>
          <a:p>
            <a:pPr lvl="2"/>
            <a:r>
              <a:rPr lang="zh-CN" altLang="en-US" dirty="0" smtClean="0"/>
              <a:t>什么是</a:t>
            </a:r>
            <a:r>
              <a:rPr lang="en-US" altLang="zh-CN" dirty="0" smtClean="0"/>
              <a:t>Adapter</a:t>
            </a:r>
          </a:p>
          <a:p>
            <a:pPr lvl="3"/>
            <a:r>
              <a:rPr lang="zh-CN" altLang="en-US" dirty="0" smtClean="0"/>
              <a:t>桥接类：将数据绑定到</a:t>
            </a:r>
            <a:r>
              <a:rPr lang="en-US" altLang="zh-CN" dirty="0" smtClean="0"/>
              <a:t>UI</a:t>
            </a:r>
            <a:r>
              <a:rPr lang="zh-CN" altLang="en-US" dirty="0" smtClean="0"/>
              <a:t>界面中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为显示数据的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控件提供数据，访问原始数据内容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针对每个</a:t>
            </a:r>
            <a:r>
              <a:rPr lang="en-US" altLang="zh-CN" dirty="0"/>
              <a:t>item</a:t>
            </a:r>
            <a:r>
              <a:rPr lang="zh-CN" altLang="en-US" dirty="0"/>
              <a:t>， </a:t>
            </a:r>
            <a:r>
              <a:rPr lang="en-US" altLang="zh-CN" dirty="0" smtClean="0"/>
              <a:t>Adapter</a:t>
            </a:r>
            <a:r>
              <a:rPr lang="zh-CN" altLang="en-US" dirty="0"/>
              <a:t>都会调用一个</a:t>
            </a:r>
            <a:r>
              <a:rPr lang="en-US" altLang="zh-CN" dirty="0" err="1" smtClean="0"/>
              <a:t>getView</a:t>
            </a:r>
            <a:r>
              <a:rPr lang="en-US" altLang="zh-CN" dirty="0" smtClean="0"/>
              <a:t>()</a:t>
            </a:r>
            <a:r>
              <a:rPr lang="zh-CN" altLang="en-US" dirty="0" smtClean="0"/>
              <a:t>的方法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获取布局视图，并将数据显示在其上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可以创建新的</a:t>
            </a:r>
            <a:r>
              <a:rPr lang="en-US" altLang="zh-CN" dirty="0" smtClean="0"/>
              <a:t>Adapter</a:t>
            </a:r>
            <a:r>
              <a:rPr lang="zh-CN" altLang="en-US" dirty="0" smtClean="0"/>
              <a:t>类，重写</a:t>
            </a:r>
            <a:r>
              <a:rPr lang="en-US" altLang="zh-CN" dirty="0" err="1" smtClean="0"/>
              <a:t>getView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方法，加载新的布局视图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391" y="5345832"/>
            <a:ext cx="6241607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948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5.7 </a:t>
            </a:r>
            <a:r>
              <a:rPr lang="zh-CN" altLang="en-US" dirty="0"/>
              <a:t>列表</a:t>
            </a:r>
            <a:endParaRPr lang="en-US" altLang="zh-CN" dirty="0"/>
          </a:p>
          <a:p>
            <a:pPr lvl="1"/>
            <a:r>
              <a:rPr lang="en-US" altLang="zh-CN" dirty="0"/>
              <a:t>5.7.1 </a:t>
            </a:r>
            <a:r>
              <a:rPr lang="zh-CN" altLang="en-US" dirty="0"/>
              <a:t>常用</a:t>
            </a:r>
            <a:r>
              <a:rPr lang="en-US" altLang="zh-CN" dirty="0"/>
              <a:t>Adapter</a:t>
            </a:r>
          </a:p>
          <a:p>
            <a:pPr lvl="2"/>
            <a:r>
              <a:rPr lang="en-US" altLang="zh-CN" dirty="0"/>
              <a:t>Adapter</a:t>
            </a:r>
            <a:r>
              <a:rPr lang="zh-CN" altLang="en-US" dirty="0"/>
              <a:t>的</a:t>
            </a:r>
            <a:r>
              <a:rPr lang="zh-CN" altLang="en-US" dirty="0" smtClean="0"/>
              <a:t>使用：</a:t>
            </a:r>
            <a:r>
              <a:rPr lang="en-US" altLang="zh-CN" dirty="0" err="1"/>
              <a:t>S</a:t>
            </a:r>
            <a:r>
              <a:rPr lang="en-US" altLang="zh-CN" dirty="0" err="1" smtClean="0"/>
              <a:t>impleAdapter</a:t>
            </a:r>
            <a:endParaRPr lang="en-US" altLang="zh-CN" dirty="0"/>
          </a:p>
          <a:p>
            <a:pPr lvl="3"/>
            <a:r>
              <a:rPr lang="zh-CN" altLang="en-US" dirty="0" smtClean="0"/>
              <a:t>定义</a:t>
            </a:r>
            <a:r>
              <a:rPr lang="en-US" altLang="zh-CN" dirty="0" err="1" smtClean="0"/>
              <a:t>SimpleAdapter</a:t>
            </a:r>
            <a:r>
              <a:rPr lang="zh-CN" altLang="en-US" dirty="0" smtClean="0"/>
              <a:t>所需的布局文件，往往包含多个控件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定义与布局文件内容相匹配的</a:t>
            </a:r>
            <a:r>
              <a:rPr lang="en-US" altLang="zh-CN" dirty="0" err="1" smtClean="0"/>
              <a:t>ArrayList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一般使用</a:t>
            </a:r>
            <a:r>
              <a:rPr lang="en-US" altLang="zh-CN" dirty="0" err="1" smtClean="0"/>
              <a:t>HashMap</a:t>
            </a:r>
            <a:r>
              <a:rPr lang="zh-CN" altLang="en-US" dirty="0" smtClean="0"/>
              <a:t>类对象作为其元素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HashMap</a:t>
            </a:r>
            <a:r>
              <a:rPr lang="zh-CN" altLang="en-US" dirty="0" smtClean="0"/>
              <a:t>包含多个基本元素和</a:t>
            </a:r>
            <a:r>
              <a:rPr lang="en-US" altLang="zh-CN" dirty="0" smtClean="0"/>
              <a:t>Object</a:t>
            </a:r>
            <a:r>
              <a:rPr lang="zh-CN" altLang="en-US" dirty="0" smtClean="0"/>
              <a:t>基类对象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创建</a:t>
            </a:r>
            <a:r>
              <a:rPr lang="en-US" altLang="zh-CN" dirty="0" err="1" smtClean="0"/>
              <a:t>HashMap</a:t>
            </a:r>
            <a:r>
              <a:rPr lang="zh-CN" altLang="en-US" dirty="0" smtClean="0"/>
              <a:t>对象，根据布局添加各类数据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将</a:t>
            </a:r>
            <a:r>
              <a:rPr lang="en-US" altLang="zh-CN" dirty="0" err="1" smtClean="0"/>
              <a:t>HashMap</a:t>
            </a:r>
            <a:r>
              <a:rPr lang="zh-CN" altLang="en-US" dirty="0" smtClean="0"/>
              <a:t>对象添加到</a:t>
            </a:r>
            <a:r>
              <a:rPr lang="en-US" altLang="zh-CN" dirty="0" err="1" smtClean="0"/>
              <a:t>ArrayList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创建并初始化</a:t>
            </a:r>
            <a:r>
              <a:rPr lang="en-US" altLang="zh-CN" dirty="0" err="1" smtClean="0"/>
              <a:t>SimpleAdapter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r>
              <a:rPr lang="zh-CN" altLang="en-US" dirty="0"/>
              <a:t>五</a:t>
            </a:r>
            <a:r>
              <a:rPr lang="zh-CN" altLang="en-US" dirty="0" smtClean="0"/>
              <a:t>个参数：上下文环境（</a:t>
            </a:r>
            <a:r>
              <a:rPr lang="en-US" altLang="zh-CN" dirty="0" smtClean="0"/>
              <a:t>this</a:t>
            </a:r>
            <a:r>
              <a:rPr lang="zh-CN" altLang="en-US" dirty="0" smtClean="0"/>
              <a:t>）、数据源（</a:t>
            </a:r>
            <a:r>
              <a:rPr lang="en-US" altLang="zh-CN" dirty="0" err="1" smtClean="0"/>
              <a:t>ArrayList</a:t>
            </a:r>
            <a:r>
              <a:rPr lang="zh-CN" altLang="en-US" dirty="0" smtClean="0"/>
              <a:t>对象）、布局文件、源数组（</a:t>
            </a:r>
            <a:r>
              <a:rPr lang="en-US" altLang="zh-CN" dirty="0" err="1" smtClean="0"/>
              <a:t>HashMap</a:t>
            </a:r>
            <a:r>
              <a:rPr lang="zh-CN" altLang="en-US" dirty="0" smtClean="0"/>
              <a:t>对象中的</a:t>
            </a:r>
            <a:r>
              <a:rPr lang="en-US" altLang="zh-CN" dirty="0" smtClean="0"/>
              <a:t>key</a:t>
            </a:r>
            <a:r>
              <a:rPr lang="zh-CN" altLang="en-US" dirty="0" smtClean="0"/>
              <a:t>）、目标数组（布局控件</a:t>
            </a:r>
            <a:r>
              <a:rPr lang="en-US" altLang="zh-CN" dirty="0" smtClean="0"/>
              <a:t>id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9352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5.7 </a:t>
            </a:r>
            <a:r>
              <a:rPr lang="zh-CN" altLang="en-US" dirty="0"/>
              <a:t>列表</a:t>
            </a:r>
            <a:endParaRPr lang="en-US" altLang="zh-CN" dirty="0"/>
          </a:p>
          <a:p>
            <a:pPr lvl="1"/>
            <a:r>
              <a:rPr lang="en-US" altLang="zh-CN" dirty="0"/>
              <a:t>5.7.1 </a:t>
            </a:r>
            <a:r>
              <a:rPr lang="zh-CN" altLang="en-US" dirty="0"/>
              <a:t>常用</a:t>
            </a:r>
            <a:r>
              <a:rPr lang="en-US" altLang="zh-CN" dirty="0"/>
              <a:t>Adapter</a:t>
            </a:r>
          </a:p>
          <a:p>
            <a:pPr lvl="2"/>
            <a:r>
              <a:rPr lang="en-US" altLang="zh-CN" dirty="0"/>
              <a:t>Adapter</a:t>
            </a:r>
            <a:r>
              <a:rPr lang="zh-CN" altLang="en-US" dirty="0"/>
              <a:t>的使用：</a:t>
            </a:r>
            <a:r>
              <a:rPr lang="en-US" altLang="zh-CN" dirty="0" err="1" smtClean="0"/>
              <a:t>SimpleAdapter</a:t>
            </a:r>
            <a:r>
              <a:rPr lang="zh-CN" altLang="en-US" dirty="0"/>
              <a:t>实例</a:t>
            </a:r>
            <a:endParaRPr lang="en-US" altLang="zh-CN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573016"/>
            <a:ext cx="7541468" cy="305735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5254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五、用户界面设计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2192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5.7 </a:t>
            </a:r>
            <a:r>
              <a:rPr lang="zh-CN" altLang="en-US" dirty="0"/>
              <a:t>列表</a:t>
            </a:r>
            <a:endParaRPr lang="en-US" altLang="zh-CN" dirty="0"/>
          </a:p>
          <a:p>
            <a:pPr lvl="1"/>
            <a:r>
              <a:rPr lang="en-US" altLang="zh-CN" dirty="0"/>
              <a:t>5.7.1 </a:t>
            </a:r>
            <a:r>
              <a:rPr lang="zh-CN" altLang="en-US" dirty="0"/>
              <a:t>常用</a:t>
            </a:r>
            <a:r>
              <a:rPr lang="en-US" altLang="zh-CN" dirty="0"/>
              <a:t>Adapter</a:t>
            </a:r>
          </a:p>
          <a:p>
            <a:pPr lvl="2"/>
            <a:r>
              <a:rPr lang="en-US" altLang="zh-CN" dirty="0" smtClean="0"/>
              <a:t>Adapter</a:t>
            </a:r>
            <a:r>
              <a:rPr lang="zh-CN" altLang="en-US" dirty="0" smtClean="0"/>
              <a:t>的使用：</a:t>
            </a:r>
            <a:r>
              <a:rPr lang="en-US" altLang="zh-CN" dirty="0" err="1" smtClean="0"/>
              <a:t>ArrayAdapter</a:t>
            </a:r>
            <a:r>
              <a:rPr lang="zh-CN" altLang="en-US" dirty="0" smtClean="0"/>
              <a:t>及实例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为显示数据的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控件提供数据，访问原始数据内容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定义字符串数组 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定义</a:t>
            </a:r>
            <a:r>
              <a:rPr lang="en-US" altLang="zh-CN" dirty="0" err="1" smtClean="0"/>
              <a:t>ArrayAdapter</a:t>
            </a:r>
            <a:r>
              <a:rPr lang="zh-CN" altLang="en-US" dirty="0" smtClean="0"/>
              <a:t>对象并初始化，设定其显示界面和对应数据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将控件绑定到</a:t>
            </a:r>
            <a:r>
              <a:rPr lang="en-US" altLang="zh-CN" dirty="0" err="1" smtClean="0"/>
              <a:t>ArrayAdapter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5085184"/>
            <a:ext cx="6981825" cy="1266825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96643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六、服务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Service</a:t>
            </a:r>
            <a:r>
              <a:rPr lang="zh-CN" altLang="en-US" dirty="0" smtClean="0"/>
              <a:t>（服务）概述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能够在后台长时间运行操作</a:t>
            </a:r>
            <a:endParaRPr lang="en-US" altLang="zh-CN" dirty="0" smtClean="0"/>
          </a:p>
          <a:p>
            <a:pPr lvl="1"/>
            <a:r>
              <a:rPr lang="zh-CN" altLang="en-US" dirty="0"/>
              <a:t>不</a:t>
            </a:r>
            <a:r>
              <a:rPr lang="zh-CN" altLang="en-US" dirty="0" smtClean="0"/>
              <a:t>提供用户界面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在切换到另外一个应用时，服务仍可后台运行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可与其他组件交互、执行进程间通信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通过继承</a:t>
            </a:r>
            <a:r>
              <a:rPr lang="en-US" altLang="zh-CN" dirty="0" smtClean="0"/>
              <a:t>Service</a:t>
            </a:r>
            <a:r>
              <a:rPr lang="zh-CN" altLang="en-US" dirty="0" smtClean="0"/>
              <a:t>类（或其子类）创建服务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服务应该考虑到阻塞等问题，避免出现不响应</a:t>
            </a:r>
            <a:endParaRPr lang="en-US" altLang="zh-CN" dirty="0" smtClean="0"/>
          </a:p>
          <a:p>
            <a:pPr lvl="2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65345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六、服务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本地服务</a:t>
            </a:r>
            <a:endParaRPr lang="en-US" altLang="zh-CN" dirty="0"/>
          </a:p>
          <a:p>
            <a:pPr lvl="1"/>
            <a:r>
              <a:rPr lang="en-US" altLang="zh-CN" dirty="0" smtClean="0"/>
              <a:t>6.1.1 </a:t>
            </a:r>
            <a:r>
              <a:rPr lang="zh-CN" altLang="en-US" dirty="0" smtClean="0"/>
              <a:t>两种启动方式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Started</a:t>
            </a:r>
            <a:r>
              <a:rPr lang="zh-CN" altLang="en-US" dirty="0" smtClean="0"/>
              <a:t>（启动）：</a:t>
            </a:r>
            <a:endParaRPr lang="en-US" altLang="zh-CN" dirty="0" smtClean="0"/>
          </a:p>
          <a:p>
            <a:pPr lvl="3"/>
            <a:r>
              <a:rPr lang="zh-CN" altLang="en-US" dirty="0" smtClean="0">
                <a:solidFill>
                  <a:srgbClr val="FF0000"/>
                </a:solidFill>
              </a:rPr>
              <a:t>应用程序组件通过</a:t>
            </a:r>
            <a:r>
              <a:rPr lang="en-US" altLang="zh-CN" dirty="0" err="1" smtClean="0">
                <a:solidFill>
                  <a:srgbClr val="FF0000"/>
                </a:solidFill>
              </a:rPr>
              <a:t>startService</a:t>
            </a:r>
            <a:r>
              <a:rPr lang="en-US" altLang="zh-CN" dirty="0" smtClean="0">
                <a:solidFill>
                  <a:srgbClr val="FF0000"/>
                </a:solidFill>
              </a:rPr>
              <a:t>()</a:t>
            </a:r>
            <a:r>
              <a:rPr lang="zh-CN" altLang="en-US" dirty="0" smtClean="0">
                <a:solidFill>
                  <a:srgbClr val="FF0000"/>
                </a:solidFill>
              </a:rPr>
              <a:t>方法启动服务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3"/>
            <a:r>
              <a:rPr lang="zh-CN" altLang="en-US" dirty="0" smtClean="0"/>
              <a:t>启动</a:t>
            </a:r>
            <a:r>
              <a:rPr lang="zh-CN" altLang="en-US" dirty="0"/>
              <a:t>后</a:t>
            </a:r>
            <a:r>
              <a:rPr lang="zh-CN" altLang="en-US" dirty="0" smtClean="0"/>
              <a:t>，服务能在后台无限期运行，即使启动服务的任务已销毁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通常，服务执行单个操作并不返回结果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Bound</a:t>
            </a:r>
            <a:r>
              <a:rPr lang="zh-CN" altLang="en-US" dirty="0" smtClean="0"/>
              <a:t>（绑定）：</a:t>
            </a:r>
            <a:endParaRPr lang="en-US" altLang="zh-CN" dirty="0" smtClean="0"/>
          </a:p>
          <a:p>
            <a:pPr lvl="3"/>
            <a:r>
              <a:rPr lang="zh-CN" altLang="en-US" dirty="0" smtClean="0">
                <a:solidFill>
                  <a:srgbClr val="FF0000"/>
                </a:solidFill>
              </a:rPr>
              <a:t>应用程序组件通过</a:t>
            </a:r>
            <a:r>
              <a:rPr lang="en-US" altLang="zh-CN" dirty="0" err="1" smtClean="0">
                <a:solidFill>
                  <a:srgbClr val="FF0000"/>
                </a:solidFill>
              </a:rPr>
              <a:t>bindService</a:t>
            </a:r>
            <a:r>
              <a:rPr lang="en-US" altLang="zh-CN" dirty="0" smtClean="0">
                <a:solidFill>
                  <a:srgbClr val="FF0000"/>
                </a:solidFill>
              </a:rPr>
              <a:t>()</a:t>
            </a:r>
            <a:r>
              <a:rPr lang="zh-CN" altLang="en-US" dirty="0" smtClean="0">
                <a:solidFill>
                  <a:srgbClr val="FF0000"/>
                </a:solidFill>
              </a:rPr>
              <a:t>方法绑定到服务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3"/>
            <a:r>
              <a:rPr lang="zh-CN" altLang="en-US" dirty="0" smtClean="0"/>
              <a:t>绑定服务提供客户端</a:t>
            </a:r>
            <a:r>
              <a:rPr lang="en-US" altLang="zh-CN" dirty="0" smtClean="0"/>
              <a:t>-</a:t>
            </a:r>
            <a:r>
              <a:rPr lang="zh-CN" altLang="en-US" dirty="0" smtClean="0"/>
              <a:t>服务器接口，运行组件与之交互</a:t>
            </a:r>
            <a:endParaRPr lang="en-US" altLang="zh-CN" dirty="0" smtClean="0"/>
          </a:p>
          <a:p>
            <a:pPr lvl="3"/>
            <a:r>
              <a:rPr lang="zh-CN" altLang="en-US" dirty="0"/>
              <a:t>仅</a:t>
            </a:r>
            <a:r>
              <a:rPr lang="zh-CN" altLang="en-US" dirty="0" smtClean="0"/>
              <a:t>当绑定时服务运行，一个服务可以绑定多个组件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当所有组件都解绑时，服务被销毁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4128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六、服务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本地服务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6.1.1 </a:t>
            </a:r>
            <a:r>
              <a:rPr lang="zh-CN" altLang="en-US" dirty="0" smtClean="0"/>
              <a:t>两种启动方式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服务可以同时属于这两种类型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重点在于是否实现一些回调方法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onStartCommand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方法允许组件一</a:t>
            </a:r>
            <a:r>
              <a:rPr lang="en-US" altLang="zh-CN" dirty="0" smtClean="0"/>
              <a:t>Started</a:t>
            </a:r>
            <a:r>
              <a:rPr lang="zh-CN" altLang="en-US" dirty="0" smtClean="0"/>
              <a:t>方式请求服务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onBind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方法允许组件一</a:t>
            </a:r>
            <a:r>
              <a:rPr lang="en-US" altLang="zh-CN" dirty="0" smtClean="0"/>
              <a:t>Bind</a:t>
            </a:r>
            <a:r>
              <a:rPr lang="zh-CN" altLang="en-US" dirty="0" smtClean="0"/>
              <a:t>方式请求服务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可在配置文件中将服务声明为私有，阻止其他应用访问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服务与线程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服务运行于管理它的进程的主线程</a:t>
            </a:r>
            <a:endParaRPr lang="en-US" altLang="zh-CN" dirty="0" smtClean="0"/>
          </a:p>
          <a:p>
            <a:pPr lvl="3"/>
            <a:r>
              <a:rPr lang="zh-CN" altLang="en-US" dirty="0"/>
              <a:t>服务</a:t>
            </a:r>
            <a:r>
              <a:rPr lang="zh-CN" altLang="en-US" dirty="0" smtClean="0"/>
              <a:t>不会创建自己的线程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若要完成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密集或者阻塞操作，需要开发人员创建新线程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0252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六、服务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6.1 </a:t>
            </a:r>
            <a:r>
              <a:rPr lang="zh-CN" altLang="en-US" dirty="0"/>
              <a:t>本地服务</a:t>
            </a:r>
            <a:endParaRPr lang="en-US" altLang="zh-CN" dirty="0"/>
          </a:p>
          <a:p>
            <a:pPr lvl="1"/>
            <a:r>
              <a:rPr lang="en-US" altLang="zh-CN" dirty="0" smtClean="0"/>
              <a:t>6.1.2 service</a:t>
            </a:r>
            <a:r>
              <a:rPr lang="zh-CN" altLang="en-US" dirty="0" smtClean="0"/>
              <a:t>中的重要方法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创建服务，需要创建</a:t>
            </a:r>
            <a:r>
              <a:rPr lang="en-US" altLang="zh-CN" dirty="0" smtClean="0"/>
              <a:t>Service</a:t>
            </a:r>
            <a:r>
              <a:rPr lang="zh-CN" altLang="en-US" dirty="0" smtClean="0"/>
              <a:t>类（或子类）来实现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在实现类中，可根据需要重写一些回调方法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onStartCommand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：其他组件使用</a:t>
            </a:r>
            <a:r>
              <a:rPr lang="en-US" altLang="zh-CN" dirty="0" err="1" smtClean="0"/>
              <a:t>startService</a:t>
            </a:r>
            <a:r>
              <a:rPr lang="en-US" altLang="zh-CN" dirty="0" smtClean="0"/>
              <a:t>()</a:t>
            </a:r>
            <a:r>
              <a:rPr lang="zh-CN" altLang="en-US" dirty="0" smtClean="0"/>
              <a:t>请求服务时调用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使用该方法后，服务启动并在后台无限期运行</a:t>
            </a:r>
            <a:endParaRPr lang="en-US" altLang="zh-CN" dirty="0" smtClean="0"/>
          </a:p>
          <a:p>
            <a:pPr lvl="5"/>
            <a:r>
              <a:rPr lang="zh-CN" altLang="en-US" dirty="0"/>
              <a:t>必要</a:t>
            </a:r>
            <a:r>
              <a:rPr lang="zh-CN" altLang="en-US" dirty="0" smtClean="0"/>
              <a:t>时，使用</a:t>
            </a:r>
            <a:r>
              <a:rPr lang="en-US" altLang="zh-CN" dirty="0" err="1" smtClean="0"/>
              <a:t>stopself</a:t>
            </a:r>
            <a:r>
              <a:rPr lang="en-US" altLang="zh-CN" dirty="0" smtClean="0"/>
              <a:t>()</a:t>
            </a:r>
            <a:r>
              <a:rPr lang="zh-CN" altLang="en-US" dirty="0" smtClean="0"/>
              <a:t>或</a:t>
            </a:r>
            <a:r>
              <a:rPr lang="en-US" altLang="zh-CN" dirty="0" err="1" smtClean="0"/>
              <a:t>stopService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方法停止服务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onBind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：其他组件使用</a:t>
            </a:r>
            <a:r>
              <a:rPr lang="en-US" altLang="zh-CN" dirty="0" err="1" smtClean="0"/>
              <a:t>bindService</a:t>
            </a:r>
            <a:r>
              <a:rPr lang="en-US" altLang="zh-CN" dirty="0" smtClean="0"/>
              <a:t>()</a:t>
            </a:r>
            <a:r>
              <a:rPr lang="zh-CN" altLang="en-US" dirty="0" smtClean="0"/>
              <a:t>请求服务时调用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必须通过返回</a:t>
            </a:r>
            <a:r>
              <a:rPr lang="en-US" altLang="zh-CN" dirty="0" err="1" smtClean="0"/>
              <a:t>Ibinder</a:t>
            </a:r>
            <a:r>
              <a:rPr lang="zh-CN" altLang="en-US" dirty="0" smtClean="0"/>
              <a:t>来提供通信接口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是服务必须要实现的方法，保证服务能够被绑定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onCreate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：当服务第一次创建时，调用该方法执行创建过程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onDestroy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：当服务被销毁时，调用该方法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2053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六、服务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6.1 </a:t>
            </a:r>
            <a:r>
              <a:rPr lang="zh-CN" altLang="en-US" dirty="0"/>
              <a:t>本地服务</a:t>
            </a:r>
            <a:endParaRPr lang="en-US" altLang="zh-CN" dirty="0"/>
          </a:p>
          <a:p>
            <a:pPr lvl="1"/>
            <a:r>
              <a:rPr lang="en-US" altLang="zh-CN" dirty="0" smtClean="0"/>
              <a:t>6.1.2 service</a:t>
            </a:r>
            <a:r>
              <a:rPr lang="zh-CN" altLang="en-US" dirty="0" smtClean="0"/>
              <a:t>中的重要方法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创建服务，需要创建</a:t>
            </a:r>
            <a:r>
              <a:rPr lang="en-US" altLang="zh-CN" dirty="0" smtClean="0"/>
              <a:t>Service</a:t>
            </a:r>
            <a:r>
              <a:rPr lang="zh-CN" altLang="en-US" dirty="0" smtClean="0"/>
              <a:t>类（或子类）来实现</a:t>
            </a:r>
            <a:endParaRPr lang="en-US" altLang="zh-CN" dirty="0" smtClean="0"/>
          </a:p>
          <a:p>
            <a:pPr lvl="3"/>
            <a:r>
              <a:rPr lang="en-US" altLang="zh-CN" dirty="0"/>
              <a:t>started</a:t>
            </a:r>
            <a:r>
              <a:rPr lang="zh-CN" altLang="en-US" dirty="0" smtClean="0"/>
              <a:t>服务的终止方式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服务自身通过</a:t>
            </a:r>
            <a:r>
              <a:rPr lang="en-US" altLang="zh-CN" dirty="0" err="1" smtClean="0"/>
              <a:t>stopSelf</a:t>
            </a:r>
            <a:r>
              <a:rPr lang="en-US" altLang="zh-CN" dirty="0" smtClean="0"/>
              <a:t>()</a:t>
            </a:r>
            <a:r>
              <a:rPr lang="zh-CN" altLang="en-US" dirty="0" smtClean="0"/>
              <a:t>来停止，其他应用通过</a:t>
            </a:r>
            <a:r>
              <a:rPr lang="en-US" altLang="zh-CN" dirty="0" err="1" smtClean="0"/>
              <a:t>stopService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来停止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Android</a:t>
            </a:r>
            <a:r>
              <a:rPr lang="zh-CN" altLang="en-US" dirty="0" smtClean="0"/>
              <a:t>系统对服务的资源管理</a:t>
            </a:r>
            <a:endParaRPr lang="en-US" altLang="zh-CN" dirty="0" smtClean="0"/>
          </a:p>
          <a:p>
            <a:pPr lvl="4"/>
            <a:r>
              <a:rPr lang="zh-CN" altLang="en-US" dirty="0"/>
              <a:t>仅</a:t>
            </a:r>
            <a:r>
              <a:rPr lang="zh-CN" altLang="en-US" dirty="0" smtClean="0"/>
              <a:t>当资源不足，须回收资源来 运行前台应用时，才会强行终止服务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若服务绑定到前台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，则会减少停止的概率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若服务被声明在前台运行，则基本不会被终止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若服务在</a:t>
            </a:r>
            <a:r>
              <a:rPr lang="en-US" altLang="zh-CN" dirty="0" smtClean="0"/>
              <a:t>started</a:t>
            </a:r>
            <a:r>
              <a:rPr lang="zh-CN" altLang="en-US" dirty="0" smtClean="0"/>
              <a:t>状态，则会随时间增长而逐步增大被终止的概率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可设计重启服务，系统停止服务后，若资源可用时会重启服务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1430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六、服务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6.2 </a:t>
            </a:r>
            <a:r>
              <a:rPr lang="zh-CN" altLang="en-US" dirty="0" smtClean="0"/>
              <a:t>创建</a:t>
            </a:r>
            <a:r>
              <a:rPr lang="en-US" altLang="zh-CN" dirty="0" smtClean="0"/>
              <a:t>Started Service</a:t>
            </a:r>
            <a:endParaRPr lang="en-US" altLang="zh-CN" dirty="0"/>
          </a:p>
          <a:p>
            <a:pPr lvl="1"/>
            <a:r>
              <a:rPr lang="zh-CN" altLang="en-US" dirty="0" smtClean="0"/>
              <a:t>继承</a:t>
            </a:r>
            <a:r>
              <a:rPr lang="en-US" altLang="zh-CN" dirty="0" smtClean="0"/>
              <a:t>Service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若需处理多线程等复杂功能，则通过</a:t>
            </a:r>
            <a:r>
              <a:rPr lang="zh-CN" altLang="en-US" dirty="0"/>
              <a:t>继承</a:t>
            </a:r>
            <a:r>
              <a:rPr lang="en-US" altLang="zh-CN" dirty="0" smtClean="0"/>
              <a:t>Service</a:t>
            </a:r>
            <a:r>
              <a:rPr lang="zh-CN" altLang="en-US" dirty="0" smtClean="0"/>
              <a:t>类实现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包含</a:t>
            </a:r>
            <a:r>
              <a:rPr lang="en-US" altLang="zh-CN" dirty="0" err="1" smtClean="0"/>
              <a:t>onStartCommand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onBind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onCreate</a:t>
            </a:r>
            <a:r>
              <a:rPr lang="en-US" altLang="zh-CN" dirty="0" smtClean="0"/>
              <a:t>()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nDestroy</a:t>
            </a:r>
            <a:r>
              <a:rPr lang="en-US" altLang="zh-CN" dirty="0" smtClean="0"/>
              <a:t>()</a:t>
            </a:r>
            <a:r>
              <a:rPr lang="zh-CN" altLang="en-US" dirty="0" smtClean="0"/>
              <a:t>四个方法</a:t>
            </a:r>
            <a:endParaRPr lang="en-US" altLang="zh-CN" dirty="0" smtClean="0"/>
          </a:p>
          <a:p>
            <a:pPr lvl="4"/>
            <a:r>
              <a:rPr lang="en-US" altLang="zh-CN" dirty="0" err="1"/>
              <a:t>onStartCommand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是</a:t>
            </a:r>
            <a:r>
              <a:rPr lang="en-US" altLang="zh-CN" dirty="0" smtClean="0"/>
              <a:t>Started</a:t>
            </a:r>
            <a:r>
              <a:rPr lang="zh-CN" altLang="en-US" dirty="0" smtClean="0"/>
              <a:t>类服务启动是调用的函数</a:t>
            </a:r>
            <a:endParaRPr lang="en-US" altLang="zh-CN" dirty="0" smtClean="0"/>
          </a:p>
          <a:p>
            <a:pPr lvl="5"/>
            <a:r>
              <a:rPr lang="en-US" altLang="zh-CN" dirty="0" err="1" smtClean="0"/>
              <a:t>onStartCommand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必须返回一个整数，描述服务停止后</a:t>
            </a:r>
            <a:r>
              <a:rPr lang="zh-CN" altLang="en-US" dirty="0"/>
              <a:t>如何</a:t>
            </a:r>
            <a:r>
              <a:rPr lang="zh-CN" altLang="en-US" dirty="0" smtClean="0"/>
              <a:t>重启</a:t>
            </a:r>
            <a:endParaRPr lang="en-US" altLang="zh-CN" dirty="0" smtClean="0"/>
          </a:p>
          <a:p>
            <a:pPr lvl="6"/>
            <a:r>
              <a:rPr lang="en-US" altLang="zh-CN" dirty="0" smtClean="0"/>
              <a:t>START_NOT_STICKY</a:t>
            </a:r>
            <a:r>
              <a:rPr lang="zh-CN" altLang="en-US" dirty="0" smtClean="0"/>
              <a:t>：不重新创建服务</a:t>
            </a:r>
            <a:endParaRPr lang="en-US" altLang="zh-CN" dirty="0" smtClean="0"/>
          </a:p>
          <a:p>
            <a:pPr lvl="6"/>
            <a:r>
              <a:rPr lang="en-US" altLang="zh-CN" dirty="0" smtClean="0"/>
              <a:t>START_STICKY</a:t>
            </a:r>
            <a:r>
              <a:rPr lang="zh-CN" altLang="en-US" dirty="0" smtClean="0"/>
              <a:t>：重新创建服务，不重新发送最后的</a:t>
            </a:r>
            <a:r>
              <a:rPr lang="en-US" altLang="zh-CN" dirty="0" smtClean="0"/>
              <a:t>Intent</a:t>
            </a:r>
          </a:p>
          <a:p>
            <a:pPr lvl="6"/>
            <a:r>
              <a:rPr lang="en-US" altLang="zh-CN" dirty="0" smtClean="0"/>
              <a:t>START_REDELIVER_INTENT</a:t>
            </a:r>
            <a:r>
              <a:rPr lang="zh-CN" altLang="en-US" dirty="0" smtClean="0"/>
              <a:t>：重新创建服务，发送服务最后的</a:t>
            </a:r>
            <a:r>
              <a:rPr lang="en-US" altLang="zh-CN" dirty="0" smtClean="0"/>
              <a:t>Intent</a:t>
            </a:r>
          </a:p>
          <a:p>
            <a:pPr lvl="3"/>
            <a:r>
              <a:rPr lang="zh-CN" altLang="en-US" dirty="0" smtClean="0"/>
              <a:t>启动服务的方法</a:t>
            </a:r>
            <a:endParaRPr lang="en-US" altLang="zh-CN" dirty="0"/>
          </a:p>
          <a:p>
            <a:pPr lvl="4"/>
            <a:r>
              <a:rPr lang="zh-CN" altLang="en-US" dirty="0" smtClean="0"/>
              <a:t>通过</a:t>
            </a:r>
            <a:r>
              <a:rPr lang="en-US" altLang="zh-CN" dirty="0" err="1" smtClean="0"/>
              <a:t>startServerce</a:t>
            </a:r>
            <a:r>
              <a:rPr lang="en-US" altLang="zh-CN" dirty="0" smtClean="0"/>
              <a:t>(Intent it)</a:t>
            </a:r>
            <a:r>
              <a:rPr lang="zh-CN" altLang="en-US" dirty="0" smtClean="0"/>
              <a:t>的方法来启动服务</a:t>
            </a:r>
            <a:endParaRPr lang="zh-CN" altLang="en-US" dirty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6112293"/>
            <a:ext cx="6991350" cy="4095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3468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六、服务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6.2 </a:t>
            </a:r>
            <a:r>
              <a:rPr lang="zh-CN" altLang="en-US" dirty="0" smtClean="0"/>
              <a:t>创建</a:t>
            </a:r>
            <a:r>
              <a:rPr lang="en-US" altLang="zh-CN" dirty="0" smtClean="0"/>
              <a:t>Started Service</a:t>
            </a:r>
            <a:endParaRPr lang="en-US" altLang="zh-CN" dirty="0"/>
          </a:p>
          <a:p>
            <a:pPr lvl="1"/>
            <a:r>
              <a:rPr lang="zh-CN" altLang="en-US" dirty="0" smtClean="0"/>
              <a:t>继承</a:t>
            </a:r>
            <a:r>
              <a:rPr lang="en-US" altLang="zh-CN" dirty="0" smtClean="0"/>
              <a:t>Service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若需处理多线程等复杂功能，则通过</a:t>
            </a:r>
            <a:r>
              <a:rPr lang="zh-CN" altLang="en-US" dirty="0"/>
              <a:t>继承</a:t>
            </a:r>
            <a:r>
              <a:rPr lang="en-US" altLang="zh-CN" dirty="0" smtClean="0"/>
              <a:t>Service</a:t>
            </a:r>
            <a:r>
              <a:rPr lang="zh-CN" altLang="en-US" dirty="0" smtClean="0"/>
              <a:t>类实现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定义对应的服务</a:t>
            </a:r>
            <a:endParaRPr lang="en-US" altLang="zh-CN" dirty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917817"/>
            <a:ext cx="5040560" cy="27005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53098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六、服务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6.3 </a:t>
            </a:r>
            <a:r>
              <a:rPr lang="zh-CN" altLang="en-US" dirty="0" smtClean="0"/>
              <a:t>创建</a:t>
            </a:r>
            <a:r>
              <a:rPr lang="en-US" altLang="zh-CN" dirty="0" smtClean="0"/>
              <a:t>Bound Service</a:t>
            </a:r>
            <a:endParaRPr lang="en-US" altLang="zh-CN" dirty="0"/>
          </a:p>
          <a:p>
            <a:pPr lvl="1"/>
            <a:r>
              <a:rPr lang="zh-CN" altLang="en-US" dirty="0" smtClean="0"/>
              <a:t>概述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要提供绑定，必须实现</a:t>
            </a:r>
            <a:r>
              <a:rPr lang="en-US" altLang="zh-CN" dirty="0" smtClean="0"/>
              <a:t>Service</a:t>
            </a:r>
            <a:r>
              <a:rPr lang="zh-CN" altLang="en-US" dirty="0" smtClean="0"/>
              <a:t>类中的</a:t>
            </a:r>
            <a:r>
              <a:rPr lang="en-US" altLang="zh-CN" dirty="0" err="1" smtClean="0"/>
              <a:t>onBind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该方法返回</a:t>
            </a:r>
            <a:r>
              <a:rPr lang="en-US" altLang="zh-CN" dirty="0" err="1" smtClean="0"/>
              <a:t>IBinder</a:t>
            </a:r>
            <a:r>
              <a:rPr lang="zh-CN" altLang="en-US" dirty="0" smtClean="0"/>
              <a:t>对象，以实现交互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客户端通过</a:t>
            </a:r>
            <a:r>
              <a:rPr lang="en-US" altLang="zh-CN" dirty="0" err="1" smtClean="0"/>
              <a:t>bindService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方法绑定到服务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必须提供</a:t>
            </a:r>
            <a:r>
              <a:rPr lang="en-US" altLang="zh-CN" dirty="0" err="1" smtClean="0"/>
              <a:t>ServiceConnection</a:t>
            </a:r>
            <a:r>
              <a:rPr lang="zh-CN" altLang="en-US" dirty="0" smtClean="0"/>
              <a:t>接口的实现类，来监控与服务的连接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该类中的</a:t>
            </a:r>
            <a:r>
              <a:rPr lang="en-US" altLang="zh-CN" dirty="0" err="1" smtClean="0"/>
              <a:t>onServiceConnected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方法，可以发送用了通信的</a:t>
            </a:r>
            <a:r>
              <a:rPr lang="en-US" altLang="zh-CN" dirty="0" err="1" smtClean="0"/>
              <a:t>IBinder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3"/>
            <a:r>
              <a:rPr lang="zh-CN" altLang="en-US" dirty="0"/>
              <a:t>多</a:t>
            </a:r>
            <a:r>
              <a:rPr lang="zh-CN" altLang="en-US" dirty="0" smtClean="0"/>
              <a:t>个客户端可以绑定到同一个服务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仅当第一个客户端绑定时，系统调用</a:t>
            </a:r>
            <a:r>
              <a:rPr lang="en-US" altLang="zh-CN" dirty="0" err="1" smtClean="0"/>
              <a:t>onBind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方法来获取</a:t>
            </a:r>
            <a:r>
              <a:rPr lang="en-US" altLang="zh-CN" dirty="0" err="1" smtClean="0"/>
              <a:t>IBinder</a:t>
            </a:r>
            <a:endParaRPr lang="en-US" altLang="zh-CN" dirty="0" smtClean="0"/>
          </a:p>
          <a:p>
            <a:pPr lvl="4"/>
            <a:r>
              <a:rPr lang="zh-CN" altLang="en-US" dirty="0"/>
              <a:t>多</a:t>
            </a:r>
            <a:r>
              <a:rPr lang="zh-CN" altLang="en-US" dirty="0" smtClean="0"/>
              <a:t>个客户端绑定时，系统会发送同一个</a:t>
            </a:r>
            <a:r>
              <a:rPr lang="en-US" altLang="zh-CN" dirty="0" err="1" smtClean="0"/>
              <a:t>IBinder</a:t>
            </a:r>
            <a:r>
              <a:rPr lang="zh-CN" altLang="en-US" dirty="0" smtClean="0"/>
              <a:t>对象到客户端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6864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七</a:t>
            </a:r>
            <a:r>
              <a:rPr lang="zh-CN" altLang="en-US" dirty="0" smtClean="0"/>
              <a:t>、广播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7.1 </a:t>
            </a:r>
            <a:r>
              <a:rPr lang="zh-CN" altLang="en-US" dirty="0" smtClean="0"/>
              <a:t>发送和接收广播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7.1.1</a:t>
            </a:r>
            <a:r>
              <a:rPr lang="zh-CN" altLang="en-US" dirty="0" smtClean="0"/>
              <a:t>发送广播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发送广播消息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共有三种发送广播的方法：</a:t>
            </a:r>
            <a:endParaRPr lang="en-US" altLang="zh-CN" dirty="0" smtClean="0"/>
          </a:p>
          <a:p>
            <a:pPr lvl="4"/>
            <a:r>
              <a:rPr lang="en-US" altLang="zh-CN" dirty="0" err="1"/>
              <a:t>sendBroadcast</a:t>
            </a:r>
            <a:r>
              <a:rPr lang="en-US" altLang="zh-CN" dirty="0" smtClean="0"/>
              <a:t>();</a:t>
            </a:r>
          </a:p>
          <a:p>
            <a:pPr lvl="5"/>
            <a:r>
              <a:rPr lang="zh-CN" altLang="en-US" dirty="0" smtClean="0"/>
              <a:t>普通广播：满足条件的接收者都会响应，但不能保证顺序</a:t>
            </a:r>
            <a:endParaRPr lang="en-US" altLang="zh-CN" dirty="0"/>
          </a:p>
          <a:p>
            <a:pPr lvl="4"/>
            <a:r>
              <a:rPr lang="en-US" altLang="zh-CN" dirty="0" err="1"/>
              <a:t>sendOrederBroadcast</a:t>
            </a:r>
            <a:r>
              <a:rPr lang="en-US" altLang="zh-CN" dirty="0"/>
              <a:t>(); 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顺序广播：接收者根据注册时设置的优先级来接收广播</a:t>
            </a:r>
            <a:endParaRPr lang="en-US" altLang="zh-CN" dirty="0"/>
          </a:p>
          <a:p>
            <a:pPr lvl="4"/>
            <a:r>
              <a:rPr lang="en-US" altLang="zh-CN" dirty="0" err="1"/>
              <a:t>sendStickyBroadcast</a:t>
            </a:r>
            <a:r>
              <a:rPr lang="en-US" altLang="zh-CN" dirty="0" smtClean="0"/>
              <a:t>();</a:t>
            </a:r>
          </a:p>
          <a:p>
            <a:pPr lvl="5"/>
            <a:r>
              <a:rPr lang="zh-CN" altLang="en-US" dirty="0"/>
              <a:t>粘性</a:t>
            </a:r>
            <a:r>
              <a:rPr lang="zh-CN" altLang="en-US" dirty="0" smtClean="0"/>
              <a:t>广播：发送出的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会一直存在，之后注册的接收者匹配时，也会响应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7650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七</a:t>
            </a:r>
            <a:r>
              <a:rPr lang="zh-CN" altLang="en-US" dirty="0" smtClean="0"/>
              <a:t>、广播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7.1 </a:t>
            </a:r>
            <a:r>
              <a:rPr lang="zh-CN" altLang="en-US" dirty="0" smtClean="0"/>
              <a:t>发送和接收广播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7.1.1</a:t>
            </a:r>
            <a:r>
              <a:rPr lang="zh-CN" altLang="en-US" dirty="0" smtClean="0"/>
              <a:t>发送广播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发送广播消息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发送广播时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的设定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定义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指定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对象的动作（一般为包名）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sendBroadcast</a:t>
            </a:r>
            <a:r>
              <a:rPr lang="en-US" altLang="zh-CN" dirty="0" smtClean="0"/>
              <a:t>(Intent it)</a:t>
            </a:r>
            <a:r>
              <a:rPr lang="zh-CN" altLang="en-US" dirty="0" smtClean="0"/>
              <a:t>来发送广播</a:t>
            </a:r>
            <a:endParaRPr lang="en-US" altLang="zh-C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908" y="5013176"/>
            <a:ext cx="6491855" cy="10801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8828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七、广播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7.1 </a:t>
            </a:r>
            <a:r>
              <a:rPr lang="zh-CN" altLang="en-US" dirty="0"/>
              <a:t>发送和接收广播</a:t>
            </a:r>
            <a:endParaRPr lang="en-US" altLang="zh-CN" dirty="0"/>
          </a:p>
          <a:p>
            <a:pPr lvl="1"/>
            <a:r>
              <a:rPr lang="en-US" altLang="zh-CN" dirty="0" smtClean="0"/>
              <a:t>7.1.2</a:t>
            </a:r>
            <a:r>
              <a:rPr lang="zh-CN" altLang="en-US" dirty="0" smtClean="0"/>
              <a:t>接收广播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</a:t>
            </a:r>
            <a:r>
              <a:rPr lang="en-US" altLang="zh-CN" dirty="0" err="1" smtClean="0"/>
              <a:t>BroadcastReceiver</a:t>
            </a:r>
            <a:r>
              <a:rPr lang="zh-CN" altLang="en-US" dirty="0" smtClean="0"/>
              <a:t>类来接收广播消息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通过继承</a:t>
            </a:r>
            <a:r>
              <a:rPr lang="en-US" altLang="zh-CN" dirty="0" err="1" smtClean="0"/>
              <a:t>BroadcastReceiver</a:t>
            </a:r>
            <a:r>
              <a:rPr lang="zh-CN" altLang="en-US" dirty="0" smtClean="0"/>
              <a:t>类来实现广播接收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创建</a:t>
            </a:r>
            <a:r>
              <a:rPr lang="en-US" altLang="zh-CN" dirty="0" err="1" smtClean="0"/>
              <a:t>BroadcastReceiver</a:t>
            </a:r>
            <a:r>
              <a:rPr lang="zh-CN" altLang="en-US" dirty="0" smtClean="0"/>
              <a:t>类的子类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在</a:t>
            </a:r>
            <a:r>
              <a:rPr lang="en-US" altLang="zh-CN" dirty="0" err="1" smtClean="0"/>
              <a:t>BroadcastReceiver</a:t>
            </a:r>
            <a:r>
              <a:rPr lang="zh-CN" altLang="en-US" dirty="0" smtClean="0"/>
              <a:t>子类中重写</a:t>
            </a:r>
            <a:r>
              <a:rPr lang="en-US" altLang="zh-CN" dirty="0" err="1" smtClean="0"/>
              <a:t>onReceiver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653136"/>
            <a:ext cx="6805264" cy="20024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264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七、广播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7.1 </a:t>
            </a:r>
            <a:r>
              <a:rPr lang="zh-CN" altLang="en-US" dirty="0"/>
              <a:t>发送和接收广播</a:t>
            </a:r>
            <a:endParaRPr lang="en-US" altLang="zh-CN" dirty="0"/>
          </a:p>
          <a:p>
            <a:pPr lvl="1"/>
            <a:r>
              <a:rPr lang="en-US" altLang="zh-CN" dirty="0" smtClean="0"/>
              <a:t>7.1.3 </a:t>
            </a:r>
            <a:r>
              <a:rPr lang="zh-CN" altLang="en-US" dirty="0" smtClean="0"/>
              <a:t>声明广播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需把广播接收器注册到系统中，以响应对应的事件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两种注册方法：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使用代码进行注册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非常驻型广播，随程序的生命周期存在</a:t>
            </a:r>
            <a:endParaRPr lang="en-US" altLang="zh-CN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533888"/>
            <a:ext cx="6408712" cy="22043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9458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七、广播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7.1 </a:t>
            </a:r>
            <a:r>
              <a:rPr lang="zh-CN" altLang="en-US" dirty="0"/>
              <a:t>发送和接收广播</a:t>
            </a:r>
            <a:endParaRPr lang="en-US" altLang="zh-CN" dirty="0"/>
          </a:p>
          <a:p>
            <a:pPr lvl="1"/>
            <a:r>
              <a:rPr lang="en-US" altLang="zh-CN" dirty="0" smtClean="0"/>
              <a:t>7.1.3 </a:t>
            </a:r>
            <a:r>
              <a:rPr lang="zh-CN" altLang="en-US" dirty="0" smtClean="0"/>
              <a:t>声明广播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需把广播接收器注册到系统中，以响应对应的事件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两种注册方法：</a:t>
            </a:r>
            <a:endParaRPr lang="en-US" altLang="zh-CN" dirty="0" smtClean="0"/>
          </a:p>
          <a:p>
            <a:pPr lvl="4"/>
            <a:r>
              <a:rPr lang="zh-CN" altLang="en-US" dirty="0" smtClean="0">
                <a:latin typeface="Segoe UI Emoji" pitchFamily="34" charset="0"/>
              </a:rPr>
              <a:t>在</a:t>
            </a:r>
            <a:r>
              <a:rPr lang="en-US" altLang="zh-CN" dirty="0" smtClean="0">
                <a:latin typeface="Segoe UI Emoji" pitchFamily="34" charset="0"/>
                <a:ea typeface="Segoe UI Emoji" pitchFamily="34" charset="0"/>
              </a:rPr>
              <a:t>AndroidManifest.XML</a:t>
            </a:r>
            <a:r>
              <a:rPr lang="zh-CN" altLang="en-US" dirty="0" smtClean="0">
                <a:latin typeface="Segoe UI Emoji" pitchFamily="34" charset="0"/>
              </a:rPr>
              <a:t>中配置广播</a:t>
            </a:r>
            <a:endParaRPr lang="en-US" altLang="zh-CN" dirty="0" smtClean="0">
              <a:latin typeface="Segoe UI Emoji" pitchFamily="34" charset="0"/>
              <a:ea typeface="Segoe UI Emoji" pitchFamily="34" charset="0"/>
            </a:endParaRPr>
          </a:p>
          <a:p>
            <a:pPr lvl="5"/>
            <a:r>
              <a:rPr lang="zh-CN" altLang="en-US" dirty="0">
                <a:latin typeface="Segoe UI Emoji" pitchFamily="34" charset="0"/>
              </a:rPr>
              <a:t>常驻</a:t>
            </a:r>
            <a:r>
              <a:rPr lang="zh-CN" altLang="en-US" dirty="0" smtClean="0">
                <a:latin typeface="Segoe UI Emoji" pitchFamily="34" charset="0"/>
              </a:rPr>
              <a:t>型广播：即使应用关闭，当广播过来时，也会被系统调用</a:t>
            </a:r>
            <a:endParaRPr lang="en-US" altLang="zh-CN" dirty="0" smtClean="0">
              <a:latin typeface="Segoe UI Emoji" pitchFamily="34" charset="0"/>
              <a:ea typeface="Segoe UI Emoji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509120"/>
            <a:ext cx="6048672" cy="222531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5241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七、广播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7.1 </a:t>
            </a:r>
            <a:r>
              <a:rPr lang="zh-CN" altLang="en-US" dirty="0"/>
              <a:t>发送和接收广播</a:t>
            </a:r>
            <a:endParaRPr lang="en-US" altLang="zh-CN" dirty="0"/>
          </a:p>
          <a:p>
            <a:pPr lvl="1"/>
            <a:r>
              <a:rPr lang="en-US" altLang="zh-CN" dirty="0" smtClean="0"/>
              <a:t>7.1.4 </a:t>
            </a:r>
            <a:r>
              <a:rPr lang="zh-CN" altLang="en-US" dirty="0" smtClean="0"/>
              <a:t>广播实例一览</a:t>
            </a:r>
            <a:endParaRPr lang="en-US" altLang="zh-CN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212976"/>
            <a:ext cx="7565720" cy="34563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28029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Android</a:t>
            </a:r>
            <a:r>
              <a:rPr lang="zh-CN" altLang="en-US" dirty="0"/>
              <a:t>系统文件结构</a:t>
            </a:r>
            <a:endParaRPr lang="en-US" altLang="zh-CN" dirty="0"/>
          </a:p>
          <a:p>
            <a:pPr lvl="1"/>
            <a:r>
              <a:rPr lang="zh-CN" altLang="en-US" dirty="0" smtClean="0"/>
              <a:t>外部存储文件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外部存储文件，即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卡存储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一般较大的文件，均保存在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卡中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三大文件结构的权限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系统文件：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没有</a:t>
            </a:r>
            <a:r>
              <a:rPr lang="en-US" altLang="zh-CN" dirty="0"/>
              <a:t>roots</a:t>
            </a:r>
            <a:r>
              <a:rPr lang="zh-CN" altLang="en-US" dirty="0" smtClean="0"/>
              <a:t>权限，则无法更改甚至读取文件，一般不访问其数据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数据文件：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一般是应用程序访问自己的数据，其他应用程序无法访问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外部存储文件：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程序拥有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卡访问权限，即可访问所有文件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065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数据存储方式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Android</a:t>
            </a:r>
            <a:r>
              <a:rPr lang="zh-CN" altLang="en-US" dirty="0" smtClean="0"/>
              <a:t>系统提供了常用的</a:t>
            </a:r>
            <a:r>
              <a:rPr lang="en-US" altLang="zh-CN" dirty="0" smtClean="0"/>
              <a:t>4</a:t>
            </a:r>
            <a:r>
              <a:rPr lang="zh-CN" altLang="en-US" dirty="0" smtClean="0"/>
              <a:t>种数据存储方式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SharedPreferences</a:t>
            </a:r>
            <a:r>
              <a:rPr lang="zh-CN" altLang="en-US" dirty="0" smtClean="0"/>
              <a:t>存储数据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适用于简单的数据保存，一般用于变量的存储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SQLite</a:t>
            </a:r>
            <a:r>
              <a:rPr lang="zh-CN" altLang="en-US" dirty="0" smtClean="0"/>
              <a:t>数据库存储数据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SQLite</a:t>
            </a:r>
            <a:r>
              <a:rPr lang="zh-CN" altLang="en-US" dirty="0" smtClean="0"/>
              <a:t>是标准数据库，适合规范的批量数据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ContentProvider</a:t>
            </a:r>
            <a:r>
              <a:rPr lang="zh-CN" altLang="en-US" dirty="0" smtClean="0"/>
              <a:t>存储数据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为存储和获取提供统一接口，以便在不同应用之间共享数据</a:t>
            </a:r>
            <a:endParaRPr lang="en-US" altLang="zh-CN" dirty="0" smtClean="0"/>
          </a:p>
          <a:p>
            <a:pPr lvl="3"/>
            <a:r>
              <a:rPr lang="zh-CN" altLang="en-US" dirty="0"/>
              <a:t>文件（</a:t>
            </a:r>
            <a:r>
              <a:rPr lang="en-US" altLang="zh-CN" dirty="0"/>
              <a:t>File</a:t>
            </a:r>
            <a:r>
              <a:rPr lang="zh-CN" altLang="en-US" dirty="0"/>
              <a:t>）存储数据</a:t>
            </a:r>
            <a:endParaRPr lang="en-US" altLang="zh-CN" dirty="0"/>
          </a:p>
          <a:p>
            <a:pPr lvl="4"/>
            <a:r>
              <a:rPr lang="zh-CN" altLang="en-US" dirty="0"/>
              <a:t>常见的存储方式，可以在系统或</a:t>
            </a:r>
            <a:r>
              <a:rPr lang="en-US" altLang="zh-CN" dirty="0"/>
              <a:t>SD</a:t>
            </a:r>
            <a:r>
              <a:rPr lang="zh-CN" altLang="en-US" dirty="0"/>
              <a:t>卡中存取数据</a:t>
            </a:r>
            <a:endParaRPr lang="en-US" altLang="zh-CN" dirty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6256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8.1 </a:t>
            </a:r>
            <a:r>
              <a:rPr lang="en-US" altLang="zh-CN" dirty="0" err="1" smtClean="0"/>
              <a:t>SharedPreferences</a:t>
            </a:r>
            <a:r>
              <a:rPr lang="zh-CN" altLang="en-US" dirty="0" smtClean="0"/>
              <a:t>存储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SharePreferences</a:t>
            </a:r>
            <a:r>
              <a:rPr lang="zh-CN" altLang="en-US" dirty="0" smtClean="0"/>
              <a:t>存储概述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类似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系统上的</a:t>
            </a:r>
            <a:r>
              <a:rPr lang="en-US" altLang="zh-CN" dirty="0" smtClean="0"/>
              <a:t>INI</a:t>
            </a:r>
            <a:r>
              <a:rPr lang="zh-CN" altLang="en-US" dirty="0" smtClean="0"/>
              <a:t>配置文件，但可分为多种权限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本质是以</a:t>
            </a:r>
            <a:r>
              <a:rPr lang="en-US" altLang="zh-CN" dirty="0" smtClean="0"/>
              <a:t>XML</a:t>
            </a:r>
            <a:r>
              <a:rPr lang="zh-CN" altLang="en-US" dirty="0" smtClean="0"/>
              <a:t>文件保存的</a:t>
            </a:r>
            <a:r>
              <a:rPr lang="en-US" altLang="zh-CN" dirty="0" smtClean="0"/>
              <a:t>Key-Value</a:t>
            </a:r>
            <a:r>
              <a:rPr lang="zh-CN" altLang="en-US" dirty="0" smtClean="0"/>
              <a:t>键值对数据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其只能读取数据，存储和修改需要通过</a:t>
            </a:r>
            <a:r>
              <a:rPr lang="en-US" altLang="zh-CN" dirty="0" smtClean="0"/>
              <a:t>Editor</a:t>
            </a:r>
            <a:r>
              <a:rPr lang="zh-CN" altLang="en-US" dirty="0" smtClean="0"/>
              <a:t>对象实现</a:t>
            </a:r>
            <a:endParaRPr lang="en-US" altLang="zh-CN" dirty="0" smtClean="0"/>
          </a:p>
          <a:p>
            <a:pPr lvl="3"/>
            <a:r>
              <a:rPr lang="en-US" altLang="zh-CN" dirty="0" err="1"/>
              <a:t>SharePreferences</a:t>
            </a:r>
            <a:r>
              <a:rPr lang="zh-CN" altLang="en-US" dirty="0" smtClean="0"/>
              <a:t>的</a:t>
            </a:r>
            <a:r>
              <a:rPr lang="zh-CN" altLang="en-US" dirty="0"/>
              <a:t>四种操作方式</a:t>
            </a:r>
            <a:endParaRPr lang="en-US" altLang="zh-CN" dirty="0"/>
          </a:p>
          <a:p>
            <a:pPr lvl="4"/>
            <a:r>
              <a:rPr lang="en-US" altLang="zh-CN" dirty="0" err="1"/>
              <a:t>Context.MODE_PRIVATE</a:t>
            </a:r>
            <a:r>
              <a:rPr lang="zh-CN" altLang="en-US" dirty="0"/>
              <a:t>：默认操作，只能被应用访问，覆盖写入</a:t>
            </a:r>
            <a:endParaRPr lang="en-US" altLang="zh-CN" dirty="0"/>
          </a:p>
          <a:p>
            <a:pPr lvl="4"/>
            <a:r>
              <a:rPr lang="en-US" altLang="zh-CN" dirty="0" err="1"/>
              <a:t>Context.MODE_APPEND</a:t>
            </a:r>
            <a:r>
              <a:rPr lang="zh-CN" altLang="en-US" dirty="0"/>
              <a:t>：检查文件是否存在，创建或追加写入</a:t>
            </a:r>
            <a:endParaRPr lang="en-US" altLang="zh-CN" dirty="0"/>
          </a:p>
          <a:p>
            <a:pPr lvl="4"/>
            <a:r>
              <a:rPr lang="en-US" altLang="zh-CN" dirty="0" err="1"/>
              <a:t>Context.MODE_WORLD_READABLE</a:t>
            </a:r>
            <a:r>
              <a:rPr lang="zh-CN" altLang="en-US" dirty="0"/>
              <a:t>：当前文件可被其他应用读取</a:t>
            </a:r>
            <a:endParaRPr lang="en-US" altLang="zh-CN" dirty="0"/>
          </a:p>
          <a:p>
            <a:pPr lvl="4"/>
            <a:r>
              <a:rPr lang="en-US" altLang="zh-CN" dirty="0" err="1"/>
              <a:t>Context.MODE_WORLD_WRITEABLE</a:t>
            </a:r>
            <a:r>
              <a:rPr lang="zh-CN" altLang="en-US" dirty="0"/>
              <a:t>：当前文件可被其他应用写入</a:t>
            </a:r>
            <a:endParaRPr lang="en-US" altLang="zh-CN" dirty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3706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676456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8.1 </a:t>
            </a:r>
            <a:r>
              <a:rPr lang="en-US" altLang="zh-CN" dirty="0" err="1"/>
              <a:t>SharedPreferences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 err="1" smtClean="0"/>
              <a:t>SharePreferences</a:t>
            </a:r>
            <a:r>
              <a:rPr lang="zh-CN" altLang="en-US" dirty="0" smtClean="0"/>
              <a:t>存储概述</a:t>
            </a:r>
            <a:endParaRPr lang="en-US" altLang="zh-CN" dirty="0" smtClean="0"/>
          </a:p>
          <a:p>
            <a:pPr lvl="2"/>
            <a:r>
              <a:rPr lang="zh-CN" altLang="en-US" dirty="0"/>
              <a:t>两种获取</a:t>
            </a:r>
            <a:r>
              <a:rPr lang="en-US" altLang="zh-CN" dirty="0" err="1"/>
              <a:t>SharedPreferences</a:t>
            </a:r>
            <a:r>
              <a:rPr lang="zh-CN" altLang="en-US" dirty="0"/>
              <a:t>对象的方法</a:t>
            </a:r>
            <a:endParaRPr lang="en-US" altLang="zh-CN" dirty="0"/>
          </a:p>
          <a:p>
            <a:pPr lvl="3"/>
            <a:r>
              <a:rPr lang="zh-CN" altLang="en-US" dirty="0"/>
              <a:t>使用</a:t>
            </a:r>
            <a:r>
              <a:rPr lang="en-US" altLang="zh-CN" dirty="0" err="1"/>
              <a:t>Contex.getSharedPreferences</a:t>
            </a:r>
            <a:r>
              <a:rPr lang="en-US" altLang="zh-CN" dirty="0"/>
              <a:t>(String </a:t>
            </a:r>
            <a:r>
              <a:rPr lang="en-US" altLang="zh-CN" dirty="0" err="1"/>
              <a:t>name,int</a:t>
            </a:r>
            <a:r>
              <a:rPr lang="en-US" altLang="zh-CN" dirty="0"/>
              <a:t> mode)</a:t>
            </a:r>
            <a:r>
              <a:rPr lang="zh-CN" altLang="en-US" dirty="0"/>
              <a:t>获取</a:t>
            </a:r>
            <a:endParaRPr lang="en-US" altLang="zh-CN" dirty="0"/>
          </a:p>
          <a:p>
            <a:pPr lvl="4"/>
            <a:r>
              <a:rPr lang="en-US" altLang="zh-CN" dirty="0"/>
              <a:t>Name</a:t>
            </a:r>
            <a:r>
              <a:rPr lang="zh-CN" altLang="en-US" dirty="0"/>
              <a:t>为配置文件的名称，</a:t>
            </a:r>
            <a:r>
              <a:rPr lang="en-US" altLang="zh-CN" dirty="0"/>
              <a:t>mode</a:t>
            </a:r>
            <a:r>
              <a:rPr lang="zh-CN" altLang="en-US" dirty="0"/>
              <a:t>为</a:t>
            </a:r>
            <a:r>
              <a:rPr lang="zh-CN" altLang="en-US" dirty="0" smtClean="0"/>
              <a:t>操作方式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可</a:t>
            </a:r>
            <a:r>
              <a:rPr lang="zh-CN" altLang="en-US" dirty="0"/>
              <a:t>被同一应用程序下的其他组件共享</a:t>
            </a:r>
            <a:endParaRPr lang="en-US" altLang="zh-CN" dirty="0"/>
          </a:p>
          <a:p>
            <a:pPr lvl="3"/>
            <a:r>
              <a:rPr lang="zh-CN" altLang="en-US" dirty="0"/>
              <a:t>使用</a:t>
            </a:r>
            <a:r>
              <a:rPr lang="en-US" altLang="zh-CN" dirty="0" err="1"/>
              <a:t>Activity.getPreferences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mode)</a:t>
            </a:r>
            <a:r>
              <a:rPr lang="zh-CN" altLang="en-US" dirty="0"/>
              <a:t>获取</a:t>
            </a:r>
            <a:endParaRPr lang="en-US" altLang="zh-CN" dirty="0"/>
          </a:p>
          <a:p>
            <a:pPr lvl="4"/>
            <a:r>
              <a:rPr lang="zh-CN" altLang="en-US" dirty="0"/>
              <a:t>只能在本</a:t>
            </a:r>
            <a:r>
              <a:rPr lang="en-US" altLang="zh-CN" dirty="0"/>
              <a:t>Activity</a:t>
            </a:r>
            <a:r>
              <a:rPr lang="zh-CN" altLang="en-US" dirty="0"/>
              <a:t>中使用</a:t>
            </a:r>
            <a:endParaRPr lang="en-US" altLang="zh-CN" dirty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3564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8.1 </a:t>
            </a:r>
            <a:r>
              <a:rPr lang="en-US" altLang="zh-CN" dirty="0" err="1"/>
              <a:t>SharedPreferences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 err="1" smtClean="0"/>
              <a:t>SharePreferences</a:t>
            </a:r>
            <a:r>
              <a:rPr lang="zh-CN" altLang="en-US" dirty="0" smtClean="0"/>
              <a:t>存储概述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</a:t>
            </a:r>
            <a:r>
              <a:rPr lang="en-US" altLang="zh-CN" dirty="0" err="1" smtClean="0"/>
              <a:t>SharedPreferences</a:t>
            </a:r>
            <a:r>
              <a:rPr lang="zh-CN" altLang="en-US" dirty="0" smtClean="0"/>
              <a:t>存取数据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保存数据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通过</a:t>
            </a:r>
            <a:r>
              <a:rPr lang="en-US" altLang="zh-CN" dirty="0" smtClean="0"/>
              <a:t>Context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获取</a:t>
            </a:r>
            <a:r>
              <a:rPr lang="en-US" altLang="zh-CN" dirty="0" err="1" smtClean="0"/>
              <a:t>SharePreferences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SharePreferences</a:t>
            </a:r>
            <a:r>
              <a:rPr lang="zh-CN" altLang="en-US" dirty="0" smtClean="0"/>
              <a:t>的</a:t>
            </a:r>
            <a:r>
              <a:rPr lang="en-US" altLang="zh-CN" dirty="0" smtClean="0"/>
              <a:t>edit</a:t>
            </a:r>
            <a:r>
              <a:rPr lang="zh-CN" altLang="en-US" dirty="0" smtClean="0"/>
              <a:t>获取</a:t>
            </a:r>
            <a:r>
              <a:rPr lang="en-US" altLang="zh-CN" dirty="0" err="1" smtClean="0"/>
              <a:t>SharePreferences.Editor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smtClean="0"/>
              <a:t>Editor</a:t>
            </a:r>
            <a:r>
              <a:rPr lang="zh-CN" altLang="en-US" dirty="0" smtClean="0"/>
              <a:t>对象的</a:t>
            </a:r>
            <a:r>
              <a:rPr lang="en-US" altLang="zh-CN" dirty="0" err="1" smtClean="0"/>
              <a:t>putXXX</a:t>
            </a:r>
            <a:r>
              <a:rPr lang="zh-CN" altLang="en-US" dirty="0" smtClean="0"/>
              <a:t>方法保存</a:t>
            </a:r>
            <a:r>
              <a:rPr lang="en-US" altLang="zh-CN" dirty="0" smtClean="0"/>
              <a:t>key-value</a:t>
            </a:r>
            <a:r>
              <a:rPr lang="zh-CN" altLang="en-US" dirty="0" smtClean="0"/>
              <a:t>数据对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smtClean="0"/>
              <a:t>Editor</a:t>
            </a:r>
            <a:r>
              <a:rPr lang="zh-CN" altLang="en-US" dirty="0" smtClean="0"/>
              <a:t>对象的</a:t>
            </a:r>
            <a:r>
              <a:rPr lang="en-US" altLang="zh-CN" dirty="0" smtClean="0"/>
              <a:t>commit</a:t>
            </a:r>
            <a:r>
              <a:rPr lang="zh-CN" altLang="en-US" dirty="0" smtClean="0"/>
              <a:t>方法提交数据，进行实际存储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获取数据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SharePreferences</a:t>
            </a:r>
            <a:r>
              <a:rPr lang="zh-CN" altLang="en-US" dirty="0" smtClean="0"/>
              <a:t>对象的</a:t>
            </a:r>
            <a:r>
              <a:rPr lang="en-US" altLang="zh-CN" dirty="0" err="1" smtClean="0"/>
              <a:t>getXXX</a:t>
            </a:r>
            <a:r>
              <a:rPr lang="zh-CN" altLang="en-US" dirty="0" smtClean="0"/>
              <a:t>方法来获取数据</a:t>
            </a:r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9328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8.1 </a:t>
            </a:r>
            <a:r>
              <a:rPr lang="en-US" altLang="zh-CN" dirty="0" err="1"/>
              <a:t>SharedPreferences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 err="1" smtClean="0"/>
              <a:t>SharePreferences</a:t>
            </a:r>
            <a:r>
              <a:rPr lang="zh-CN" altLang="en-US" dirty="0" smtClean="0"/>
              <a:t>存储实例</a:t>
            </a:r>
            <a:endParaRPr lang="en-US" altLang="zh-CN" dirty="0" smtClean="0"/>
          </a:p>
          <a:p>
            <a:pPr lvl="3"/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128717"/>
            <a:ext cx="5832648" cy="3718894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92249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8.2 SQLite</a:t>
            </a:r>
            <a:r>
              <a:rPr lang="zh-CN" altLang="en-US" dirty="0" smtClean="0"/>
              <a:t>存储</a:t>
            </a:r>
            <a:endParaRPr lang="en-US" altLang="zh-CN" dirty="0"/>
          </a:p>
          <a:p>
            <a:pPr lvl="1"/>
            <a:r>
              <a:rPr lang="en-US" altLang="zh-CN" dirty="0" smtClean="0"/>
              <a:t>8.2.1 SQLite</a:t>
            </a:r>
            <a:r>
              <a:rPr lang="zh-CN" altLang="en-US" dirty="0" smtClean="0"/>
              <a:t>数据库</a:t>
            </a:r>
            <a:r>
              <a:rPr lang="zh-CN" altLang="en-US" dirty="0"/>
              <a:t>简介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轻量级嵌入式数据库引擎、支持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语言、开源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SQLite</a:t>
            </a:r>
            <a:r>
              <a:rPr lang="zh-CN" altLang="en-US" dirty="0" smtClean="0"/>
              <a:t>数据库存储具有的特点：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面向资源有限的设备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没有服务器进程（在语言中直接</a:t>
            </a:r>
            <a:r>
              <a:rPr lang="en-US" altLang="zh-CN" dirty="0" smtClean="0"/>
              <a:t>API</a:t>
            </a:r>
            <a:r>
              <a:rPr lang="zh-CN" altLang="en-US" dirty="0" smtClean="0"/>
              <a:t>调用）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所有数据存放在同一文件中，跨平台（定义、表、索引等）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可自由复制</a:t>
            </a:r>
            <a:endParaRPr lang="en-US" altLang="zh-CN" dirty="0" smtClean="0"/>
          </a:p>
          <a:p>
            <a:pPr lvl="2"/>
            <a:r>
              <a:rPr lang="zh-CN" altLang="en-US" dirty="0"/>
              <a:t>弱</a:t>
            </a:r>
            <a:r>
              <a:rPr lang="zh-CN" altLang="en-US" dirty="0" smtClean="0"/>
              <a:t>类型支持：可将不同类型的数据，存放在同一列中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Android</a:t>
            </a:r>
            <a:r>
              <a:rPr lang="zh-CN" altLang="en-US" dirty="0" smtClean="0"/>
              <a:t>本身集成了</a:t>
            </a:r>
            <a:r>
              <a:rPr lang="en-US" altLang="zh-CN" dirty="0" smtClean="0"/>
              <a:t>SQLite</a:t>
            </a:r>
            <a:r>
              <a:rPr lang="zh-CN" altLang="en-US" dirty="0" smtClean="0"/>
              <a:t>数据库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每个应用程序均可以使用</a:t>
            </a:r>
            <a:r>
              <a:rPr lang="en-US" altLang="zh-CN" dirty="0" smtClean="0"/>
              <a:t>SQLite</a:t>
            </a:r>
            <a:r>
              <a:rPr lang="zh-CN" altLang="en-US" dirty="0" smtClean="0"/>
              <a:t>数据库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5959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8.2 SQLite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/>
              <a:t>8.2.2 SQLite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2"/>
            <a:r>
              <a:rPr lang="zh-CN" altLang="en-US" dirty="0" smtClean="0"/>
              <a:t>创建和访问数据库：</a:t>
            </a:r>
            <a:r>
              <a:rPr lang="en-US" altLang="zh-CN" dirty="0" err="1" smtClean="0"/>
              <a:t>SQLiteOpenHelper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SQLiteOpenHelper</a:t>
            </a:r>
            <a:r>
              <a:rPr lang="zh-CN" altLang="en-US" dirty="0" smtClean="0"/>
              <a:t>是</a:t>
            </a:r>
            <a:r>
              <a:rPr lang="en-US" altLang="zh-CN" dirty="0" smtClean="0"/>
              <a:t>SQLite</a:t>
            </a:r>
            <a:r>
              <a:rPr lang="zh-CN" altLang="en-US" dirty="0" smtClean="0"/>
              <a:t>的数据库辅助类，是抽象类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用来管理数据库的创建和版本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SQLiteOpenHelper</a:t>
            </a:r>
            <a:r>
              <a:rPr lang="zh-CN" altLang="en-US" dirty="0" smtClean="0"/>
              <a:t>的使用方法：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创建一个类并继承</a:t>
            </a:r>
            <a:r>
              <a:rPr lang="en-US" altLang="zh-CN" dirty="0" err="1" smtClean="0"/>
              <a:t>SQLiteOpenHelper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构造函数：四</a:t>
            </a:r>
            <a:r>
              <a:rPr lang="zh-CN" altLang="en-US" dirty="0"/>
              <a:t>个参数：上下文环境、数据库名字、游标、版本</a:t>
            </a:r>
            <a:endParaRPr lang="en-US" altLang="zh-CN" dirty="0"/>
          </a:p>
          <a:p>
            <a:pPr lvl="5"/>
            <a:r>
              <a:rPr lang="zh-CN" altLang="en-US" dirty="0" smtClean="0"/>
              <a:t>必须实现</a:t>
            </a:r>
            <a:r>
              <a:rPr lang="en-US" altLang="zh-CN" dirty="0" err="1" smtClean="0"/>
              <a:t>onCreate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SQLiteDatabase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db</a:t>
            </a:r>
            <a:r>
              <a:rPr lang="en-US" altLang="zh-CN" dirty="0" smtClean="0"/>
              <a:t>)</a:t>
            </a:r>
            <a:r>
              <a:rPr lang="zh-CN" altLang="en-US" dirty="0" smtClean="0"/>
              <a:t>方法，来创建数据库</a:t>
            </a:r>
            <a:r>
              <a:rPr lang="en-US" altLang="zh-CN" dirty="0" smtClean="0"/>
              <a:t> </a:t>
            </a:r>
          </a:p>
          <a:p>
            <a:pPr lvl="5"/>
            <a:r>
              <a:rPr lang="zh-CN" altLang="en-US" dirty="0" smtClean="0"/>
              <a:t>必须实现</a:t>
            </a:r>
            <a:r>
              <a:rPr lang="en-US" altLang="zh-CN" dirty="0" err="1" smtClean="0"/>
              <a:t>onUpgrade</a:t>
            </a:r>
            <a:r>
              <a:rPr lang="en-US" altLang="zh-CN" dirty="0" smtClean="0"/>
              <a:t>(</a:t>
            </a:r>
            <a:r>
              <a:rPr lang="en-US" altLang="zh-CN" dirty="0" err="1"/>
              <a:t>SQLiteDatabase</a:t>
            </a:r>
            <a:r>
              <a:rPr lang="en-US" altLang="zh-CN" dirty="0"/>
              <a:t> </a:t>
            </a:r>
            <a:r>
              <a:rPr lang="en-US" altLang="zh-CN" dirty="0" err="1" smtClean="0"/>
              <a:t>db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old</a:t>
            </a:r>
            <a:r>
              <a:rPr lang="zh-CN" altLang="en-US" dirty="0" smtClean="0"/>
              <a:t>，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new)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建立后，需要调用</a:t>
            </a:r>
            <a:r>
              <a:rPr lang="en-US" altLang="zh-CN" dirty="0" err="1"/>
              <a:t>getReadableDatabase</a:t>
            </a:r>
            <a:r>
              <a:rPr lang="en-US" altLang="zh-CN" dirty="0"/>
              <a:t>()</a:t>
            </a:r>
            <a:r>
              <a:rPr lang="zh-CN" altLang="en-US" dirty="0"/>
              <a:t>或</a:t>
            </a:r>
            <a:r>
              <a:rPr lang="en-US" altLang="zh-CN" dirty="0" err="1"/>
              <a:t>getWriteableDatabase</a:t>
            </a:r>
            <a:r>
              <a:rPr lang="en-US" altLang="zh-CN" dirty="0"/>
              <a:t>()</a:t>
            </a:r>
            <a:r>
              <a:rPr lang="zh-CN" altLang="en-US" dirty="0" smtClean="0"/>
              <a:t>方法返回一个</a:t>
            </a:r>
            <a:r>
              <a:rPr lang="en-US" altLang="zh-CN" dirty="0" smtClean="0"/>
              <a:t>SQLite</a:t>
            </a:r>
            <a:r>
              <a:rPr lang="zh-CN" altLang="en-US" dirty="0" smtClean="0"/>
              <a:t>数据库对象来操作数据库</a:t>
            </a:r>
            <a:endParaRPr lang="en-US" altLang="zh-CN" dirty="0" smtClean="0"/>
          </a:p>
          <a:p>
            <a:pPr lvl="4"/>
            <a:endParaRPr lang="en-US" altLang="zh-CN" dirty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8146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8.2 SQLite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 smtClean="0"/>
              <a:t>8.2.2 SQLite</a:t>
            </a:r>
            <a:r>
              <a:rPr lang="zh-CN" altLang="en-US" dirty="0" smtClean="0"/>
              <a:t>使用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创建数据库</a:t>
            </a:r>
            <a:endParaRPr lang="en-US" altLang="zh-CN" dirty="0" smtClean="0"/>
          </a:p>
          <a:p>
            <a:pPr lvl="3"/>
            <a:r>
              <a:rPr lang="zh-CN" altLang="en-US" dirty="0"/>
              <a:t>直接使用</a:t>
            </a:r>
            <a:r>
              <a:rPr lang="en-US" altLang="zh-CN" dirty="0" err="1"/>
              <a:t>SQLiteDatabase</a:t>
            </a:r>
            <a:r>
              <a:rPr lang="zh-CN" altLang="en-US" dirty="0"/>
              <a:t>类来创建数据库</a:t>
            </a:r>
            <a:endParaRPr lang="en-US" altLang="zh-CN" dirty="0"/>
          </a:p>
          <a:p>
            <a:pPr lvl="4"/>
            <a:r>
              <a:rPr lang="zh-CN" altLang="en-US" dirty="0"/>
              <a:t>定义</a:t>
            </a:r>
            <a:r>
              <a:rPr lang="en-US" altLang="zh-CN" dirty="0"/>
              <a:t>SQLite</a:t>
            </a:r>
            <a:r>
              <a:rPr lang="zh-CN" altLang="en-US" dirty="0"/>
              <a:t>数据库类：</a:t>
            </a:r>
            <a:r>
              <a:rPr lang="en-US" altLang="zh-CN" dirty="0" err="1"/>
              <a:t>SQLiteDatabase</a:t>
            </a:r>
            <a:r>
              <a:rPr lang="zh-CN" altLang="en-US" dirty="0"/>
              <a:t>对象并利用函数创建</a:t>
            </a:r>
            <a:endParaRPr lang="en-US" altLang="zh-CN" dirty="0"/>
          </a:p>
          <a:p>
            <a:pPr lvl="4"/>
            <a:r>
              <a:rPr lang="zh-CN" altLang="en-US" dirty="0"/>
              <a:t>使用</a:t>
            </a:r>
            <a:r>
              <a:rPr lang="en-US" altLang="zh-CN" dirty="0" err="1"/>
              <a:t>openOrCreateDatabase</a:t>
            </a:r>
            <a:r>
              <a:rPr lang="en-US" altLang="zh-CN" dirty="0"/>
              <a:t>(“</a:t>
            </a:r>
            <a:r>
              <a:rPr lang="en-US" altLang="zh-CN" dirty="0" err="1"/>
              <a:t>dbname</a:t>
            </a:r>
            <a:r>
              <a:rPr lang="en-US" altLang="zh-CN" dirty="0"/>
              <a:t>”,</a:t>
            </a:r>
            <a:r>
              <a:rPr lang="en-US" altLang="zh-CN" dirty="0" err="1"/>
              <a:t>MODE_PRIVATE,null</a:t>
            </a:r>
            <a:r>
              <a:rPr lang="en-US" altLang="zh-CN" dirty="0"/>
              <a:t>)</a:t>
            </a:r>
            <a:r>
              <a:rPr lang="zh-CN" altLang="en-US" dirty="0"/>
              <a:t>创建数据库</a:t>
            </a:r>
            <a:endParaRPr lang="en-US" altLang="zh-CN" dirty="0"/>
          </a:p>
          <a:p>
            <a:pPr lvl="2"/>
            <a:endParaRPr lang="en-US" altLang="zh-CN" dirty="0"/>
          </a:p>
          <a:p>
            <a:pPr lvl="4"/>
            <a:r>
              <a:rPr lang="zh-CN" altLang="en-US" dirty="0"/>
              <a:t>在创建数据库后，可以通过执行</a:t>
            </a:r>
            <a:r>
              <a:rPr lang="en-US" altLang="zh-CN" dirty="0"/>
              <a:t>SQL</a:t>
            </a:r>
            <a:r>
              <a:rPr lang="zh-CN" altLang="en-US" dirty="0"/>
              <a:t>语句的方式，创建表</a:t>
            </a:r>
            <a:endParaRPr lang="en-US" altLang="zh-CN" dirty="0"/>
          </a:p>
          <a:p>
            <a:pPr lvl="4"/>
            <a:r>
              <a:rPr lang="zh-CN" altLang="en-US" dirty="0"/>
              <a:t>在数据库对象使用完毕后，调用</a:t>
            </a:r>
            <a:r>
              <a:rPr lang="en-US" altLang="zh-CN" dirty="0"/>
              <a:t>close()</a:t>
            </a:r>
            <a:r>
              <a:rPr lang="zh-CN" altLang="en-US" dirty="0"/>
              <a:t>方法关闭数据库</a:t>
            </a:r>
            <a:endParaRPr lang="en-US" altLang="zh-CN" dirty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452" y="4581128"/>
            <a:ext cx="6304410" cy="2230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51447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8.2 SQLite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/>
              <a:t>8.2.2 SQLite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2"/>
            <a:r>
              <a:rPr lang="zh-CN" altLang="en-US" dirty="0"/>
              <a:t>使用</a:t>
            </a:r>
            <a:r>
              <a:rPr lang="en-US" altLang="zh-CN" dirty="0" err="1"/>
              <a:t>SQLiteDatabase</a:t>
            </a:r>
            <a:r>
              <a:rPr lang="zh-CN" altLang="en-US" dirty="0"/>
              <a:t>类来操作数据表</a:t>
            </a:r>
            <a:endParaRPr lang="en-US" altLang="zh-CN" dirty="0"/>
          </a:p>
          <a:p>
            <a:pPr lvl="3"/>
            <a:r>
              <a:rPr lang="zh-CN" altLang="en-US" dirty="0"/>
              <a:t>针对数据表的操作，</a:t>
            </a:r>
            <a:r>
              <a:rPr lang="en-US" altLang="zh-CN" dirty="0"/>
              <a:t>SQLite</a:t>
            </a:r>
            <a:r>
              <a:rPr lang="zh-CN" altLang="en-US" dirty="0"/>
              <a:t>可</a:t>
            </a:r>
            <a:r>
              <a:rPr lang="zh-CN" altLang="en-US" dirty="0">
                <a:solidFill>
                  <a:srgbClr val="FF0000"/>
                </a:solidFill>
              </a:rPr>
              <a:t>通过执行标准的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语句来实现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通过</a:t>
            </a:r>
            <a:r>
              <a:rPr lang="en-US" altLang="zh-CN" dirty="0" err="1"/>
              <a:t>execSQL</a:t>
            </a:r>
            <a:r>
              <a:rPr lang="en-US" altLang="zh-CN" dirty="0"/>
              <a:t>(String </a:t>
            </a:r>
            <a:r>
              <a:rPr lang="en-US" altLang="zh-CN" dirty="0" err="1"/>
              <a:t>sqlstr</a:t>
            </a:r>
            <a:r>
              <a:rPr lang="en-US" altLang="zh-CN" dirty="0"/>
              <a:t>)</a:t>
            </a:r>
            <a:r>
              <a:rPr lang="zh-CN" altLang="en-US" dirty="0"/>
              <a:t>方法来实现对</a:t>
            </a:r>
            <a:r>
              <a:rPr lang="en-US" altLang="zh-CN" dirty="0"/>
              <a:t>SQL</a:t>
            </a:r>
            <a:r>
              <a:rPr lang="zh-CN" altLang="en-US" dirty="0"/>
              <a:t>语句的执行</a:t>
            </a:r>
            <a:endParaRPr lang="en-US" altLang="zh-CN" dirty="0"/>
          </a:p>
          <a:p>
            <a:pPr lvl="4"/>
            <a:r>
              <a:rPr lang="zh-CN" altLang="en-US" dirty="0"/>
              <a:t>执行数据定义语言</a:t>
            </a:r>
            <a:r>
              <a:rPr lang="en-US" altLang="zh-CN" dirty="0"/>
              <a:t>DDL</a:t>
            </a:r>
            <a:r>
              <a:rPr lang="zh-CN" altLang="en-US" dirty="0"/>
              <a:t>：</a:t>
            </a:r>
            <a:r>
              <a:rPr lang="en-US" altLang="zh-CN" dirty="0"/>
              <a:t>Create</a:t>
            </a:r>
            <a:r>
              <a:rPr lang="zh-CN" altLang="en-US" dirty="0"/>
              <a:t>、</a:t>
            </a:r>
            <a:r>
              <a:rPr lang="en-US" altLang="zh-CN" dirty="0"/>
              <a:t>Alter</a:t>
            </a:r>
            <a:r>
              <a:rPr lang="zh-CN" altLang="en-US" dirty="0"/>
              <a:t>、</a:t>
            </a:r>
            <a:r>
              <a:rPr lang="en-US" altLang="zh-CN" dirty="0"/>
              <a:t>Drop</a:t>
            </a:r>
          </a:p>
          <a:p>
            <a:pPr lvl="4"/>
            <a:r>
              <a:rPr lang="zh-CN" altLang="en-US" dirty="0"/>
              <a:t>执行数据操作语言</a:t>
            </a:r>
            <a:r>
              <a:rPr lang="en-US" altLang="zh-CN" dirty="0" err="1"/>
              <a:t>DmL</a:t>
            </a:r>
            <a:r>
              <a:rPr lang="zh-CN" altLang="en-US" dirty="0"/>
              <a:t>：</a:t>
            </a:r>
            <a:r>
              <a:rPr lang="en-US" altLang="zh-CN" dirty="0"/>
              <a:t>Insert</a:t>
            </a:r>
            <a:r>
              <a:rPr lang="zh-CN" altLang="en-US" dirty="0"/>
              <a:t>、</a:t>
            </a:r>
            <a:r>
              <a:rPr lang="en-US" altLang="zh-CN" dirty="0"/>
              <a:t>Update</a:t>
            </a:r>
            <a:r>
              <a:rPr lang="zh-CN" altLang="en-US" dirty="0"/>
              <a:t>、</a:t>
            </a:r>
            <a:r>
              <a:rPr lang="en-US" altLang="zh-CN" dirty="0"/>
              <a:t>Delete</a:t>
            </a:r>
          </a:p>
          <a:p>
            <a:pPr lvl="3"/>
            <a:r>
              <a:rPr lang="zh-CN" altLang="en-US" dirty="0"/>
              <a:t>通过</a:t>
            </a:r>
            <a:r>
              <a:rPr lang="en-US" altLang="zh-CN" dirty="0" err="1"/>
              <a:t>rawQuery</a:t>
            </a:r>
            <a:r>
              <a:rPr lang="en-US" altLang="zh-CN" dirty="0"/>
              <a:t>(String </a:t>
            </a:r>
            <a:r>
              <a:rPr lang="en-US" altLang="zh-CN" dirty="0" err="1"/>
              <a:t>sqlstr</a:t>
            </a:r>
            <a:r>
              <a:rPr lang="en-US" altLang="zh-CN" dirty="0"/>
              <a:t>)</a:t>
            </a:r>
            <a:r>
              <a:rPr lang="zh-CN" altLang="en-US" dirty="0"/>
              <a:t>方法来实现</a:t>
            </a:r>
            <a:r>
              <a:rPr lang="en-US" altLang="zh-CN" dirty="0"/>
              <a:t>SQL</a:t>
            </a:r>
            <a:r>
              <a:rPr lang="zh-CN" altLang="en-US" dirty="0"/>
              <a:t>查询并返回结果</a:t>
            </a:r>
            <a:endParaRPr lang="en-US" altLang="zh-CN" dirty="0"/>
          </a:p>
          <a:p>
            <a:pPr lvl="4"/>
            <a:r>
              <a:rPr lang="zh-CN" altLang="en-US" dirty="0"/>
              <a:t>执行数据查询语言</a:t>
            </a:r>
            <a:r>
              <a:rPr lang="en-US" altLang="zh-CN" dirty="0"/>
              <a:t>DQL</a:t>
            </a:r>
            <a:r>
              <a:rPr lang="zh-CN" altLang="en-US" dirty="0"/>
              <a:t>：</a:t>
            </a:r>
            <a:r>
              <a:rPr lang="en-US" altLang="zh-CN" dirty="0"/>
              <a:t>Select</a:t>
            </a:r>
          </a:p>
          <a:p>
            <a:pPr lvl="4"/>
            <a:r>
              <a:rPr lang="zh-CN" altLang="en-US" dirty="0"/>
              <a:t>返回的结果类型为</a:t>
            </a:r>
            <a:r>
              <a:rPr lang="en-US" altLang="zh-CN" dirty="0"/>
              <a:t>Cursor</a:t>
            </a:r>
            <a:r>
              <a:rPr lang="zh-CN" altLang="en-US" dirty="0"/>
              <a:t>类对象</a:t>
            </a:r>
            <a:endParaRPr lang="en-US" altLang="zh-CN" dirty="0"/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9418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8.2 SQLite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/>
              <a:t>8.2.2 SQLite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1"/>
            <a:r>
              <a:rPr lang="en-US" altLang="zh-CN" dirty="0"/>
              <a:t>9.5.2 SQLite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2"/>
            <a:r>
              <a:rPr lang="zh-CN" altLang="en-US" dirty="0"/>
              <a:t>使用</a:t>
            </a:r>
            <a:r>
              <a:rPr lang="en-US" altLang="zh-CN" dirty="0" err="1"/>
              <a:t>SQLiteDatabase</a:t>
            </a:r>
            <a:r>
              <a:rPr lang="zh-CN" altLang="en-US" dirty="0"/>
              <a:t>类来操作数据表</a:t>
            </a:r>
            <a:endParaRPr lang="en-US" altLang="zh-CN" dirty="0"/>
          </a:p>
          <a:p>
            <a:pPr lvl="3"/>
            <a:r>
              <a:rPr lang="zh-CN" altLang="en-US" dirty="0"/>
              <a:t>针对数据表的操作，可</a:t>
            </a:r>
            <a:r>
              <a:rPr lang="zh-CN" altLang="en-US" dirty="0">
                <a:solidFill>
                  <a:srgbClr val="FF0000"/>
                </a:solidFill>
              </a:rPr>
              <a:t>使用</a:t>
            </a:r>
            <a:r>
              <a:rPr lang="en-US" altLang="zh-CN" dirty="0" err="1">
                <a:solidFill>
                  <a:srgbClr val="FF0000"/>
                </a:solidFill>
              </a:rPr>
              <a:t>SQLiteDatabase</a:t>
            </a:r>
            <a:r>
              <a:rPr lang="zh-CN" altLang="en-US" dirty="0">
                <a:solidFill>
                  <a:srgbClr val="FF0000"/>
                </a:solidFill>
              </a:rPr>
              <a:t>本身的方法实现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类似于数据操作语言的：</a:t>
            </a:r>
            <a:r>
              <a:rPr lang="en-US" altLang="zh-CN" dirty="0"/>
              <a:t>Insert()</a:t>
            </a:r>
            <a:r>
              <a:rPr lang="zh-CN" altLang="en-US" dirty="0"/>
              <a:t>、</a:t>
            </a:r>
            <a:r>
              <a:rPr lang="en-US" altLang="zh-CN" dirty="0"/>
              <a:t>Update()</a:t>
            </a:r>
            <a:r>
              <a:rPr lang="zh-CN" altLang="en-US" dirty="0"/>
              <a:t>、</a:t>
            </a:r>
            <a:r>
              <a:rPr lang="en-US" altLang="zh-CN" dirty="0"/>
              <a:t>Delete()</a:t>
            </a:r>
            <a:r>
              <a:rPr lang="zh-CN" altLang="en-US" dirty="0"/>
              <a:t>方法</a:t>
            </a:r>
            <a:endParaRPr lang="en-US" altLang="zh-CN" dirty="0"/>
          </a:p>
          <a:p>
            <a:pPr lvl="4"/>
            <a:r>
              <a:rPr lang="zh-CN" altLang="en-US" dirty="0"/>
              <a:t>原有的</a:t>
            </a:r>
            <a:r>
              <a:rPr lang="en-US" altLang="zh-CN" dirty="0"/>
              <a:t>SQL</a:t>
            </a:r>
            <a:r>
              <a:rPr lang="zh-CN" altLang="en-US" dirty="0"/>
              <a:t>指令中的表名、列名、值等作为方法的参数</a:t>
            </a:r>
            <a:endParaRPr lang="en-US" altLang="zh-CN" dirty="0"/>
          </a:p>
          <a:p>
            <a:pPr lvl="3"/>
            <a:r>
              <a:rPr lang="zh-CN" altLang="en-US" dirty="0"/>
              <a:t>类型于数据查询语言</a:t>
            </a:r>
            <a:r>
              <a:rPr lang="en-US" altLang="zh-CN" dirty="0"/>
              <a:t>DQL</a:t>
            </a:r>
            <a:r>
              <a:rPr lang="zh-CN" altLang="en-US" dirty="0"/>
              <a:t>的：</a:t>
            </a:r>
            <a:r>
              <a:rPr lang="en-US" altLang="zh-CN" dirty="0"/>
              <a:t>query()</a:t>
            </a:r>
            <a:r>
              <a:rPr lang="zh-CN" altLang="en-US" dirty="0"/>
              <a:t>方法</a:t>
            </a:r>
            <a:endParaRPr lang="en-US" altLang="zh-CN" dirty="0"/>
          </a:p>
          <a:p>
            <a:pPr lvl="4"/>
            <a:r>
              <a:rPr lang="zh-CN" altLang="en-US" dirty="0"/>
              <a:t>原有</a:t>
            </a:r>
            <a:r>
              <a:rPr lang="en-US" altLang="zh-CN" dirty="0"/>
              <a:t>Select</a:t>
            </a:r>
            <a:r>
              <a:rPr lang="zh-CN" altLang="en-US" dirty="0"/>
              <a:t>语句中的表名、字段名、</a:t>
            </a:r>
            <a:r>
              <a:rPr lang="en-US" altLang="zh-CN" dirty="0"/>
              <a:t>where</a:t>
            </a:r>
            <a:r>
              <a:rPr lang="zh-CN" altLang="en-US" dirty="0"/>
              <a:t>条件等成为函数参数</a:t>
            </a:r>
            <a:endParaRPr lang="en-US" altLang="zh-CN" dirty="0"/>
          </a:p>
          <a:p>
            <a:pPr lvl="4"/>
            <a:r>
              <a:rPr lang="zh-CN" altLang="en-US" dirty="0"/>
              <a:t>该查询同样返回</a:t>
            </a:r>
            <a:r>
              <a:rPr lang="en-US" altLang="zh-CN" dirty="0"/>
              <a:t>Cursor</a:t>
            </a:r>
            <a:r>
              <a:rPr lang="zh-CN" altLang="en-US" dirty="0"/>
              <a:t>类对象</a:t>
            </a:r>
            <a:endParaRPr lang="en-US" altLang="zh-CN" dirty="0"/>
          </a:p>
          <a:p>
            <a:pPr lvl="3"/>
            <a:r>
              <a:rPr lang="zh-CN" altLang="en-US" u="sng" dirty="0">
                <a:solidFill>
                  <a:schemeClr val="accent6">
                    <a:lumMod val="50000"/>
                  </a:schemeClr>
                </a:solidFill>
              </a:rPr>
              <a:t>若熟悉</a:t>
            </a:r>
            <a:r>
              <a:rPr lang="en-US" altLang="zh-CN" u="sng" dirty="0">
                <a:solidFill>
                  <a:schemeClr val="accent6">
                    <a:lumMod val="50000"/>
                  </a:schemeClr>
                </a:solidFill>
              </a:rPr>
              <a:t>SQL</a:t>
            </a:r>
            <a:r>
              <a:rPr lang="zh-CN" altLang="en-US" u="sng" dirty="0">
                <a:solidFill>
                  <a:schemeClr val="accent6">
                    <a:lumMod val="50000"/>
                  </a:schemeClr>
                </a:solidFill>
              </a:rPr>
              <a:t>语言，建议使用</a:t>
            </a:r>
            <a:r>
              <a:rPr lang="en-US" altLang="zh-CN" u="sng" dirty="0">
                <a:solidFill>
                  <a:schemeClr val="accent6">
                    <a:lumMod val="50000"/>
                  </a:schemeClr>
                </a:solidFill>
              </a:rPr>
              <a:t>SQL</a:t>
            </a:r>
            <a:r>
              <a:rPr lang="zh-CN" altLang="en-US" u="sng" dirty="0">
                <a:solidFill>
                  <a:schemeClr val="accent6">
                    <a:lumMod val="50000"/>
                  </a:schemeClr>
                </a:solidFill>
              </a:rPr>
              <a:t>语言实现数据表的操作</a:t>
            </a:r>
            <a:endParaRPr lang="en-US" altLang="zh-CN" u="sng" dirty="0">
              <a:solidFill>
                <a:schemeClr val="accent6">
                  <a:lumMod val="50000"/>
                </a:schemeClr>
              </a:solidFill>
            </a:endParaRPr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32308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8.2 SQLite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/>
              <a:t>8.2.2 SQLite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2"/>
            <a:r>
              <a:rPr lang="zh-CN" altLang="en-US" dirty="0"/>
              <a:t>使用</a:t>
            </a:r>
            <a:r>
              <a:rPr lang="en-US" altLang="zh-CN" dirty="0" err="1"/>
              <a:t>SQLiteDatabase</a:t>
            </a:r>
            <a:r>
              <a:rPr lang="zh-CN" altLang="en-US" dirty="0"/>
              <a:t>类来操作数据表</a:t>
            </a:r>
            <a:endParaRPr lang="en-US" altLang="zh-CN" dirty="0"/>
          </a:p>
          <a:p>
            <a:pPr lvl="3"/>
            <a:r>
              <a:rPr lang="zh-CN" altLang="en-US" dirty="0" smtClean="0"/>
              <a:t>使用游标</a:t>
            </a:r>
            <a:r>
              <a:rPr lang="en-US" altLang="zh-CN" dirty="0" smtClean="0"/>
              <a:t>Cursor</a:t>
            </a:r>
            <a:r>
              <a:rPr lang="zh-CN" altLang="en-US" dirty="0" smtClean="0"/>
              <a:t>：查询返回的数据集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常用方法：</a:t>
            </a:r>
            <a:endParaRPr lang="en-US" altLang="zh-CN" dirty="0" smtClean="0"/>
          </a:p>
          <a:p>
            <a:pPr lvl="4"/>
            <a:r>
              <a:rPr lang="en-US" altLang="zh-CN" dirty="0"/>
              <a:t>move(</a:t>
            </a:r>
            <a:r>
              <a:rPr lang="en-US" altLang="zh-CN" dirty="0" err="1"/>
              <a:t>int</a:t>
            </a:r>
            <a:r>
              <a:rPr lang="en-US" altLang="zh-CN" dirty="0"/>
              <a:t> offset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：以</a:t>
            </a:r>
            <a:r>
              <a:rPr lang="zh-CN" altLang="en-US" dirty="0"/>
              <a:t>当前位置为</a:t>
            </a:r>
            <a:r>
              <a:rPr lang="zh-CN" altLang="en-US" dirty="0" smtClean="0"/>
              <a:t>参考，移动指定</a:t>
            </a:r>
            <a:r>
              <a:rPr lang="zh-CN" altLang="en-US" dirty="0"/>
              <a:t>行  </a:t>
            </a:r>
          </a:p>
          <a:p>
            <a:pPr lvl="4"/>
            <a:r>
              <a:rPr lang="en-US" altLang="zh-CN" dirty="0" err="1"/>
              <a:t>moveToFirst</a:t>
            </a:r>
            <a:r>
              <a:rPr lang="en-US" altLang="zh-CN" dirty="0" smtClean="0"/>
              <a:t>()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moveToLast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：移动</a:t>
            </a:r>
            <a:r>
              <a:rPr lang="zh-CN" altLang="en-US" dirty="0"/>
              <a:t>到第一行  </a:t>
            </a:r>
            <a:r>
              <a:rPr lang="zh-CN" altLang="en-US" dirty="0" smtClean="0"/>
              <a:t>、最后</a:t>
            </a:r>
            <a:r>
              <a:rPr lang="zh-CN" altLang="en-US" dirty="0"/>
              <a:t>一行 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moveToPosition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position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：移动</a:t>
            </a:r>
            <a:r>
              <a:rPr lang="zh-CN" altLang="en-US" dirty="0"/>
              <a:t>到指定行 </a:t>
            </a:r>
          </a:p>
          <a:p>
            <a:pPr lvl="4"/>
            <a:r>
              <a:rPr lang="en-US" altLang="zh-CN" dirty="0" err="1" smtClean="0"/>
              <a:t>getColumnNames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：获取字段名 </a:t>
            </a:r>
            <a:endParaRPr lang="zh-CN" altLang="en-US" dirty="0"/>
          </a:p>
          <a:p>
            <a:pPr lvl="4"/>
            <a:r>
              <a:rPr lang="en-US" altLang="zh-CN" dirty="0" err="1" smtClean="0"/>
              <a:t>getCount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：结果集中的数据</a:t>
            </a:r>
            <a:r>
              <a:rPr lang="zh-CN" altLang="en-US" dirty="0"/>
              <a:t>项数  </a:t>
            </a:r>
          </a:p>
          <a:p>
            <a:pPr lvl="4"/>
            <a:r>
              <a:rPr lang="en-US" altLang="zh-CN" dirty="0" err="1"/>
              <a:t>getPosition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：返回</a:t>
            </a:r>
            <a:r>
              <a:rPr lang="zh-CN" altLang="en-US" dirty="0"/>
              <a:t>当前游标所指向的行数  </a:t>
            </a:r>
          </a:p>
          <a:p>
            <a:pPr lvl="4"/>
            <a:r>
              <a:rPr lang="en-US" altLang="zh-CN" dirty="0" err="1" smtClean="0"/>
              <a:t>getString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/>
              <a:t>columnIndex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：返回</a:t>
            </a:r>
            <a:r>
              <a:rPr lang="zh-CN" altLang="en-US" dirty="0"/>
              <a:t>当前行指定列的值 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2957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8.2 SQLite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/>
              <a:t>8.2.2 SQLite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2"/>
            <a:r>
              <a:rPr lang="en-US" altLang="zh-CN" dirty="0" smtClean="0"/>
              <a:t>SQLite</a:t>
            </a:r>
            <a:r>
              <a:rPr lang="zh-CN" altLang="en-US" dirty="0" smtClean="0"/>
              <a:t>数据库实例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创建表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r>
              <a:rPr lang="zh-CN" altLang="en-US" dirty="0" smtClean="0"/>
              <a:t>创建记录</a:t>
            </a:r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412" y="3873209"/>
            <a:ext cx="6517232" cy="6430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412" y="5157192"/>
            <a:ext cx="6265096" cy="123139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6958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8.2 SQLite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/>
              <a:t>8.2.2 SQLite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2"/>
            <a:r>
              <a:rPr lang="en-US" altLang="zh-CN" dirty="0" smtClean="0"/>
              <a:t>SQLite</a:t>
            </a:r>
            <a:r>
              <a:rPr lang="zh-CN" altLang="en-US" dirty="0" smtClean="0"/>
              <a:t>数据库实例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查询并显示结果</a:t>
            </a:r>
            <a:endParaRPr lang="en-US" altLang="zh-CN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005064"/>
            <a:ext cx="7308304" cy="21841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7532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8.3 </a:t>
            </a:r>
            <a:r>
              <a:rPr lang="en-US" altLang="zh-CN" dirty="0" err="1" smtClean="0"/>
              <a:t>ContentProvider</a:t>
            </a:r>
            <a:r>
              <a:rPr lang="zh-CN" altLang="en-US" dirty="0" smtClean="0"/>
              <a:t>存储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ContentProvider</a:t>
            </a:r>
            <a:r>
              <a:rPr lang="zh-CN" altLang="en-US" dirty="0" smtClean="0"/>
              <a:t>存储特点</a:t>
            </a:r>
            <a:endParaRPr lang="en-US" altLang="zh-CN" dirty="0" smtClean="0"/>
          </a:p>
          <a:p>
            <a:pPr lvl="2"/>
            <a:r>
              <a:rPr lang="en-US" altLang="zh-CN" dirty="0"/>
              <a:t>Android</a:t>
            </a:r>
            <a:r>
              <a:rPr lang="zh-CN" altLang="en-US" dirty="0"/>
              <a:t>中应用的数据是私有的</a:t>
            </a:r>
            <a:endParaRPr lang="en-US" altLang="zh-CN" dirty="0"/>
          </a:p>
          <a:p>
            <a:pPr lvl="3"/>
            <a:r>
              <a:rPr lang="zh-CN" altLang="en-US" dirty="0"/>
              <a:t>不用应用程序之间的数据无法相互调用和操作</a:t>
            </a:r>
            <a:endParaRPr lang="en-US" altLang="zh-CN" dirty="0"/>
          </a:p>
          <a:p>
            <a:pPr lvl="2"/>
            <a:r>
              <a:rPr lang="en-US" altLang="zh-CN" dirty="0" err="1"/>
              <a:t>ContentProvider</a:t>
            </a:r>
            <a:r>
              <a:rPr lang="zh-CN" altLang="en-US" dirty="0"/>
              <a:t>实现了不同应用程序间数据的共享</a:t>
            </a:r>
            <a:endParaRPr lang="en-US" altLang="zh-CN" dirty="0"/>
          </a:p>
          <a:p>
            <a:pPr lvl="3"/>
            <a:r>
              <a:rPr lang="en-US" altLang="zh-CN" dirty="0" err="1"/>
              <a:t>ContentProvider</a:t>
            </a:r>
            <a:r>
              <a:rPr lang="zh-CN" altLang="en-US" dirty="0"/>
              <a:t>为存储和获取数据提供统一的接口</a:t>
            </a:r>
            <a:endParaRPr lang="en-US" altLang="zh-CN" dirty="0"/>
          </a:p>
          <a:p>
            <a:pPr lvl="4"/>
            <a:r>
              <a:rPr lang="zh-CN" altLang="en-US" dirty="0"/>
              <a:t>以数据库中表的的形式来组成数据</a:t>
            </a:r>
            <a:endParaRPr lang="en-US" altLang="zh-CN" dirty="0"/>
          </a:p>
          <a:p>
            <a:pPr lvl="4"/>
            <a:r>
              <a:rPr lang="zh-CN" altLang="en-US" dirty="0"/>
              <a:t>提供一种多应用间数据共享的方式</a:t>
            </a:r>
            <a:endParaRPr lang="en-US" altLang="zh-CN" dirty="0"/>
          </a:p>
          <a:p>
            <a:pPr lvl="4"/>
            <a:r>
              <a:rPr lang="en-US" altLang="zh-CN" dirty="0"/>
              <a:t>Android</a:t>
            </a:r>
            <a:r>
              <a:rPr lang="zh-CN" altLang="en-US" dirty="0"/>
              <a:t>内置的许多数据都是使用该方式供开发者调用的</a:t>
            </a:r>
            <a:endParaRPr lang="en-US" altLang="zh-CN" dirty="0"/>
          </a:p>
          <a:p>
            <a:pPr lvl="5"/>
            <a:r>
              <a:rPr lang="zh-CN" altLang="en-US" dirty="0"/>
              <a:t>视频、音频、图片、通讯录等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1156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8.3 </a:t>
            </a:r>
            <a:r>
              <a:rPr lang="en-US" altLang="zh-CN" dirty="0" err="1" smtClean="0"/>
              <a:t>ContentProvider</a:t>
            </a:r>
            <a:r>
              <a:rPr lang="zh-CN" altLang="en-US" dirty="0" smtClean="0"/>
              <a:t>存储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ContentProvider</a:t>
            </a:r>
            <a:r>
              <a:rPr lang="zh-CN" altLang="en-US" dirty="0" smtClean="0"/>
              <a:t>存储特点</a:t>
            </a:r>
            <a:endParaRPr lang="en-US" altLang="zh-CN" dirty="0" smtClean="0"/>
          </a:p>
          <a:p>
            <a:pPr lvl="2"/>
            <a:r>
              <a:rPr lang="zh-CN" altLang="en-US" dirty="0"/>
              <a:t>用</a:t>
            </a:r>
            <a:r>
              <a:rPr lang="en-US" altLang="zh-CN" dirty="0"/>
              <a:t>Uri</a:t>
            </a:r>
            <a:r>
              <a:rPr lang="zh-CN" altLang="en-US" dirty="0"/>
              <a:t>类来实现对数据的处理</a:t>
            </a:r>
            <a:endParaRPr lang="en-US" altLang="zh-CN" dirty="0"/>
          </a:p>
          <a:p>
            <a:pPr lvl="3"/>
            <a:r>
              <a:rPr lang="en-US" altLang="zh-CN" dirty="0"/>
              <a:t>Uri</a:t>
            </a:r>
            <a:r>
              <a:rPr lang="zh-CN" altLang="en-US" dirty="0"/>
              <a:t>是一个通用资源标志符，将其分为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个部分：                          </a:t>
            </a:r>
          </a:p>
          <a:p>
            <a:pPr lvl="4"/>
            <a:r>
              <a:rPr lang="en-US" altLang="zh-CN" dirty="0"/>
              <a:t>A</a:t>
            </a:r>
            <a:r>
              <a:rPr lang="zh-CN" altLang="en-US" dirty="0"/>
              <a:t>：无法改变的标准前缀：如；</a:t>
            </a:r>
            <a:r>
              <a:rPr lang="en-US" altLang="zh-CN" dirty="0"/>
              <a:t>"content</a:t>
            </a:r>
            <a:r>
              <a:rPr lang="zh-CN" altLang="en-US" dirty="0"/>
              <a:t>：</a:t>
            </a:r>
            <a:r>
              <a:rPr lang="en-US" altLang="zh-CN" dirty="0"/>
              <a:t>//"</a:t>
            </a:r>
            <a:r>
              <a:rPr lang="zh-CN" altLang="en-US" dirty="0"/>
              <a:t>、</a:t>
            </a:r>
            <a:r>
              <a:rPr lang="en-US" altLang="zh-CN" dirty="0"/>
              <a:t>"</a:t>
            </a:r>
            <a:r>
              <a:rPr lang="en-US" altLang="zh-CN" dirty="0" err="1"/>
              <a:t>tel</a:t>
            </a:r>
            <a:r>
              <a:rPr lang="zh-CN" altLang="en-US" dirty="0"/>
              <a:t>：</a:t>
            </a:r>
            <a:r>
              <a:rPr lang="en-US" altLang="zh-CN" dirty="0"/>
              <a:t>//"</a:t>
            </a:r>
            <a:r>
              <a:rPr lang="zh-CN" altLang="en-US" dirty="0"/>
              <a:t>等</a:t>
            </a:r>
            <a:endParaRPr lang="en-US" altLang="zh-CN" dirty="0"/>
          </a:p>
          <a:p>
            <a:pPr lvl="5"/>
            <a:r>
              <a:rPr lang="zh-CN" altLang="en-US" dirty="0"/>
              <a:t>当前缀是</a:t>
            </a:r>
            <a:r>
              <a:rPr lang="en-US" altLang="zh-CN" dirty="0"/>
              <a:t>"content://"</a:t>
            </a:r>
            <a:r>
              <a:rPr lang="zh-CN" altLang="en-US" dirty="0"/>
              <a:t>时，说明可通过</a:t>
            </a:r>
            <a:r>
              <a:rPr lang="en-US" altLang="zh-CN" dirty="0" err="1"/>
              <a:t>ContentProvider</a:t>
            </a:r>
            <a:r>
              <a:rPr lang="zh-CN" altLang="en-US" dirty="0"/>
              <a:t>控制这些数据</a:t>
            </a:r>
          </a:p>
          <a:p>
            <a:pPr lvl="4"/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en-US" altLang="zh-CN" dirty="0"/>
              <a:t>URI</a:t>
            </a:r>
            <a:r>
              <a:rPr lang="zh-CN" altLang="en-US" dirty="0"/>
              <a:t>的标识：</a:t>
            </a:r>
            <a:endParaRPr lang="en-US" altLang="zh-CN" dirty="0"/>
          </a:p>
          <a:p>
            <a:pPr lvl="5"/>
            <a:r>
              <a:rPr lang="zh-CN" altLang="en-US" dirty="0"/>
              <a:t>为了保证</a:t>
            </a:r>
            <a:r>
              <a:rPr lang="en-US" altLang="zh-CN" dirty="0"/>
              <a:t>URI</a:t>
            </a:r>
            <a:r>
              <a:rPr lang="zh-CN" altLang="en-US" dirty="0"/>
              <a:t>标识的唯一性，一般使用包名</a:t>
            </a:r>
          </a:p>
          <a:p>
            <a:pPr lvl="4"/>
            <a:r>
              <a:rPr lang="en-US" altLang="zh-CN" dirty="0"/>
              <a:t>C</a:t>
            </a:r>
            <a:r>
              <a:rPr lang="zh-CN" altLang="en-US" dirty="0"/>
              <a:t>：路径：可以近似的理解为需要操作的数据库中表的名字</a:t>
            </a:r>
          </a:p>
          <a:p>
            <a:pPr lvl="4"/>
            <a:r>
              <a:rPr lang="en-US" altLang="zh-CN" dirty="0"/>
              <a:t>D</a:t>
            </a:r>
            <a:r>
              <a:rPr lang="zh-CN" altLang="en-US" dirty="0"/>
              <a:t>：记录行数：如果</a:t>
            </a:r>
            <a:r>
              <a:rPr lang="en-US" altLang="zh-CN" dirty="0"/>
              <a:t>URI</a:t>
            </a:r>
            <a:r>
              <a:rPr lang="zh-CN" altLang="en-US" dirty="0"/>
              <a:t>中包含表示需要获取的记录的</a:t>
            </a:r>
            <a:r>
              <a:rPr lang="en-US" altLang="zh-CN" dirty="0"/>
              <a:t>ID</a:t>
            </a:r>
            <a:r>
              <a:rPr lang="zh-CN" altLang="en-US" dirty="0"/>
              <a:t>（行），则就返回该</a:t>
            </a:r>
            <a:r>
              <a:rPr lang="en-US" altLang="zh-CN" dirty="0"/>
              <a:t>ID</a:t>
            </a:r>
            <a:r>
              <a:rPr lang="zh-CN" altLang="en-US" dirty="0"/>
              <a:t>对应的数据，如果没有</a:t>
            </a:r>
            <a:r>
              <a:rPr lang="en-US" altLang="zh-CN" dirty="0"/>
              <a:t>ID</a:t>
            </a:r>
            <a:r>
              <a:rPr lang="zh-CN" altLang="en-US" dirty="0"/>
              <a:t>，就表示返回</a:t>
            </a:r>
            <a:r>
              <a:rPr lang="zh-CN" altLang="en-US" dirty="0" smtClean="0"/>
              <a:t>全部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62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8.3 </a:t>
            </a:r>
            <a:r>
              <a:rPr lang="en-US" altLang="zh-CN" dirty="0" err="1"/>
              <a:t>ContentProvider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/>
            <a:r>
              <a:rPr lang="en-US" altLang="zh-CN" dirty="0" smtClean="0"/>
              <a:t> </a:t>
            </a:r>
            <a:r>
              <a:rPr lang="en-US" altLang="zh-CN" dirty="0" err="1" smtClean="0"/>
              <a:t>ContentProvider</a:t>
            </a:r>
            <a:r>
              <a:rPr lang="zh-CN" altLang="en-US" dirty="0" smtClean="0"/>
              <a:t>存储特点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</a:t>
            </a:r>
            <a:r>
              <a:rPr lang="en-US" altLang="zh-CN" dirty="0" smtClean="0"/>
              <a:t>Uri</a:t>
            </a:r>
            <a:r>
              <a:rPr lang="zh-CN" altLang="en-US" dirty="0" smtClean="0"/>
              <a:t>类来实现对数据</a:t>
            </a:r>
            <a:r>
              <a:rPr lang="zh-CN" altLang="en-US" dirty="0"/>
              <a:t>的处理</a:t>
            </a:r>
            <a:endParaRPr lang="en-US" altLang="zh-CN" dirty="0"/>
          </a:p>
          <a:p>
            <a:pPr lvl="3"/>
            <a:r>
              <a:rPr lang="en-US" altLang="zh-CN" dirty="0"/>
              <a:t>Uri</a:t>
            </a:r>
            <a:r>
              <a:rPr lang="zh-CN" altLang="en-US" dirty="0"/>
              <a:t>是一个通用资源标志符，将其分为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个部分：                         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293096"/>
            <a:ext cx="7658100" cy="1981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6626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8.4 </a:t>
            </a:r>
            <a:r>
              <a:rPr lang="zh-CN" altLang="en-US" dirty="0" smtClean="0"/>
              <a:t>文件存储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8.4.1 </a:t>
            </a:r>
            <a:r>
              <a:rPr lang="zh-CN" altLang="en-US" dirty="0" smtClean="0"/>
              <a:t>程序私有文件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程序私有文件夹位置为：</a:t>
            </a:r>
            <a:r>
              <a:rPr lang="en-US" altLang="zh-CN" dirty="0" smtClean="0"/>
              <a:t>\data\data\&lt;</a:t>
            </a:r>
            <a:r>
              <a:rPr lang="zh-CN" altLang="en-US" dirty="0" smtClean="0"/>
              <a:t>应用程序包名</a:t>
            </a:r>
            <a:r>
              <a:rPr lang="en-US" altLang="zh-CN" dirty="0" smtClean="0"/>
              <a:t>&gt;</a:t>
            </a:r>
          </a:p>
          <a:p>
            <a:pPr lvl="2"/>
            <a:r>
              <a:rPr lang="zh-CN" altLang="en-US" dirty="0" smtClean="0"/>
              <a:t>默认情况下，仅本应用程序</a:t>
            </a:r>
            <a:r>
              <a:rPr lang="zh-CN" altLang="en-US" dirty="0"/>
              <a:t>可</a:t>
            </a:r>
            <a:r>
              <a:rPr lang="zh-CN" altLang="en-US" dirty="0" smtClean="0"/>
              <a:t>访问文件夹下数据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支持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IO</a:t>
            </a:r>
            <a:r>
              <a:rPr lang="zh-CN" altLang="en-US" dirty="0" smtClean="0"/>
              <a:t>文件操作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</a:t>
            </a:r>
            <a:r>
              <a:rPr lang="en-US" altLang="zh-CN" dirty="0" err="1" smtClean="0">
                <a:solidFill>
                  <a:srgbClr val="FF0000"/>
                </a:solidFill>
              </a:rPr>
              <a:t>FileOutputStream</a:t>
            </a:r>
            <a:r>
              <a:rPr lang="zh-CN" altLang="en-US" dirty="0" smtClean="0"/>
              <a:t>类对象来创建并文件信息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创建方法：使用</a:t>
            </a:r>
            <a:r>
              <a:rPr lang="en-US" altLang="zh-CN" dirty="0" err="1" smtClean="0">
                <a:solidFill>
                  <a:srgbClr val="FF0000"/>
                </a:solidFill>
              </a:rPr>
              <a:t>OpenFileOutput</a:t>
            </a:r>
            <a:r>
              <a:rPr lang="en-US" altLang="zh-CN" dirty="0" smtClean="0">
                <a:solidFill>
                  <a:srgbClr val="FF0000"/>
                </a:solidFill>
              </a:rPr>
              <a:t>(string </a:t>
            </a:r>
            <a:r>
              <a:rPr lang="en-US" altLang="zh-CN" dirty="0">
                <a:solidFill>
                  <a:srgbClr val="FF0000"/>
                </a:solidFill>
              </a:rPr>
              <a:t>name,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mode)</a:t>
            </a:r>
            <a:r>
              <a:rPr lang="zh-CN" altLang="en-US" dirty="0" smtClean="0"/>
              <a:t>函数创建对象</a:t>
            </a:r>
            <a:endParaRPr lang="en-US" altLang="zh-CN" dirty="0"/>
          </a:p>
          <a:p>
            <a:pPr lvl="4"/>
            <a:r>
              <a:rPr lang="en-US" altLang="zh-CN" dirty="0" smtClean="0"/>
              <a:t>name</a:t>
            </a:r>
            <a:r>
              <a:rPr lang="zh-CN" altLang="en-US" dirty="0" smtClean="0"/>
              <a:t>为文件名，不需要路径信息和扩展名；</a:t>
            </a:r>
            <a:r>
              <a:rPr lang="en-US" altLang="zh-CN" dirty="0" smtClean="0"/>
              <a:t>mode</a:t>
            </a:r>
            <a:r>
              <a:rPr lang="zh-CN" altLang="en-US" dirty="0" smtClean="0"/>
              <a:t>为操作方式</a:t>
            </a:r>
            <a:endParaRPr lang="en-US" altLang="zh-CN" dirty="0"/>
          </a:p>
          <a:p>
            <a:pPr lvl="4"/>
            <a:r>
              <a:rPr lang="zh-CN" altLang="en-US" dirty="0" smtClean="0"/>
              <a:t>使用对象的</a:t>
            </a:r>
            <a:r>
              <a:rPr lang="en-US" altLang="zh-CN" dirty="0" smtClean="0"/>
              <a:t>.write(byte[] bytes)</a:t>
            </a:r>
            <a:r>
              <a:rPr lang="zh-CN" altLang="en-US" dirty="0" smtClean="0"/>
              <a:t>来写入二进制文件流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若为其它类型数据，则需要转换为二进制类型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使用对象的</a:t>
            </a:r>
            <a:r>
              <a:rPr lang="en-US" altLang="zh-CN" dirty="0" smtClean="0"/>
              <a:t>.close()</a:t>
            </a:r>
            <a:r>
              <a:rPr lang="zh-CN" altLang="en-US" dirty="0" smtClean="0"/>
              <a:t>来关闭对象</a:t>
            </a:r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4726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8.4 </a:t>
            </a:r>
            <a:r>
              <a:rPr lang="zh-CN" altLang="en-US" dirty="0" smtClean="0"/>
              <a:t>文件存储数据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8.4.1 </a:t>
            </a:r>
            <a:r>
              <a:rPr lang="zh-CN" altLang="en-US" dirty="0" smtClean="0"/>
              <a:t>程序私有文件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程序私有文件夹位置为：</a:t>
            </a:r>
            <a:r>
              <a:rPr lang="en-US" altLang="zh-CN" dirty="0" smtClean="0"/>
              <a:t>\data\data\&lt;</a:t>
            </a:r>
            <a:r>
              <a:rPr lang="zh-CN" altLang="en-US" dirty="0" smtClean="0"/>
              <a:t>应用程序包名</a:t>
            </a:r>
            <a:r>
              <a:rPr lang="en-US" altLang="zh-CN" dirty="0" smtClean="0"/>
              <a:t>&gt;</a:t>
            </a:r>
          </a:p>
          <a:p>
            <a:pPr lvl="2"/>
            <a:r>
              <a:rPr lang="zh-CN" altLang="en-US" dirty="0" smtClean="0"/>
              <a:t>默认情况下，仅本应用程序</a:t>
            </a:r>
            <a:r>
              <a:rPr lang="zh-CN" altLang="en-US" dirty="0"/>
              <a:t>可</a:t>
            </a:r>
            <a:r>
              <a:rPr lang="zh-CN" altLang="en-US" dirty="0" smtClean="0"/>
              <a:t>访问文件夹下数据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支持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IO</a:t>
            </a:r>
            <a:r>
              <a:rPr lang="zh-CN" altLang="en-US" dirty="0" smtClean="0"/>
              <a:t>文件操作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</a:t>
            </a:r>
            <a:r>
              <a:rPr lang="en-US" altLang="zh-CN" dirty="0" err="1" smtClean="0">
                <a:solidFill>
                  <a:srgbClr val="FF0000"/>
                </a:solidFill>
              </a:rPr>
              <a:t>FileInputStream</a:t>
            </a:r>
            <a:r>
              <a:rPr lang="zh-CN" altLang="en-US" dirty="0" smtClean="0"/>
              <a:t>类对象来读取文件信息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创建方法：</a:t>
            </a:r>
            <a:r>
              <a:rPr lang="en-US" altLang="zh-CN" dirty="0" err="1" smtClean="0">
                <a:solidFill>
                  <a:srgbClr val="FF0000"/>
                </a:solidFill>
              </a:rPr>
              <a:t>openFileInput</a:t>
            </a:r>
            <a:r>
              <a:rPr lang="en-US" altLang="zh-CN" dirty="0" smtClean="0">
                <a:solidFill>
                  <a:srgbClr val="FF0000"/>
                </a:solidFill>
              </a:rPr>
              <a:t>(String name)</a:t>
            </a:r>
            <a:r>
              <a:rPr lang="zh-CN" altLang="en-US" dirty="0" smtClean="0"/>
              <a:t>创建对象</a:t>
            </a:r>
            <a:endParaRPr lang="en-US" altLang="zh-CN" dirty="0"/>
          </a:p>
          <a:p>
            <a:pPr lvl="4"/>
            <a:r>
              <a:rPr lang="zh-CN" altLang="en-US" dirty="0" smtClean="0"/>
              <a:t>使用对象的</a:t>
            </a:r>
            <a:r>
              <a:rPr lang="en-US" altLang="zh-CN" dirty="0" smtClean="0"/>
              <a:t>.read(byte[] bytes)</a:t>
            </a:r>
            <a:r>
              <a:rPr lang="zh-CN" altLang="en-US" dirty="0" smtClean="0"/>
              <a:t>来读取二进制文件流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将读取的二进制数据流，转换为原本的数据信息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8181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8.4 </a:t>
            </a:r>
            <a:r>
              <a:rPr lang="zh-CN" altLang="en-US" dirty="0" smtClean="0"/>
              <a:t>文件存储数据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8.4.1 </a:t>
            </a:r>
            <a:r>
              <a:rPr lang="zh-CN" altLang="en-US" dirty="0" smtClean="0"/>
              <a:t>程序私有文件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例：使用</a:t>
            </a:r>
            <a:r>
              <a:rPr lang="en-US" altLang="zh-CN" dirty="0" err="1" smtClean="0">
                <a:solidFill>
                  <a:srgbClr val="FF0000"/>
                </a:solidFill>
              </a:rPr>
              <a:t>FileOutputStream</a:t>
            </a:r>
            <a:r>
              <a:rPr lang="zh-CN" altLang="en-US" dirty="0" smtClean="0"/>
              <a:t>类对象来创建并文件信息</a:t>
            </a:r>
            <a:endParaRPr lang="en-US" altLang="zh-CN" dirty="0" smtClean="0"/>
          </a:p>
          <a:p>
            <a:pPr lvl="3"/>
            <a:endParaRPr lang="en-US" altLang="zh-CN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3767428"/>
            <a:ext cx="7481989" cy="2613900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96263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8.4 </a:t>
            </a:r>
            <a:r>
              <a:rPr lang="zh-CN" altLang="en-US" dirty="0" smtClean="0"/>
              <a:t>文件存储数据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8.4.1 </a:t>
            </a:r>
            <a:r>
              <a:rPr lang="zh-CN" altLang="en-US" dirty="0" smtClean="0"/>
              <a:t>程序私有文件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例：使用</a:t>
            </a:r>
            <a:r>
              <a:rPr lang="en-US" altLang="zh-CN" dirty="0" err="1" smtClean="0">
                <a:solidFill>
                  <a:srgbClr val="FF0000"/>
                </a:solidFill>
              </a:rPr>
              <a:t>FileInputStream</a:t>
            </a:r>
            <a:r>
              <a:rPr lang="zh-CN" altLang="en-US" dirty="0" smtClean="0"/>
              <a:t>类对象来读取文件信息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717032"/>
            <a:ext cx="7410450" cy="2762250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45860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8.4 </a:t>
            </a:r>
            <a:r>
              <a:rPr lang="zh-CN" altLang="en-US" dirty="0" smtClean="0"/>
              <a:t>文件存储数据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8.4.2 </a:t>
            </a:r>
            <a:r>
              <a:rPr lang="zh-CN" altLang="en-US" dirty="0" smtClean="0"/>
              <a:t>读</a:t>
            </a:r>
            <a:r>
              <a:rPr lang="en-US" altLang="zh-CN" dirty="0" smtClean="0"/>
              <a:t>/</a:t>
            </a:r>
            <a:r>
              <a:rPr lang="zh-CN" altLang="en-US" dirty="0" smtClean="0"/>
              <a:t>写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卡文件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读写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卡，需要在</a:t>
            </a:r>
            <a:r>
              <a:rPr lang="en-US" altLang="zh-CN" dirty="0" smtClean="0"/>
              <a:t>AndroidManifest.xml</a:t>
            </a:r>
            <a:r>
              <a:rPr lang="zh-CN" altLang="en-US" dirty="0" smtClean="0"/>
              <a:t>中设置相关权限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创建相关权限的指令如下：</a:t>
            </a:r>
            <a:endParaRPr lang="en-US" altLang="zh-CN" dirty="0" smtClean="0"/>
          </a:p>
          <a:p>
            <a:pPr lvl="3"/>
            <a:endParaRPr lang="en-US" altLang="zh-CN" dirty="0"/>
          </a:p>
          <a:p>
            <a:pPr lvl="3"/>
            <a:endParaRPr lang="en-US" altLang="zh-CN" dirty="0" smtClean="0"/>
          </a:p>
          <a:p>
            <a:pPr lvl="3"/>
            <a:endParaRPr lang="en-US" altLang="zh-CN" dirty="0"/>
          </a:p>
          <a:p>
            <a:pPr lvl="2"/>
            <a:r>
              <a:rPr lang="zh-CN" altLang="en-US" dirty="0" smtClean="0"/>
              <a:t>获取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卡的目录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File </a:t>
            </a:r>
            <a:r>
              <a:rPr lang="en-US" altLang="zh-CN" dirty="0" err="1" smtClean="0"/>
              <a:t>sdCardDir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Enviroment.getExternalStorageDirectory</a:t>
            </a:r>
            <a:r>
              <a:rPr lang="en-US" altLang="zh-CN" dirty="0" smtClean="0"/>
              <a:t>();</a:t>
            </a:r>
          </a:p>
          <a:p>
            <a:pPr lvl="3"/>
            <a:r>
              <a:rPr lang="zh-CN" altLang="en-US" dirty="0" smtClean="0"/>
              <a:t>或：</a:t>
            </a:r>
            <a:r>
              <a:rPr lang="en-US" altLang="zh-CN" dirty="0"/>
              <a:t>File </a:t>
            </a:r>
            <a:r>
              <a:rPr lang="en-US" altLang="zh-CN" dirty="0" err="1" smtClean="0"/>
              <a:t>sdCardDir</a:t>
            </a:r>
            <a:r>
              <a:rPr lang="en-US" altLang="zh-CN" dirty="0" smtClean="0"/>
              <a:t>=new File(“/</a:t>
            </a:r>
            <a:r>
              <a:rPr lang="en-US" altLang="zh-CN" dirty="0" err="1" smtClean="0"/>
              <a:t>sdcard</a:t>
            </a:r>
            <a:r>
              <a:rPr lang="en-US" altLang="zh-CN" dirty="0" smtClean="0"/>
              <a:t>”); //</a:t>
            </a:r>
            <a:r>
              <a:rPr lang="zh-CN" altLang="en-US" dirty="0" smtClean="0"/>
              <a:t>直接访问默认目录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880835"/>
            <a:ext cx="7200800" cy="83520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29333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8.4 </a:t>
            </a:r>
            <a:r>
              <a:rPr lang="zh-CN" altLang="en-US" dirty="0" smtClean="0"/>
              <a:t>文件存储数据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8.4.2 </a:t>
            </a:r>
            <a:r>
              <a:rPr lang="zh-CN" altLang="en-US" dirty="0" smtClean="0"/>
              <a:t>读</a:t>
            </a:r>
            <a:r>
              <a:rPr lang="en-US" altLang="zh-CN" dirty="0" smtClean="0"/>
              <a:t>/</a:t>
            </a:r>
            <a:r>
              <a:rPr lang="zh-CN" altLang="en-US" dirty="0" smtClean="0"/>
              <a:t>写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卡文件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</a:t>
            </a:r>
            <a:r>
              <a:rPr lang="en-US" altLang="zh-CN" dirty="0" smtClean="0"/>
              <a:t>File</a:t>
            </a:r>
            <a:r>
              <a:rPr lang="zh-CN" altLang="en-US" dirty="0" smtClean="0"/>
              <a:t>类来</a:t>
            </a:r>
            <a:r>
              <a:rPr lang="zh-CN" altLang="en-US" dirty="0"/>
              <a:t>写入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卡文件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</a:t>
            </a:r>
            <a:r>
              <a:rPr lang="en-US" altLang="zh-CN" dirty="0" smtClean="0"/>
              <a:t>File</a:t>
            </a:r>
            <a:r>
              <a:rPr lang="zh-CN" altLang="en-US" dirty="0" smtClean="0"/>
              <a:t>类的构造函数设置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卡文件，并指明路径和名称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File </a:t>
            </a:r>
            <a:r>
              <a:rPr lang="en-US" altLang="zh-CN" dirty="0" err="1" smtClean="0"/>
              <a:t>savefile</a:t>
            </a:r>
            <a:r>
              <a:rPr lang="en-US" altLang="zh-CN" dirty="0" smtClean="0"/>
              <a:t>=new File(String </a:t>
            </a:r>
            <a:r>
              <a:rPr lang="en-US" altLang="zh-CN" dirty="0" err="1" smtClean="0"/>
              <a:t>dir</a:t>
            </a:r>
            <a:r>
              <a:rPr lang="en-US" altLang="zh-CN" dirty="0" smtClean="0"/>
              <a:t>, String filename)</a:t>
            </a:r>
          </a:p>
          <a:p>
            <a:pPr lvl="3"/>
            <a:r>
              <a:rPr lang="zh-CN" altLang="en-US" smtClean="0"/>
              <a:t>创建</a:t>
            </a:r>
            <a:r>
              <a:rPr lang="en-US" altLang="zh-CN" dirty="0" err="1" smtClean="0"/>
              <a:t>FileOutputStream</a:t>
            </a:r>
            <a:r>
              <a:rPr lang="zh-CN" altLang="en-US" dirty="0" smtClean="0"/>
              <a:t>类对象来绑定</a:t>
            </a:r>
            <a:r>
              <a:rPr lang="en-US" altLang="zh-CN" dirty="0" smtClean="0"/>
              <a:t>File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FileOutputStream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fos</a:t>
            </a:r>
            <a:r>
              <a:rPr lang="en-US" altLang="zh-CN" dirty="0" smtClean="0"/>
              <a:t>= new </a:t>
            </a:r>
            <a:r>
              <a:rPr lang="en-US" altLang="zh-CN" dirty="0" err="1" smtClean="0"/>
              <a:t>FileOutputStream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savefile</a:t>
            </a:r>
            <a:r>
              <a:rPr lang="en-US" altLang="zh-CN" dirty="0" smtClean="0"/>
              <a:t>)</a:t>
            </a:r>
          </a:p>
          <a:p>
            <a:pPr lvl="3"/>
            <a:r>
              <a:rPr lang="zh-CN" altLang="en-US" dirty="0" smtClean="0"/>
              <a:t>通过</a:t>
            </a:r>
            <a:r>
              <a:rPr lang="en-US" altLang="zh-CN" dirty="0" err="1"/>
              <a:t>FileOutputStream</a:t>
            </a:r>
            <a:r>
              <a:rPr lang="zh-CN" altLang="en-US" dirty="0"/>
              <a:t>类</a:t>
            </a:r>
            <a:r>
              <a:rPr lang="zh-CN" altLang="en-US" dirty="0" smtClean="0"/>
              <a:t>对象将数据流写入到文件中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fos.write</a:t>
            </a:r>
            <a:r>
              <a:rPr lang="en-US" altLang="zh-CN" dirty="0" smtClean="0"/>
              <a:t>(byte[] bytes)</a:t>
            </a:r>
          </a:p>
          <a:p>
            <a:pPr lvl="2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4017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8.4 </a:t>
            </a:r>
            <a:r>
              <a:rPr lang="zh-CN" altLang="en-US" dirty="0" smtClean="0"/>
              <a:t>文件存储数据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8.4.2 </a:t>
            </a:r>
            <a:r>
              <a:rPr lang="zh-CN" altLang="en-US" dirty="0" smtClean="0"/>
              <a:t>读</a:t>
            </a:r>
            <a:r>
              <a:rPr lang="en-US" altLang="zh-CN" dirty="0" smtClean="0"/>
              <a:t>/</a:t>
            </a:r>
            <a:r>
              <a:rPr lang="zh-CN" altLang="en-US" dirty="0" smtClean="0"/>
              <a:t>写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卡文件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</a:t>
            </a:r>
            <a:r>
              <a:rPr lang="en-US" altLang="zh-CN" dirty="0" smtClean="0"/>
              <a:t>File</a:t>
            </a:r>
            <a:r>
              <a:rPr lang="zh-CN" altLang="en-US" dirty="0" smtClean="0"/>
              <a:t>类来读取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卡文件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</a:t>
            </a:r>
            <a:r>
              <a:rPr lang="en-US" altLang="zh-CN" dirty="0" smtClean="0"/>
              <a:t>File</a:t>
            </a:r>
            <a:r>
              <a:rPr lang="zh-CN" altLang="en-US" dirty="0" smtClean="0"/>
              <a:t>类的构造函数设置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卡文件，并指明路径和名称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File </a:t>
            </a:r>
            <a:r>
              <a:rPr lang="en-US" altLang="zh-CN" dirty="0" err="1" smtClean="0"/>
              <a:t>readfile</a:t>
            </a:r>
            <a:r>
              <a:rPr lang="en-US" altLang="zh-CN" dirty="0" smtClean="0"/>
              <a:t>=new File(String </a:t>
            </a:r>
            <a:r>
              <a:rPr lang="en-US" altLang="zh-CN" dirty="0" err="1" smtClean="0"/>
              <a:t>dir</a:t>
            </a:r>
            <a:r>
              <a:rPr lang="en-US" altLang="zh-CN" dirty="0" smtClean="0"/>
              <a:t>, String filename)</a:t>
            </a:r>
          </a:p>
          <a:p>
            <a:pPr lvl="3"/>
            <a:r>
              <a:rPr lang="zh-CN" altLang="en-US" dirty="0" smtClean="0"/>
              <a:t>创建</a:t>
            </a:r>
            <a:r>
              <a:rPr lang="en-US" altLang="zh-CN" dirty="0" err="1" smtClean="0"/>
              <a:t>FileInputStream</a:t>
            </a:r>
            <a:r>
              <a:rPr lang="zh-CN" altLang="en-US" dirty="0" smtClean="0"/>
              <a:t>类对象来绑定</a:t>
            </a:r>
            <a:r>
              <a:rPr lang="en-US" altLang="zh-CN" dirty="0" smtClean="0"/>
              <a:t>File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FileInputStream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fis</a:t>
            </a:r>
            <a:r>
              <a:rPr lang="en-US" altLang="zh-CN" dirty="0" smtClean="0"/>
              <a:t>= new </a:t>
            </a:r>
            <a:r>
              <a:rPr lang="en-US" altLang="zh-CN" dirty="0" err="1" smtClean="0"/>
              <a:t>FileOutputStream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readfile</a:t>
            </a:r>
            <a:r>
              <a:rPr lang="en-US" altLang="zh-CN" dirty="0" smtClean="0"/>
              <a:t>)</a:t>
            </a:r>
          </a:p>
          <a:p>
            <a:pPr lvl="3"/>
            <a:r>
              <a:rPr lang="zh-CN" altLang="en-US" dirty="0" smtClean="0"/>
              <a:t>通过</a:t>
            </a:r>
            <a:r>
              <a:rPr lang="en-US" altLang="zh-CN" dirty="0" err="1" smtClean="0"/>
              <a:t>FileInputStream</a:t>
            </a:r>
            <a:r>
              <a:rPr lang="zh-CN" altLang="en-US" dirty="0"/>
              <a:t>类</a:t>
            </a:r>
            <a:r>
              <a:rPr lang="zh-CN" altLang="en-US" dirty="0" smtClean="0"/>
              <a:t>对象将数据流写入到文件中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定义一个</a:t>
            </a:r>
            <a:r>
              <a:rPr lang="en-US" altLang="zh-CN" dirty="0" smtClean="0"/>
              <a:t>byte[] </a:t>
            </a:r>
            <a:r>
              <a:rPr lang="zh-CN" altLang="en-US" dirty="0" smtClean="0"/>
              <a:t>数组，用来存放读取的二进制数据流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fis.read</a:t>
            </a:r>
            <a:r>
              <a:rPr lang="en-US" altLang="zh-CN" dirty="0" smtClean="0"/>
              <a:t>(byte[] bytes)</a:t>
            </a:r>
            <a:r>
              <a:rPr lang="zh-CN" altLang="en-US" dirty="0" smtClean="0"/>
              <a:t>的方法，从文件读取二进制数据流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将二进制数据转化为原有的数据类型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9608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8.4 </a:t>
            </a:r>
            <a:r>
              <a:rPr lang="zh-CN" altLang="en-US" dirty="0" smtClean="0"/>
              <a:t>文件存储数据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8.4.2 </a:t>
            </a:r>
            <a:r>
              <a:rPr lang="zh-CN" altLang="en-US" dirty="0" smtClean="0"/>
              <a:t>读</a:t>
            </a:r>
            <a:r>
              <a:rPr lang="en-US" altLang="zh-CN" dirty="0" smtClean="0"/>
              <a:t>/</a:t>
            </a:r>
            <a:r>
              <a:rPr lang="zh-CN" altLang="en-US" dirty="0" smtClean="0"/>
              <a:t>写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卡文件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实例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：实现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卡文件的读写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实例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：遍历</a:t>
            </a:r>
            <a:r>
              <a:rPr lang="en-US" altLang="zh-CN" dirty="0" smtClean="0"/>
              <a:t>SD</a:t>
            </a:r>
            <a:r>
              <a:rPr lang="zh-CN" altLang="en-US" dirty="0" smtClean="0"/>
              <a:t>卡中目录及文件的方法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通过创建</a:t>
            </a:r>
            <a:r>
              <a:rPr lang="en-US" altLang="zh-CN" dirty="0" smtClean="0"/>
              <a:t>File[]</a:t>
            </a:r>
            <a:r>
              <a:rPr lang="zh-CN" altLang="en-US" dirty="0" smtClean="0"/>
              <a:t>数组类型对象，利用构造函数获取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File[] files=new File(</a:t>
            </a:r>
            <a:r>
              <a:rPr lang="en-US" altLang="zh-CN" dirty="0" err="1" smtClean="0"/>
              <a:t>filepath</a:t>
            </a:r>
            <a:r>
              <a:rPr lang="en-US" altLang="zh-CN" dirty="0" smtClean="0"/>
              <a:t>).</a:t>
            </a:r>
            <a:r>
              <a:rPr lang="en-US" altLang="zh-CN" dirty="0" err="1" smtClean="0"/>
              <a:t>listFiles</a:t>
            </a:r>
            <a:r>
              <a:rPr lang="en-US" altLang="zh-CN" dirty="0" smtClean="0"/>
              <a:t>();</a:t>
            </a:r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ListView</a:t>
            </a:r>
            <a:r>
              <a:rPr lang="zh-CN" altLang="en-US" dirty="0" smtClean="0"/>
              <a:t>控件来显示目录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ArrayAdapter</a:t>
            </a:r>
            <a:r>
              <a:rPr lang="zh-CN" altLang="en-US" dirty="0" smtClean="0"/>
              <a:t>将目录中的信息，绑定到</a:t>
            </a:r>
            <a:r>
              <a:rPr lang="en-US" altLang="zh-CN" dirty="0" err="1" smtClean="0"/>
              <a:t>ListView</a:t>
            </a:r>
            <a:r>
              <a:rPr lang="zh-CN" altLang="en-US" dirty="0" smtClean="0"/>
              <a:t>中显示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</a:t>
            </a:r>
            <a:r>
              <a:rPr lang="en-US" altLang="zh-CN" dirty="0" err="1" smtClean="0"/>
              <a:t>ListView</a:t>
            </a:r>
            <a:r>
              <a:rPr lang="zh-CN" altLang="en-US" dirty="0" smtClean="0"/>
              <a:t>控件的点击事件，来进入选中的目录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主要函数实现：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获取选定文件夹中的文件列表，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将文件列表显示到到</a:t>
            </a:r>
            <a:r>
              <a:rPr lang="en-US" altLang="zh-CN" dirty="0" err="1" smtClean="0"/>
              <a:t>ListView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lvl="5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8267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8.4 </a:t>
            </a:r>
            <a:r>
              <a:rPr lang="zh-CN" altLang="en-US" dirty="0"/>
              <a:t>文件存储数据</a:t>
            </a:r>
            <a:endParaRPr lang="en-US" altLang="zh-CN" dirty="0"/>
          </a:p>
          <a:p>
            <a:pPr lvl="1"/>
            <a:r>
              <a:rPr lang="en-US" altLang="zh-CN" dirty="0"/>
              <a:t>8.4.2 </a:t>
            </a:r>
            <a:r>
              <a:rPr lang="zh-CN" altLang="en-US" dirty="0"/>
              <a:t>读</a:t>
            </a:r>
            <a:r>
              <a:rPr lang="en-US" altLang="zh-CN" dirty="0"/>
              <a:t>/</a:t>
            </a:r>
            <a:r>
              <a:rPr lang="zh-CN" altLang="en-US" dirty="0"/>
              <a:t>写</a:t>
            </a:r>
            <a:r>
              <a:rPr lang="en-US" altLang="zh-CN" dirty="0"/>
              <a:t>SD</a:t>
            </a:r>
            <a:r>
              <a:rPr lang="zh-CN" altLang="en-US" dirty="0"/>
              <a:t>卡文件</a:t>
            </a:r>
            <a:endParaRPr lang="en-US" altLang="zh-CN" dirty="0"/>
          </a:p>
          <a:p>
            <a:pPr lvl="2"/>
            <a:r>
              <a:rPr lang="zh-CN" altLang="en-US" dirty="0"/>
              <a:t>实例</a:t>
            </a:r>
            <a:r>
              <a:rPr lang="en-US" altLang="zh-CN" dirty="0"/>
              <a:t>1</a:t>
            </a:r>
            <a:r>
              <a:rPr lang="zh-CN" altLang="en-US" dirty="0"/>
              <a:t>：使用</a:t>
            </a:r>
            <a:r>
              <a:rPr lang="en-US" altLang="zh-CN" dirty="0"/>
              <a:t>File</a:t>
            </a:r>
            <a:r>
              <a:rPr lang="zh-CN" altLang="en-US" dirty="0"/>
              <a:t>类来写入</a:t>
            </a:r>
            <a:r>
              <a:rPr lang="en-US" altLang="zh-CN" dirty="0"/>
              <a:t>SD</a:t>
            </a:r>
            <a:r>
              <a:rPr lang="zh-CN" altLang="en-US" dirty="0"/>
              <a:t>卡文件</a:t>
            </a:r>
            <a:endParaRPr lang="en-US" altLang="zh-CN" dirty="0"/>
          </a:p>
          <a:p>
            <a:pPr lvl="4"/>
            <a:endParaRPr lang="en-US" altLang="zh-C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573016"/>
            <a:ext cx="6991350" cy="2886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65919734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8.4 </a:t>
            </a:r>
            <a:r>
              <a:rPr lang="zh-CN" altLang="en-US" dirty="0"/>
              <a:t>文件存储数据</a:t>
            </a:r>
            <a:endParaRPr lang="en-US" altLang="zh-CN" dirty="0"/>
          </a:p>
          <a:p>
            <a:pPr lvl="1"/>
            <a:r>
              <a:rPr lang="en-US" altLang="zh-CN" dirty="0"/>
              <a:t>8.4.2 </a:t>
            </a:r>
            <a:r>
              <a:rPr lang="zh-CN" altLang="en-US" dirty="0"/>
              <a:t>读</a:t>
            </a:r>
            <a:r>
              <a:rPr lang="en-US" altLang="zh-CN" dirty="0"/>
              <a:t>/</a:t>
            </a:r>
            <a:r>
              <a:rPr lang="zh-CN" altLang="en-US" dirty="0"/>
              <a:t>写</a:t>
            </a:r>
            <a:r>
              <a:rPr lang="en-US" altLang="zh-CN" dirty="0"/>
              <a:t>SD</a:t>
            </a:r>
            <a:r>
              <a:rPr lang="zh-CN" altLang="en-US" dirty="0"/>
              <a:t>卡文件</a:t>
            </a:r>
            <a:endParaRPr lang="en-US" altLang="zh-CN" dirty="0"/>
          </a:p>
          <a:p>
            <a:pPr lvl="2"/>
            <a:r>
              <a:rPr lang="zh-CN" altLang="en-US" dirty="0"/>
              <a:t>实例</a:t>
            </a:r>
            <a:r>
              <a:rPr lang="en-US" altLang="zh-CN" dirty="0"/>
              <a:t>1</a:t>
            </a:r>
            <a:r>
              <a:rPr lang="zh-CN" altLang="en-US" dirty="0"/>
              <a:t>：使用</a:t>
            </a:r>
            <a:r>
              <a:rPr lang="en-US" altLang="zh-CN" dirty="0"/>
              <a:t>File</a:t>
            </a:r>
            <a:r>
              <a:rPr lang="zh-CN" altLang="en-US" dirty="0"/>
              <a:t>类来读取</a:t>
            </a:r>
            <a:r>
              <a:rPr lang="en-US" altLang="zh-CN" dirty="0"/>
              <a:t>SD</a:t>
            </a:r>
            <a:r>
              <a:rPr lang="zh-CN" altLang="en-US" dirty="0"/>
              <a:t>卡文件</a:t>
            </a:r>
            <a:endParaRPr lang="en-US" altLang="zh-CN" dirty="0"/>
          </a:p>
          <a:p>
            <a:pPr lvl="4"/>
            <a:endParaRPr lang="en-US" altLang="zh-C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573016"/>
            <a:ext cx="6810375" cy="30861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0454788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692696"/>
            <a:ext cx="8229600" cy="1143000"/>
          </a:xfrm>
        </p:spPr>
        <p:txBody>
          <a:bodyPr/>
          <a:lstStyle/>
          <a:p>
            <a:r>
              <a:rPr lang="zh-CN" altLang="en-US" dirty="0"/>
              <a:t>八、数据存储和提供器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352928" cy="4922520"/>
          </a:xfrm>
        </p:spPr>
        <p:txBody>
          <a:bodyPr>
            <a:normAutofit/>
          </a:bodyPr>
          <a:lstStyle/>
          <a:p>
            <a:r>
              <a:rPr lang="en-US" altLang="zh-CN" dirty="0"/>
              <a:t>8.4 </a:t>
            </a:r>
            <a:r>
              <a:rPr lang="zh-CN" altLang="en-US" dirty="0"/>
              <a:t>文件存储数据</a:t>
            </a:r>
            <a:endParaRPr lang="en-US" altLang="zh-CN" dirty="0"/>
          </a:p>
          <a:p>
            <a:pPr lvl="1"/>
            <a:r>
              <a:rPr lang="en-US" altLang="zh-CN" dirty="0"/>
              <a:t>8.4.2 </a:t>
            </a:r>
            <a:r>
              <a:rPr lang="zh-CN" altLang="en-US" dirty="0"/>
              <a:t>读</a:t>
            </a:r>
            <a:r>
              <a:rPr lang="en-US" altLang="zh-CN" dirty="0"/>
              <a:t>/</a:t>
            </a:r>
            <a:r>
              <a:rPr lang="zh-CN" altLang="en-US" dirty="0"/>
              <a:t>写</a:t>
            </a:r>
            <a:r>
              <a:rPr lang="en-US" altLang="zh-CN" dirty="0"/>
              <a:t>SD</a:t>
            </a:r>
            <a:r>
              <a:rPr lang="zh-CN" altLang="en-US" dirty="0"/>
              <a:t>卡文件</a:t>
            </a:r>
            <a:endParaRPr lang="en-US" altLang="zh-CN" dirty="0"/>
          </a:p>
          <a:p>
            <a:pPr lvl="2"/>
            <a:r>
              <a:rPr lang="zh-CN" altLang="en-US" dirty="0"/>
              <a:t>实例</a:t>
            </a:r>
            <a:r>
              <a:rPr lang="en-US" altLang="zh-CN" dirty="0"/>
              <a:t>2</a:t>
            </a:r>
            <a:r>
              <a:rPr lang="zh-CN" altLang="en-US" dirty="0"/>
              <a:t>：遍历</a:t>
            </a:r>
            <a:r>
              <a:rPr lang="en-US" altLang="zh-CN" dirty="0"/>
              <a:t>SD</a:t>
            </a:r>
            <a:r>
              <a:rPr lang="zh-CN" altLang="en-US" dirty="0"/>
              <a:t>卡中目录及文件的方法</a:t>
            </a:r>
            <a:endParaRPr lang="en-US" altLang="zh-CN" dirty="0"/>
          </a:p>
          <a:p>
            <a:pPr lvl="5"/>
            <a:endParaRPr lang="en-US" altLang="zh-CN" dirty="0"/>
          </a:p>
          <a:p>
            <a:pPr lvl="3"/>
            <a:endParaRPr lang="en-US" altLang="zh-C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645024"/>
            <a:ext cx="7848872" cy="27083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38348947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10.1.1</a:t>
            </a:r>
            <a:r>
              <a:rPr lang="zh-CN" altLang="en-US" dirty="0" smtClean="0"/>
              <a:t>什么是进程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是</a:t>
            </a:r>
            <a:r>
              <a:rPr lang="zh-CN" altLang="en-US" dirty="0"/>
              <a:t>一个具有一定独立功能的程序关于某个数据集合的一次运行</a:t>
            </a:r>
            <a:r>
              <a:rPr lang="zh-CN" altLang="en-US" dirty="0" smtClean="0"/>
              <a:t>活动，是</a:t>
            </a:r>
            <a:r>
              <a:rPr lang="zh-CN" altLang="en-US" dirty="0"/>
              <a:t>操作系统动态执行的基本</a:t>
            </a:r>
            <a:r>
              <a:rPr lang="zh-CN" altLang="en-US" dirty="0" smtClean="0"/>
              <a:t>单元</a:t>
            </a:r>
            <a:endParaRPr lang="en-US" altLang="zh-CN" dirty="0" smtClean="0"/>
          </a:p>
          <a:p>
            <a:pPr lvl="3"/>
            <a:r>
              <a:rPr lang="zh-CN" altLang="en-US" dirty="0"/>
              <a:t>一</a:t>
            </a:r>
            <a:r>
              <a:rPr lang="zh-CN" altLang="en-US" dirty="0" smtClean="0"/>
              <a:t>个进程代表一个应用程序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该应用程序运行中自己的进程中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使用系统为其分配的堆内存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独立运行，不受其他应用程序或其他进程的影响</a:t>
            </a:r>
            <a:endParaRPr lang="en-US" altLang="zh-CN" dirty="0" smtClean="0"/>
          </a:p>
          <a:p>
            <a:pPr lvl="3"/>
            <a:r>
              <a:rPr lang="zh-CN" altLang="en-US" dirty="0"/>
              <a:t>一</a:t>
            </a:r>
            <a:r>
              <a:rPr lang="zh-CN" altLang="en-US" dirty="0" smtClean="0"/>
              <a:t>个进程可以同时运行多个应用程序，共享堆内存</a:t>
            </a:r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6831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10.1.1</a:t>
            </a:r>
            <a:r>
              <a:rPr lang="zh-CN" altLang="en-US" dirty="0" smtClean="0"/>
              <a:t>什么是进程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Android</a:t>
            </a:r>
            <a:r>
              <a:rPr lang="zh-CN" altLang="en-US" dirty="0" smtClean="0"/>
              <a:t>系统中，一个进程对应一个虚拟机</a:t>
            </a:r>
            <a:endParaRPr lang="en-US" altLang="zh-CN" dirty="0" smtClean="0"/>
          </a:p>
          <a:p>
            <a:pPr lvl="3"/>
            <a:r>
              <a:rPr lang="zh-CN" altLang="en-US" dirty="0"/>
              <a:t>缺省情况下，一个应用的所有组件都运行在同一个进程中</a:t>
            </a:r>
            <a:endParaRPr lang="en-US" altLang="zh-CN" dirty="0"/>
          </a:p>
          <a:p>
            <a:pPr lvl="4"/>
            <a:r>
              <a:rPr lang="zh-CN" altLang="en-US" dirty="0" smtClean="0"/>
              <a:t>当</a:t>
            </a:r>
            <a:r>
              <a:rPr lang="zh-CN" altLang="en-US" dirty="0"/>
              <a:t>启动一个应用程序组件时，如果该应用没有正在运行的其它程序组件，那么</a:t>
            </a:r>
            <a:r>
              <a:rPr lang="en-US" altLang="zh-CN" dirty="0"/>
              <a:t>Android</a:t>
            </a:r>
            <a:r>
              <a:rPr lang="zh-CN" altLang="en-US" dirty="0"/>
              <a:t>系统将为这个应用创建一个新</a:t>
            </a:r>
            <a:r>
              <a:rPr lang="zh-CN" altLang="en-US" dirty="0" smtClean="0"/>
              <a:t>进程用于</a:t>
            </a:r>
            <a:r>
              <a:rPr lang="zh-CN" altLang="en-US" dirty="0"/>
              <a:t>运行</a:t>
            </a:r>
            <a:r>
              <a:rPr lang="zh-CN" altLang="en-US" dirty="0" smtClean="0"/>
              <a:t>应用</a:t>
            </a:r>
            <a:endParaRPr lang="en-US" altLang="zh-CN" dirty="0" smtClean="0"/>
          </a:p>
          <a:p>
            <a:pPr lvl="4"/>
            <a:r>
              <a:rPr lang="zh-CN" altLang="en-US" dirty="0"/>
              <a:t>在启动一个应用程序组件时，这个应用已经有进程在运行（因为有应用的其它组件存在），那么这个应用程序组件将使用同一</a:t>
            </a:r>
            <a:r>
              <a:rPr lang="zh-CN" altLang="en-US" dirty="0" smtClean="0"/>
              <a:t>进程运行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你</a:t>
            </a:r>
            <a:r>
              <a:rPr lang="zh-CN" altLang="en-US" dirty="0"/>
              <a:t>可以使用不同进程来运行不同的组件，或者在进程中创建新的</a:t>
            </a:r>
            <a:r>
              <a:rPr lang="zh-CN" altLang="en-US" dirty="0" smtClean="0"/>
              <a:t>线程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r>
              <a:rPr lang="zh-CN" altLang="en-US" dirty="0" smtClean="0"/>
              <a:t>四</a:t>
            </a:r>
            <a:r>
              <a:rPr lang="zh-CN" altLang="en-US" dirty="0"/>
              <a:t>大组件</a:t>
            </a:r>
            <a:r>
              <a:rPr lang="zh-CN" altLang="en-US" dirty="0" smtClean="0"/>
              <a:t>，不能</a:t>
            </a:r>
            <a:r>
              <a:rPr lang="zh-CN" altLang="en-US" dirty="0"/>
              <a:t>算是完整的进程实例</a:t>
            </a:r>
            <a:r>
              <a:rPr lang="zh-CN" altLang="en-US" dirty="0" smtClean="0"/>
              <a:t>，只能</a:t>
            </a:r>
            <a:r>
              <a:rPr lang="zh-CN" altLang="en-US" dirty="0"/>
              <a:t>算是进程的组成部分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1737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10.1.2</a:t>
            </a:r>
            <a:r>
              <a:rPr lang="zh-CN" altLang="en-US" dirty="0" smtClean="0"/>
              <a:t>进程模型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基于用户</a:t>
            </a:r>
            <a:r>
              <a:rPr lang="en-US" altLang="zh-CN" dirty="0" smtClean="0"/>
              <a:t>ID</a:t>
            </a:r>
            <a:r>
              <a:rPr lang="zh-CN" altLang="en-US" dirty="0" smtClean="0"/>
              <a:t>的分配机制</a:t>
            </a:r>
            <a:endParaRPr lang="en-US" altLang="zh-CN" dirty="0" smtClean="0"/>
          </a:p>
          <a:p>
            <a:pPr lvl="3"/>
            <a:r>
              <a:rPr lang="zh-CN" altLang="en-US" dirty="0"/>
              <a:t>在</a:t>
            </a:r>
            <a:r>
              <a:rPr lang="zh-CN" altLang="en-US" dirty="0" smtClean="0"/>
              <a:t>安装应用程序时，</a:t>
            </a:r>
            <a:r>
              <a:rPr lang="en-US" altLang="zh-CN" dirty="0"/>
              <a:t>Android</a:t>
            </a:r>
            <a:r>
              <a:rPr lang="zh-CN" altLang="en-US" dirty="0"/>
              <a:t>系统会为每个程序分配一</a:t>
            </a:r>
            <a:r>
              <a:rPr lang="zh-CN" altLang="en-US" dirty="0" smtClean="0"/>
              <a:t>个用户</a:t>
            </a:r>
            <a:r>
              <a:rPr lang="en-US" altLang="zh-CN" dirty="0" smtClean="0"/>
              <a:t>ID</a:t>
            </a:r>
          </a:p>
          <a:p>
            <a:pPr lvl="4"/>
            <a:r>
              <a:rPr lang="zh-CN" altLang="en-US" dirty="0"/>
              <a:t>通过设置相应的权限，使其他应用不能访问此应用的数据和资源</a:t>
            </a:r>
            <a:endParaRPr lang="en-US" altLang="zh-CN" dirty="0"/>
          </a:p>
          <a:p>
            <a:pPr lvl="5"/>
            <a:r>
              <a:rPr lang="zh-CN" altLang="en-US" dirty="0" smtClean="0"/>
              <a:t>一</a:t>
            </a:r>
            <a:r>
              <a:rPr lang="zh-CN" altLang="en-US" dirty="0"/>
              <a:t>个用户</a:t>
            </a:r>
            <a:r>
              <a:rPr lang="en-US" altLang="zh-CN" dirty="0"/>
              <a:t>ID</a:t>
            </a:r>
            <a:r>
              <a:rPr lang="zh-CN" altLang="en-US" dirty="0"/>
              <a:t>识别一个应用程序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默认</a:t>
            </a:r>
            <a:r>
              <a:rPr lang="zh-CN" altLang="en-US" dirty="0"/>
              <a:t>情况下，每个</a:t>
            </a:r>
            <a:r>
              <a:rPr lang="en-US" altLang="zh-CN" dirty="0"/>
              <a:t>Android</a:t>
            </a:r>
            <a:r>
              <a:rPr lang="zh-CN" altLang="en-US" dirty="0"/>
              <a:t>应用程序运行在它自己的进程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lvl="5"/>
            <a:r>
              <a:rPr lang="zh-CN" altLang="en-US" dirty="0"/>
              <a:t>需要执行应用程序时，</a:t>
            </a:r>
            <a:r>
              <a:rPr lang="en-US" altLang="zh-CN" dirty="0"/>
              <a:t>Android</a:t>
            </a:r>
            <a:r>
              <a:rPr lang="zh-CN" altLang="en-US" dirty="0"/>
              <a:t>会启动一个虚拟机，即一个新的进程来</a:t>
            </a:r>
            <a:r>
              <a:rPr lang="zh-CN" altLang="en-US" dirty="0" smtClean="0"/>
              <a:t>执行</a:t>
            </a:r>
            <a:endParaRPr lang="en-US" altLang="zh-CN" dirty="0" smtClean="0"/>
          </a:p>
          <a:p>
            <a:pPr lvl="4"/>
            <a:r>
              <a:rPr lang="zh-CN" altLang="en-US" dirty="0"/>
              <a:t>不同的</a:t>
            </a:r>
            <a:r>
              <a:rPr lang="en-US" altLang="zh-CN" dirty="0"/>
              <a:t>Android</a:t>
            </a:r>
            <a:r>
              <a:rPr lang="zh-CN" altLang="en-US" dirty="0"/>
              <a:t>应用程序运行在相互隔离的环境中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490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10.1.2</a:t>
            </a:r>
            <a:r>
              <a:rPr lang="zh-CN" altLang="en-US" dirty="0" smtClean="0"/>
              <a:t>进程模型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基于用户</a:t>
            </a:r>
            <a:r>
              <a:rPr lang="en-US" altLang="zh-CN" dirty="0" smtClean="0"/>
              <a:t>ID</a:t>
            </a:r>
            <a:r>
              <a:rPr lang="zh-CN" altLang="en-US" dirty="0" smtClean="0"/>
              <a:t>的分配机制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若两</a:t>
            </a:r>
            <a:r>
              <a:rPr lang="zh-CN" altLang="en-US" dirty="0"/>
              <a:t>个应用程序的用户</a:t>
            </a:r>
            <a:r>
              <a:rPr lang="en-US" altLang="zh-CN" dirty="0" smtClean="0"/>
              <a:t>ID</a:t>
            </a:r>
            <a:r>
              <a:rPr lang="zh-CN" altLang="en-US" dirty="0"/>
              <a:t>相同</a:t>
            </a:r>
            <a:endParaRPr lang="en-US" altLang="zh-CN" dirty="0" smtClean="0"/>
          </a:p>
          <a:p>
            <a:pPr lvl="4"/>
            <a:r>
              <a:rPr lang="zh-CN" altLang="en-US" dirty="0"/>
              <a:t>这两个应用程序将运行在同一个进程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lvl="4"/>
            <a:r>
              <a:rPr lang="zh-CN" altLang="en-US" dirty="0"/>
              <a:t>两个应用程序使用同一份堆内存，使用同一个</a:t>
            </a:r>
            <a:r>
              <a:rPr lang="zh-CN" altLang="en-US" dirty="0" smtClean="0"/>
              <a:t>虚拟机</a:t>
            </a:r>
            <a:endParaRPr lang="en-US" altLang="zh-CN" dirty="0" smtClean="0"/>
          </a:p>
          <a:p>
            <a:pPr lvl="5"/>
            <a:r>
              <a:rPr lang="zh-CN" altLang="en-US" dirty="0"/>
              <a:t>要实现这个功能，首先必须使用相同的私钥签署这些</a:t>
            </a:r>
            <a:r>
              <a:rPr lang="zh-CN" altLang="en-US" dirty="0" smtClean="0"/>
              <a:t>应用程序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必须</a:t>
            </a:r>
            <a:r>
              <a:rPr lang="zh-CN" altLang="en-US" dirty="0"/>
              <a:t>使用</a:t>
            </a:r>
            <a:r>
              <a:rPr lang="en-US" altLang="zh-CN" dirty="0" err="1"/>
              <a:t>AndroidMani</a:t>
            </a:r>
            <a:r>
              <a:rPr lang="en-US" altLang="zh-CN" dirty="0"/>
              <a:t> fest.xml</a:t>
            </a:r>
            <a:r>
              <a:rPr lang="zh-CN" altLang="en-US" dirty="0"/>
              <a:t>文件给它们分配相同的 </a:t>
            </a:r>
            <a:r>
              <a:rPr lang="en-US" altLang="zh-CN" dirty="0"/>
              <a:t>Linux</a:t>
            </a:r>
            <a:r>
              <a:rPr lang="zh-CN" altLang="en-US" dirty="0"/>
              <a:t>用户</a:t>
            </a:r>
            <a:r>
              <a:rPr lang="en-US" altLang="zh-CN" dirty="0" smtClean="0"/>
              <a:t>ID</a:t>
            </a:r>
          </a:p>
          <a:p>
            <a:pPr lvl="5"/>
            <a:r>
              <a:rPr lang="zh-CN" altLang="en-US" dirty="0" smtClean="0"/>
              <a:t>通过</a:t>
            </a:r>
            <a:r>
              <a:rPr lang="zh-CN" altLang="en-US" dirty="0"/>
              <a:t>在</a:t>
            </a:r>
            <a:r>
              <a:rPr lang="en-US" altLang="zh-CN" dirty="0"/>
              <a:t>manifest</a:t>
            </a:r>
            <a:r>
              <a:rPr lang="zh-CN" altLang="en-US" dirty="0"/>
              <a:t>节点下得属性</a:t>
            </a:r>
            <a:r>
              <a:rPr lang="en-US" altLang="zh-CN" dirty="0" err="1"/>
              <a:t>android:shared</a:t>
            </a:r>
            <a:r>
              <a:rPr lang="en-US" altLang="zh-CN" dirty="0"/>
              <a:t> </a:t>
            </a:r>
            <a:r>
              <a:rPr lang="en-US" altLang="zh-CN" dirty="0" err="1"/>
              <a:t>UserId</a:t>
            </a:r>
            <a:r>
              <a:rPr lang="zh-CN" altLang="en-US" dirty="0"/>
              <a:t>来实现。</a:t>
            </a:r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2737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10.1.3 Android</a:t>
            </a:r>
            <a:r>
              <a:rPr lang="zh-CN" altLang="en-US" dirty="0" smtClean="0"/>
              <a:t>中进程的生命周期</a:t>
            </a:r>
            <a:endParaRPr lang="en-US" altLang="zh-CN" dirty="0" smtClean="0"/>
          </a:p>
          <a:p>
            <a:pPr lvl="2"/>
            <a:r>
              <a:rPr lang="en-US" altLang="zh-CN" dirty="0"/>
              <a:t>Android</a:t>
            </a:r>
            <a:r>
              <a:rPr lang="zh-CN" altLang="en-US" dirty="0"/>
              <a:t>系统会尽可能长的保持应用程序进程的</a:t>
            </a:r>
            <a:r>
              <a:rPr lang="zh-CN" altLang="en-US" dirty="0" smtClean="0"/>
              <a:t>运行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进程的“重要性层次表”</a:t>
            </a:r>
            <a:endParaRPr lang="en-US" altLang="zh-CN" dirty="0" smtClean="0"/>
          </a:p>
          <a:p>
            <a:pPr lvl="3"/>
            <a:r>
              <a:rPr lang="zh-CN" altLang="en-US" dirty="0"/>
              <a:t>需要清除旧的进程来释放资源以满足新或是重要的进程的</a:t>
            </a:r>
            <a:r>
              <a:rPr lang="zh-CN" altLang="en-US" dirty="0" smtClean="0"/>
              <a:t>运行</a:t>
            </a:r>
            <a:endParaRPr lang="en-US" altLang="zh-CN" dirty="0" smtClean="0"/>
          </a:p>
          <a:p>
            <a:pPr lvl="3"/>
            <a:r>
              <a:rPr lang="zh-CN" altLang="en-US" dirty="0"/>
              <a:t>为了决定哪些进程可以杀死，哪些进程需要</a:t>
            </a:r>
            <a:r>
              <a:rPr lang="zh-CN" altLang="en-US" dirty="0" smtClean="0"/>
              <a:t>保留</a:t>
            </a:r>
            <a:endParaRPr lang="en-US" altLang="zh-CN" dirty="0" smtClean="0"/>
          </a:p>
          <a:p>
            <a:pPr lvl="4"/>
            <a:r>
              <a:rPr lang="zh-CN" altLang="en-US" dirty="0"/>
              <a:t>根据运行在其中的应用程序组件和这些组件的状态</a:t>
            </a:r>
            <a:r>
              <a:rPr lang="zh-CN" altLang="en-US" dirty="0" smtClean="0"/>
              <a:t>，进行分级</a:t>
            </a:r>
            <a:endParaRPr lang="en-US" altLang="zh-CN" dirty="0" smtClean="0"/>
          </a:p>
          <a:p>
            <a:pPr lvl="4"/>
            <a:r>
              <a:rPr lang="zh-CN" altLang="en-US" dirty="0"/>
              <a:t>具有最低重要性的进程首先被</a:t>
            </a:r>
            <a:r>
              <a:rPr lang="zh-CN" altLang="en-US" dirty="0" smtClean="0"/>
              <a:t>杀死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次</a:t>
            </a:r>
            <a:r>
              <a:rPr lang="zh-CN" altLang="en-US" dirty="0"/>
              <a:t>重要性的进程为</a:t>
            </a:r>
            <a:r>
              <a:rPr lang="zh-CN" altLang="en-US" dirty="0" smtClean="0"/>
              <a:t>其次，直到</a:t>
            </a:r>
            <a:r>
              <a:rPr lang="zh-CN" altLang="en-US" dirty="0"/>
              <a:t>系统恢复所需的</a:t>
            </a:r>
            <a:r>
              <a:rPr lang="zh-CN" altLang="en-US" dirty="0" smtClean="0"/>
              <a:t>资源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3721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10.1.3 Android</a:t>
            </a:r>
            <a:r>
              <a:rPr lang="zh-CN" altLang="en-US" dirty="0" smtClean="0"/>
              <a:t>中进程的生命周期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进程的“重要性层次表”（由高到低）</a:t>
            </a:r>
            <a:endParaRPr lang="en-US" altLang="zh-CN" dirty="0" smtClean="0"/>
          </a:p>
          <a:p>
            <a:pPr lvl="3"/>
            <a:r>
              <a:rPr lang="zh-CN" altLang="en-US" dirty="0"/>
              <a:t> </a:t>
            </a:r>
            <a:r>
              <a:rPr lang="zh-CN" altLang="en-US" dirty="0" smtClean="0"/>
              <a:t>前台</a:t>
            </a:r>
            <a:r>
              <a:rPr lang="zh-CN" altLang="en-US" dirty="0"/>
              <a:t>进程</a:t>
            </a:r>
          </a:p>
          <a:p>
            <a:pPr lvl="3"/>
            <a:r>
              <a:rPr lang="zh-CN" altLang="en-US" dirty="0"/>
              <a:t> </a:t>
            </a:r>
            <a:r>
              <a:rPr lang="zh-CN" altLang="en-US" dirty="0" smtClean="0"/>
              <a:t>可见进程</a:t>
            </a:r>
            <a:endParaRPr lang="zh-CN" altLang="en-US" dirty="0"/>
          </a:p>
          <a:p>
            <a:pPr lvl="3"/>
            <a:r>
              <a:rPr lang="zh-CN" altLang="en-US" dirty="0"/>
              <a:t> </a:t>
            </a:r>
            <a:r>
              <a:rPr lang="zh-CN" altLang="en-US" dirty="0" smtClean="0"/>
              <a:t>服务</a:t>
            </a:r>
            <a:r>
              <a:rPr lang="zh-CN" altLang="en-US" dirty="0"/>
              <a:t>进程</a:t>
            </a:r>
          </a:p>
          <a:p>
            <a:pPr lvl="3"/>
            <a:r>
              <a:rPr lang="zh-CN" altLang="en-US" dirty="0"/>
              <a:t> </a:t>
            </a:r>
            <a:r>
              <a:rPr lang="zh-CN" altLang="en-US" dirty="0" smtClean="0"/>
              <a:t>背景</a:t>
            </a:r>
            <a:r>
              <a:rPr lang="zh-CN" altLang="en-US" dirty="0"/>
              <a:t>进程</a:t>
            </a:r>
          </a:p>
          <a:p>
            <a:pPr lvl="3"/>
            <a:r>
              <a:rPr lang="zh-CN" altLang="en-US" dirty="0"/>
              <a:t> </a:t>
            </a:r>
            <a:r>
              <a:rPr lang="zh-CN" altLang="en-US" dirty="0" smtClean="0"/>
              <a:t>空</a:t>
            </a:r>
            <a:r>
              <a:rPr lang="zh-CN" altLang="en-US" dirty="0"/>
              <a:t>进程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4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8867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10.1.5 </a:t>
            </a:r>
            <a:r>
              <a:rPr lang="zh-CN" altLang="en-US" dirty="0" smtClean="0"/>
              <a:t>什么是线程</a:t>
            </a:r>
            <a:endParaRPr lang="en-US" altLang="zh-CN" dirty="0" smtClean="0"/>
          </a:p>
          <a:p>
            <a:pPr lvl="2"/>
            <a:r>
              <a:rPr lang="zh-CN" altLang="en-US" dirty="0"/>
              <a:t>线程是进程中的一个</a:t>
            </a:r>
            <a:r>
              <a:rPr lang="zh-CN" altLang="en-US" dirty="0" smtClean="0"/>
              <a:t>实体</a:t>
            </a:r>
            <a:endParaRPr lang="en-US" altLang="zh-CN" dirty="0" smtClean="0"/>
          </a:p>
          <a:p>
            <a:pPr lvl="3"/>
            <a:r>
              <a:rPr lang="zh-CN" altLang="en-US" dirty="0"/>
              <a:t>基本思想是将</a:t>
            </a:r>
            <a:r>
              <a:rPr lang="zh-CN" altLang="en-US" dirty="0" smtClean="0"/>
              <a:t>程序执行</a:t>
            </a:r>
            <a:r>
              <a:rPr lang="zh-CN" altLang="en-US" dirty="0"/>
              <a:t>和资源分开，只拥有一点必不可少的</a:t>
            </a:r>
            <a:r>
              <a:rPr lang="zh-CN" altLang="en-US" dirty="0" smtClean="0"/>
              <a:t>资源</a:t>
            </a:r>
            <a:endParaRPr lang="en-US" altLang="zh-CN" dirty="0" smtClean="0"/>
          </a:p>
          <a:p>
            <a:pPr lvl="3"/>
            <a:r>
              <a:rPr lang="zh-CN" altLang="en-US" dirty="0">
                <a:solidFill>
                  <a:srgbClr val="FF0000"/>
                </a:solidFill>
              </a:rPr>
              <a:t>一个进程可拥有多个</a:t>
            </a:r>
            <a:r>
              <a:rPr lang="zh-CN" altLang="en-US" dirty="0" smtClean="0">
                <a:solidFill>
                  <a:srgbClr val="FF0000"/>
                </a:solidFill>
              </a:rPr>
              <a:t>线程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4"/>
            <a:r>
              <a:rPr lang="zh-CN" altLang="en-US" dirty="0" smtClean="0"/>
              <a:t>可以</a:t>
            </a:r>
            <a:r>
              <a:rPr lang="zh-CN" altLang="en-US" dirty="0"/>
              <a:t>和同属于同一进程的其他线程共享进程所拥有的所有</a:t>
            </a:r>
            <a:r>
              <a:rPr lang="zh-CN" altLang="en-US" dirty="0" smtClean="0"/>
              <a:t>资源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同</a:t>
            </a:r>
            <a:r>
              <a:rPr lang="zh-CN" altLang="en-US" dirty="0"/>
              <a:t>一进程中的线程之间可以并发</a:t>
            </a:r>
            <a:r>
              <a:rPr lang="zh-CN" altLang="en-US" dirty="0" smtClean="0"/>
              <a:t>执行，并发</a:t>
            </a:r>
            <a:r>
              <a:rPr lang="zh-CN" altLang="en-US" dirty="0"/>
              <a:t>程度可以获得显著的</a:t>
            </a:r>
            <a:r>
              <a:rPr lang="zh-CN" altLang="en-US" dirty="0" smtClean="0"/>
              <a:t>提高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线程</a:t>
            </a:r>
            <a:r>
              <a:rPr lang="zh-CN" altLang="en-US" dirty="0"/>
              <a:t>也具有许多进程所具有的特征，因此被称为轻型</a:t>
            </a:r>
            <a:r>
              <a:rPr lang="zh-CN" altLang="en-US" dirty="0" smtClean="0"/>
              <a:t>进程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启动应用</a:t>
            </a:r>
            <a:r>
              <a:rPr lang="zh-CN" altLang="en-US" dirty="0"/>
              <a:t>后</a:t>
            </a:r>
            <a:r>
              <a:rPr lang="zh-CN" altLang="en-US" dirty="0" smtClean="0"/>
              <a:t>，系统会</a:t>
            </a:r>
            <a:r>
              <a:rPr lang="zh-CN" altLang="en-US" dirty="0"/>
              <a:t>创建一个线程来运行该</a:t>
            </a:r>
            <a:r>
              <a:rPr lang="zh-CN" altLang="en-US" dirty="0" smtClean="0"/>
              <a:t>应用</a:t>
            </a:r>
            <a:endParaRPr lang="en-US" altLang="zh-CN" dirty="0" smtClean="0"/>
          </a:p>
          <a:p>
            <a:pPr lvl="4"/>
            <a:r>
              <a:rPr lang="zh-CN" altLang="en-US" dirty="0" smtClean="0">
                <a:solidFill>
                  <a:srgbClr val="FF0000"/>
                </a:solidFill>
              </a:rPr>
              <a:t>这个</a:t>
            </a:r>
            <a:r>
              <a:rPr lang="zh-CN" altLang="en-US" dirty="0">
                <a:solidFill>
                  <a:srgbClr val="FF0000"/>
                </a:solidFill>
              </a:rPr>
              <a:t>线程成为“主”</a:t>
            </a:r>
            <a:r>
              <a:rPr lang="zh-CN" altLang="en-US" dirty="0" smtClean="0">
                <a:solidFill>
                  <a:srgbClr val="FF0000"/>
                </a:solidFill>
              </a:rPr>
              <a:t>线程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4"/>
            <a:r>
              <a:rPr lang="zh-CN" altLang="en-US" dirty="0" smtClean="0"/>
              <a:t>主</a:t>
            </a:r>
            <a:r>
              <a:rPr lang="zh-CN" altLang="en-US" dirty="0"/>
              <a:t>线程主要负责处理与</a:t>
            </a:r>
            <a:r>
              <a:rPr lang="en-US" altLang="zh-CN" dirty="0"/>
              <a:t>UI</a:t>
            </a:r>
            <a:r>
              <a:rPr lang="zh-CN" altLang="en-US" dirty="0"/>
              <a:t>相关的</a:t>
            </a:r>
            <a:r>
              <a:rPr lang="zh-CN" altLang="en-US" dirty="0" smtClean="0"/>
              <a:t>事件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主</a:t>
            </a:r>
            <a:r>
              <a:rPr lang="zh-CN" altLang="en-US" dirty="0"/>
              <a:t>线程通常又被叫做</a:t>
            </a:r>
            <a:r>
              <a:rPr lang="en-US" altLang="zh-CN" dirty="0"/>
              <a:t>UI</a:t>
            </a:r>
            <a:r>
              <a:rPr lang="zh-CN" altLang="en-US" dirty="0"/>
              <a:t>线程。</a:t>
            </a:r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684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10.1.6 Android</a:t>
            </a:r>
            <a:r>
              <a:rPr lang="zh-CN" altLang="en-US" dirty="0" smtClean="0"/>
              <a:t>的线程模型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单线程模型</a:t>
            </a:r>
            <a:endParaRPr lang="en-US" altLang="zh-CN" dirty="0" smtClean="0"/>
          </a:p>
          <a:p>
            <a:pPr lvl="3"/>
            <a:r>
              <a:rPr lang="zh-CN" altLang="en-US" dirty="0"/>
              <a:t>一个进程中只能有一个线程在运行，剩下的线程必须等待当前的线程执行完了才能</a:t>
            </a:r>
            <a:r>
              <a:rPr lang="zh-CN" altLang="en-US" dirty="0" smtClean="0"/>
              <a:t>运行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线程安全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可以</a:t>
            </a:r>
            <a:r>
              <a:rPr lang="zh-CN" altLang="en-US" dirty="0"/>
              <a:t>同时被多个线程调用，而调用者不需要任何动作（同步）来确保线程的</a:t>
            </a:r>
            <a:r>
              <a:rPr lang="zh-CN" altLang="en-US" dirty="0" smtClean="0"/>
              <a:t>安全性</a:t>
            </a:r>
            <a:endParaRPr lang="zh-CN" altLang="en-US" dirty="0"/>
          </a:p>
          <a:p>
            <a:pPr lvl="3"/>
            <a:r>
              <a:rPr lang="zh-CN" altLang="en-US" dirty="0" smtClean="0"/>
              <a:t>当多</a:t>
            </a:r>
            <a:r>
              <a:rPr lang="zh-CN" altLang="en-US" dirty="0"/>
              <a:t>个线程访问一个类时，如果不用考虑这些线程在运行时环境下的调度和交替执行，并且不需要</a:t>
            </a:r>
            <a:r>
              <a:rPr lang="zh-CN" altLang="en-US" dirty="0" smtClean="0"/>
              <a:t>额外</a:t>
            </a:r>
            <a:r>
              <a:rPr lang="zh-CN" altLang="en-US" dirty="0"/>
              <a:t>的同步及在调用方代码不必作其他的协调，这个类的行为仍然是正确的，那么称这个类是线程</a:t>
            </a:r>
            <a:r>
              <a:rPr lang="zh-CN" altLang="en-US" dirty="0" smtClean="0"/>
              <a:t>安全的</a:t>
            </a:r>
            <a:r>
              <a:rPr lang="zh-CN" altLang="en-US" dirty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1146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10.1.6 Android</a:t>
            </a:r>
            <a:r>
              <a:rPr lang="zh-CN" altLang="en-US" dirty="0" smtClean="0"/>
              <a:t>的线程模型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Android</a:t>
            </a:r>
            <a:r>
              <a:rPr lang="zh-CN" altLang="en-US" dirty="0" smtClean="0"/>
              <a:t>是</a:t>
            </a:r>
            <a:r>
              <a:rPr lang="zh-CN" altLang="en-US" dirty="0" smtClean="0">
                <a:solidFill>
                  <a:srgbClr val="FF0000"/>
                </a:solidFill>
              </a:rPr>
              <a:t>单线程模型</a:t>
            </a:r>
            <a:r>
              <a:rPr lang="zh-CN" altLang="en-US" dirty="0" smtClean="0"/>
              <a:t>、</a:t>
            </a:r>
            <a:r>
              <a:rPr lang="zh-CN" altLang="en-US" dirty="0" smtClean="0">
                <a:solidFill>
                  <a:srgbClr val="FF0000"/>
                </a:solidFill>
              </a:rPr>
              <a:t>线程非安全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pPr lvl="2"/>
            <a:r>
              <a:rPr lang="zh-CN" altLang="en-US" dirty="0" smtClean="0">
                <a:solidFill>
                  <a:srgbClr val="C00000"/>
                </a:solidFill>
              </a:rPr>
              <a:t>开发中特别注意</a:t>
            </a:r>
            <a:r>
              <a:rPr lang="zh-CN" altLang="en-US" dirty="0" smtClean="0">
                <a:solidFill>
                  <a:srgbClr val="FF0000"/>
                </a:solidFill>
              </a:rPr>
              <a:t>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3"/>
            <a:r>
              <a:rPr lang="zh-CN" altLang="en-US" dirty="0" smtClean="0">
                <a:solidFill>
                  <a:srgbClr val="FF0000"/>
                </a:solidFill>
              </a:rPr>
              <a:t>不要阻塞</a:t>
            </a:r>
            <a:r>
              <a:rPr lang="en-US" altLang="zh-CN" dirty="0" smtClean="0">
                <a:solidFill>
                  <a:srgbClr val="FF0000"/>
                </a:solidFill>
              </a:rPr>
              <a:t>UI</a:t>
            </a:r>
            <a:r>
              <a:rPr lang="zh-CN" altLang="en-US" dirty="0" smtClean="0">
                <a:solidFill>
                  <a:srgbClr val="FF0000"/>
                </a:solidFill>
              </a:rPr>
              <a:t>线程（单线程模型导致）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4"/>
            <a:r>
              <a:rPr lang="zh-CN" altLang="en-US" dirty="0" smtClean="0"/>
              <a:t>会导致无法分发组件，绘制等，使得</a:t>
            </a:r>
            <a:r>
              <a:rPr lang="en-US" altLang="zh-CN" dirty="0" smtClean="0"/>
              <a:t>UI</a:t>
            </a:r>
            <a:r>
              <a:rPr lang="zh-CN" altLang="en-US" dirty="0" smtClean="0"/>
              <a:t>不再响应用户操作</a:t>
            </a:r>
            <a:endParaRPr lang="en-US" altLang="zh-CN" dirty="0" smtClean="0"/>
          </a:p>
          <a:p>
            <a:pPr lvl="4"/>
            <a:r>
              <a:rPr lang="zh-CN" altLang="en-US" dirty="0"/>
              <a:t>如果</a:t>
            </a:r>
            <a:r>
              <a:rPr lang="en-US" altLang="zh-CN" dirty="0"/>
              <a:t>UI</a:t>
            </a:r>
            <a:r>
              <a:rPr lang="zh-CN" altLang="en-US" dirty="0"/>
              <a:t>线程阻塞</a:t>
            </a:r>
            <a:r>
              <a:rPr lang="zh-CN" altLang="en-US" dirty="0" smtClean="0"/>
              <a:t>超过五秒钟，</a:t>
            </a:r>
            <a:r>
              <a:rPr lang="zh-CN" altLang="en-US" dirty="0"/>
              <a:t>系统</a:t>
            </a:r>
            <a:r>
              <a:rPr lang="zh-CN" altLang="en-US" dirty="0" smtClean="0"/>
              <a:t>将显示“应用程序无响应”对话框</a:t>
            </a:r>
            <a:endParaRPr lang="en-US" altLang="zh-CN" dirty="0" smtClean="0"/>
          </a:p>
          <a:p>
            <a:pPr lvl="3"/>
            <a:r>
              <a:rPr lang="zh-CN" altLang="en-US" dirty="0" smtClean="0">
                <a:solidFill>
                  <a:srgbClr val="FF0000"/>
                </a:solidFill>
              </a:rPr>
              <a:t>不要再非</a:t>
            </a:r>
            <a:r>
              <a:rPr lang="en-US" altLang="zh-CN" dirty="0" smtClean="0">
                <a:solidFill>
                  <a:srgbClr val="FF0000"/>
                </a:solidFill>
              </a:rPr>
              <a:t>UI</a:t>
            </a:r>
            <a:r>
              <a:rPr lang="zh-CN" altLang="en-US" dirty="0" smtClean="0">
                <a:solidFill>
                  <a:srgbClr val="FF0000"/>
                </a:solidFill>
              </a:rPr>
              <a:t>线程中调用和刷新</a:t>
            </a:r>
            <a:r>
              <a:rPr lang="en-US" altLang="zh-CN" dirty="0" smtClean="0">
                <a:solidFill>
                  <a:srgbClr val="FF0000"/>
                </a:solidFill>
              </a:rPr>
              <a:t>UI</a:t>
            </a:r>
            <a:r>
              <a:rPr lang="zh-CN" altLang="en-US" dirty="0" smtClean="0">
                <a:solidFill>
                  <a:srgbClr val="FF0000"/>
                </a:solidFill>
              </a:rPr>
              <a:t>相关的组件（线程非安全导致）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4"/>
            <a:r>
              <a:rPr lang="en-US" altLang="zh-CN" dirty="0" smtClean="0"/>
              <a:t>UI</a:t>
            </a:r>
            <a:r>
              <a:rPr lang="zh-CN" altLang="en-US" dirty="0" smtClean="0"/>
              <a:t>线程本身会对组件进行调用，其他线程调用必须进行协调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可在其他线程中完成特定操作，再反馈给</a:t>
            </a:r>
            <a:r>
              <a:rPr lang="en-US" altLang="zh-CN" dirty="0" smtClean="0"/>
              <a:t>UI</a:t>
            </a:r>
            <a:r>
              <a:rPr lang="zh-CN" altLang="en-US" dirty="0" smtClean="0"/>
              <a:t>线程进行</a:t>
            </a:r>
            <a:r>
              <a:rPr lang="en-US" altLang="zh-CN" dirty="0" smtClean="0"/>
              <a:t>UI</a:t>
            </a:r>
            <a:r>
              <a:rPr lang="zh-CN" altLang="en-US" dirty="0" smtClean="0"/>
              <a:t>组件的操作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这样所以的</a:t>
            </a:r>
            <a:r>
              <a:rPr lang="en-US" altLang="zh-CN" dirty="0" smtClean="0"/>
              <a:t>UI</a:t>
            </a:r>
            <a:r>
              <a:rPr lang="zh-CN" altLang="en-US" dirty="0" smtClean="0"/>
              <a:t>操作均有</a:t>
            </a:r>
            <a:r>
              <a:rPr lang="en-US" altLang="zh-CN" dirty="0" smtClean="0"/>
              <a:t>UI</a:t>
            </a:r>
            <a:r>
              <a:rPr lang="zh-CN" altLang="en-US" dirty="0" smtClean="0"/>
              <a:t>线程实现，避免出现访问冲突</a:t>
            </a:r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289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en-US" altLang="zh-CN" dirty="0" smtClean="0"/>
              <a:t>10.1.7 </a:t>
            </a:r>
            <a:r>
              <a:rPr lang="zh-CN" altLang="en-US" dirty="0" smtClean="0"/>
              <a:t>进程与线程</a:t>
            </a:r>
            <a:endParaRPr lang="en-US" altLang="zh-CN" dirty="0" smtClean="0"/>
          </a:p>
          <a:p>
            <a:pPr lvl="2"/>
            <a:r>
              <a:rPr lang="zh-CN" altLang="en-US" dirty="0"/>
              <a:t>一个</a:t>
            </a:r>
            <a:r>
              <a:rPr lang="en-US" altLang="zh-CN" dirty="0"/>
              <a:t>Android</a:t>
            </a:r>
            <a:r>
              <a:rPr lang="zh-CN" altLang="en-US" dirty="0"/>
              <a:t>应用</a:t>
            </a:r>
            <a:r>
              <a:rPr lang="zh-CN" altLang="en-US" dirty="0" smtClean="0"/>
              <a:t>只能有一</a:t>
            </a:r>
            <a:r>
              <a:rPr lang="zh-CN" altLang="en-US" dirty="0"/>
              <a:t>个进程，</a:t>
            </a:r>
            <a:r>
              <a:rPr lang="zh-CN" altLang="en-US" dirty="0" smtClean="0"/>
              <a:t>但可以</a:t>
            </a:r>
            <a:r>
              <a:rPr lang="zh-CN" altLang="en-US" dirty="0"/>
              <a:t>存在多个</a:t>
            </a:r>
            <a:r>
              <a:rPr lang="zh-CN" altLang="en-US" dirty="0" smtClean="0"/>
              <a:t>线程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一个进程</a:t>
            </a:r>
            <a:r>
              <a:rPr lang="zh-CN" altLang="en-US" dirty="0"/>
              <a:t>的内存</a:t>
            </a:r>
            <a:r>
              <a:rPr lang="zh-CN" altLang="en-US" dirty="0" smtClean="0"/>
              <a:t>不能被</a:t>
            </a:r>
            <a:r>
              <a:rPr lang="zh-CN" altLang="en-US" dirty="0"/>
              <a:t>其他进程</a:t>
            </a:r>
            <a:r>
              <a:rPr lang="zh-CN" altLang="en-US" dirty="0" smtClean="0"/>
              <a:t>使用，但能被进程中的线程共享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宏观</a:t>
            </a:r>
            <a:r>
              <a:rPr lang="zh-CN" altLang="en-US" dirty="0"/>
              <a:t>地讲所有的进程是并发执行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而</a:t>
            </a:r>
            <a:r>
              <a:rPr lang="zh-CN" altLang="en-US" dirty="0"/>
              <a:t>进程中的多个线程同时执行但并不是并发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系统</a:t>
            </a:r>
            <a:r>
              <a:rPr lang="zh-CN" altLang="en-US" dirty="0"/>
              <a:t>的</a:t>
            </a:r>
            <a:r>
              <a:rPr lang="en-US" altLang="zh-CN" dirty="0"/>
              <a:t>CPU</a:t>
            </a:r>
            <a:r>
              <a:rPr lang="zh-CN" altLang="en-US" dirty="0"/>
              <a:t>会根据应用的线程数触发每个线程执行的</a:t>
            </a:r>
            <a:r>
              <a:rPr lang="zh-CN" altLang="en-US" dirty="0" smtClean="0"/>
              <a:t>时刻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当</a:t>
            </a:r>
            <a:r>
              <a:rPr lang="en-US" altLang="zh-CN" dirty="0"/>
              <a:t>CPU</a:t>
            </a:r>
            <a:r>
              <a:rPr lang="zh-CN" altLang="en-US" dirty="0"/>
              <a:t>时间轮到分配某个线程执行</a:t>
            </a:r>
            <a:r>
              <a:rPr lang="zh-CN" altLang="en-US" dirty="0" smtClean="0"/>
              <a:t>时，线程</a:t>
            </a:r>
            <a:r>
              <a:rPr lang="zh-CN" altLang="en-US" dirty="0"/>
              <a:t>开始执行，执行到下一个</a:t>
            </a:r>
            <a:r>
              <a:rPr lang="zh-CN" altLang="en-US" dirty="0" smtClean="0"/>
              <a:t>线程开始执行的时刻，</a:t>
            </a:r>
            <a:r>
              <a:rPr lang="zh-CN" altLang="en-US" dirty="0"/>
              <a:t>依此轮询，直到线程执行结束。</a:t>
            </a:r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4312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zh-CN" altLang="en-US" dirty="0" smtClean="0"/>
              <a:t>实现线程的主要方法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通过继承</a:t>
            </a:r>
            <a:r>
              <a:rPr lang="en-US" altLang="zh-CN" dirty="0" smtClean="0"/>
              <a:t>Thread</a:t>
            </a:r>
            <a:r>
              <a:rPr lang="zh-CN" altLang="en-US" dirty="0" smtClean="0"/>
              <a:t>类来实现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定义一个线程类，继承</a:t>
            </a:r>
            <a:r>
              <a:rPr lang="en-US" altLang="zh-CN" dirty="0" smtClean="0"/>
              <a:t>Thread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重写该类中的</a:t>
            </a:r>
            <a:r>
              <a:rPr lang="en-US" altLang="zh-CN" dirty="0" smtClean="0"/>
              <a:t>run()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将需要通过线程执行的操作，写入该方法中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定义新建的线程类对象以实现线程操作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start()</a:t>
            </a:r>
            <a:r>
              <a:rPr lang="zh-CN" altLang="en-US" dirty="0" smtClean="0"/>
              <a:t>：启动线程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sleep()</a:t>
            </a:r>
            <a:r>
              <a:rPr lang="zh-CN" altLang="en-US" dirty="0" smtClean="0"/>
              <a:t>：线程休眠，交出</a:t>
            </a:r>
            <a:r>
              <a:rPr lang="en-US" altLang="zh-CN" dirty="0" err="1" smtClean="0"/>
              <a:t>cpu</a:t>
            </a:r>
            <a:r>
              <a:rPr lang="zh-CN" altLang="en-US" dirty="0" smtClean="0"/>
              <a:t>，线程进入阻塞态，不会释放锁</a:t>
            </a:r>
            <a:endParaRPr lang="en-US" altLang="zh-CN" dirty="0" smtClean="0"/>
          </a:p>
          <a:p>
            <a:pPr lvl="4"/>
            <a:r>
              <a:rPr lang="en-US" altLang="zh-CN" dirty="0"/>
              <a:t>w</a:t>
            </a:r>
            <a:r>
              <a:rPr lang="en-US" altLang="zh-CN" dirty="0" smtClean="0"/>
              <a:t>ait()</a:t>
            </a:r>
            <a:r>
              <a:rPr lang="zh-CN" altLang="en-US" dirty="0" smtClean="0"/>
              <a:t>：</a:t>
            </a:r>
            <a:r>
              <a:rPr lang="zh-CN" altLang="en-US" dirty="0"/>
              <a:t>交出</a:t>
            </a:r>
            <a:r>
              <a:rPr lang="en-US" altLang="zh-CN" dirty="0" err="1"/>
              <a:t>cpu</a:t>
            </a:r>
            <a:r>
              <a:rPr lang="zh-CN" altLang="en-US" dirty="0"/>
              <a:t>，线程进入阻塞态</a:t>
            </a:r>
            <a:r>
              <a:rPr lang="zh-CN" altLang="en-US" dirty="0" smtClean="0"/>
              <a:t>，并释放</a:t>
            </a:r>
            <a:r>
              <a:rPr lang="zh-CN" altLang="en-US" dirty="0"/>
              <a:t>锁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interrupt()</a:t>
            </a:r>
            <a:r>
              <a:rPr lang="zh-CN" altLang="en-US" dirty="0" smtClean="0"/>
              <a:t>：中断线程，停止正在运行的线程，线程必须在阻塞态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1184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zh-CN" altLang="en-US" dirty="0" smtClean="0"/>
              <a:t>实现线程的主要方法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通过继承</a:t>
            </a:r>
            <a:r>
              <a:rPr lang="en-US" altLang="zh-CN" dirty="0" smtClean="0"/>
              <a:t>Thread</a:t>
            </a:r>
            <a:r>
              <a:rPr lang="zh-CN" altLang="en-US" dirty="0" smtClean="0"/>
              <a:t>类来实现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Thread</a:t>
            </a:r>
            <a:r>
              <a:rPr lang="zh-CN" altLang="en-US" dirty="0" smtClean="0"/>
              <a:t>类的主要状态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New </a:t>
            </a:r>
            <a:r>
              <a:rPr lang="zh-CN" altLang="en-US" dirty="0" smtClean="0"/>
              <a:t>：一旦</a:t>
            </a:r>
            <a:r>
              <a:rPr lang="zh-CN" altLang="en-US" dirty="0"/>
              <a:t>被实例化之后就处于</a:t>
            </a:r>
            <a:r>
              <a:rPr lang="en-US" altLang="zh-CN" dirty="0"/>
              <a:t>new</a:t>
            </a:r>
            <a:r>
              <a:rPr lang="zh-CN" altLang="en-US" dirty="0" smtClean="0"/>
              <a:t>状态</a:t>
            </a:r>
            <a:endParaRPr lang="zh-CN" altLang="en-US" dirty="0"/>
          </a:p>
          <a:p>
            <a:pPr lvl="4"/>
            <a:r>
              <a:rPr lang="en-US" altLang="zh-CN" dirty="0" smtClean="0"/>
              <a:t>Runnable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</a:t>
            </a:r>
            <a:r>
              <a:rPr lang="zh-CN" altLang="en-US" dirty="0"/>
              <a:t>调用了</a:t>
            </a:r>
            <a:r>
              <a:rPr lang="en-US" altLang="zh-CN" dirty="0"/>
              <a:t>start</a:t>
            </a:r>
            <a:r>
              <a:rPr lang="zh-CN" altLang="en-US" dirty="0"/>
              <a:t>函数之后就处于</a:t>
            </a:r>
            <a:r>
              <a:rPr lang="en-US" altLang="zh-CN" dirty="0"/>
              <a:t>Runnable</a:t>
            </a:r>
            <a:r>
              <a:rPr lang="zh-CN" altLang="en-US" dirty="0" smtClean="0"/>
              <a:t>状态</a:t>
            </a:r>
            <a:endParaRPr lang="zh-CN" altLang="en-US" dirty="0"/>
          </a:p>
          <a:p>
            <a:pPr lvl="4"/>
            <a:r>
              <a:rPr lang="en-US" altLang="zh-CN" dirty="0" smtClean="0"/>
              <a:t>Running </a:t>
            </a:r>
            <a:r>
              <a:rPr lang="zh-CN" altLang="en-US" dirty="0" smtClean="0"/>
              <a:t>：线程</a:t>
            </a:r>
            <a:r>
              <a:rPr lang="zh-CN" altLang="en-US" dirty="0"/>
              <a:t>被</a:t>
            </a:r>
            <a:r>
              <a:rPr lang="en-US" altLang="zh-CN" dirty="0" err="1"/>
              <a:t>cpu</a:t>
            </a:r>
            <a:r>
              <a:rPr lang="zh-CN" altLang="en-US" dirty="0"/>
              <a:t>执行 调用</a:t>
            </a:r>
            <a:r>
              <a:rPr lang="en-US" altLang="zh-CN" dirty="0"/>
              <a:t>run</a:t>
            </a:r>
            <a:r>
              <a:rPr lang="zh-CN" altLang="en-US" dirty="0"/>
              <a:t>函数之后 就处于</a:t>
            </a:r>
            <a:r>
              <a:rPr lang="en-US" altLang="zh-CN" dirty="0"/>
              <a:t>Running</a:t>
            </a:r>
            <a:r>
              <a:rPr lang="zh-CN" altLang="en-US" dirty="0" smtClean="0"/>
              <a:t>状态</a:t>
            </a:r>
            <a:endParaRPr lang="zh-CN" altLang="en-US" dirty="0"/>
          </a:p>
          <a:p>
            <a:pPr lvl="4"/>
            <a:r>
              <a:rPr lang="en-US" altLang="zh-CN" dirty="0" smtClean="0"/>
              <a:t>Blocked</a:t>
            </a:r>
            <a:r>
              <a:rPr lang="zh-CN" altLang="en-US" dirty="0" smtClean="0"/>
              <a:t>：调用</a:t>
            </a:r>
            <a:r>
              <a:rPr lang="en-US" altLang="zh-CN" dirty="0" smtClean="0"/>
              <a:t>sleep</a:t>
            </a:r>
            <a:r>
              <a:rPr lang="en-US" altLang="zh-CN" dirty="0"/>
              <a:t>()</a:t>
            </a:r>
            <a:r>
              <a:rPr lang="zh-CN" altLang="en-US" dirty="0"/>
              <a:t>、</a:t>
            </a:r>
            <a:r>
              <a:rPr lang="en-US" altLang="zh-CN" dirty="0"/>
              <a:t>wait</a:t>
            </a:r>
            <a:r>
              <a:rPr lang="en-US" altLang="zh-CN" dirty="0" smtClean="0"/>
              <a:t>()</a:t>
            </a:r>
            <a:r>
              <a:rPr lang="zh-CN" altLang="en-US" dirty="0" smtClean="0"/>
              <a:t>等方法后，线程</a:t>
            </a:r>
            <a:r>
              <a:rPr lang="zh-CN" altLang="en-US" dirty="0"/>
              <a:t>处于</a:t>
            </a:r>
            <a:r>
              <a:rPr lang="en-US" altLang="zh-CN" dirty="0"/>
              <a:t>Blocked</a:t>
            </a:r>
            <a:r>
              <a:rPr lang="zh-CN" altLang="en-US" dirty="0" smtClean="0"/>
              <a:t>状态</a:t>
            </a:r>
            <a:endParaRPr lang="zh-CN" altLang="en-US" dirty="0"/>
          </a:p>
          <a:p>
            <a:pPr lvl="4"/>
            <a:r>
              <a:rPr lang="en-US" altLang="zh-CN" dirty="0" smtClean="0"/>
              <a:t>Dead</a:t>
            </a:r>
            <a:r>
              <a:rPr lang="zh-CN" altLang="en-US" dirty="0" smtClean="0"/>
              <a:t>：线程</a:t>
            </a:r>
            <a:r>
              <a:rPr lang="zh-CN" altLang="en-US" dirty="0"/>
              <a:t>的</a:t>
            </a:r>
            <a:r>
              <a:rPr lang="en-US" altLang="zh-CN" dirty="0"/>
              <a:t>run()</a:t>
            </a:r>
            <a:r>
              <a:rPr lang="zh-CN" altLang="en-US" dirty="0"/>
              <a:t>方法运行完毕或被中断或被异常</a:t>
            </a:r>
            <a:r>
              <a:rPr lang="zh-CN" altLang="en-US" dirty="0" smtClean="0"/>
              <a:t>退出后的状态</a:t>
            </a:r>
            <a:endParaRPr lang="zh-CN" altLang="en-US" dirty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7265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zh-CN" altLang="en-US" dirty="0" smtClean="0"/>
              <a:t>实现线程的主要方法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通过实现</a:t>
            </a:r>
            <a:r>
              <a:rPr lang="en-US" altLang="zh-CN" dirty="0" smtClean="0"/>
              <a:t>Runnable</a:t>
            </a:r>
            <a:r>
              <a:rPr lang="zh-CN" altLang="en-US" dirty="0" smtClean="0"/>
              <a:t>接口来实现</a:t>
            </a:r>
            <a:endParaRPr lang="en-US" altLang="zh-CN" dirty="0" smtClean="0"/>
          </a:p>
          <a:p>
            <a:pPr lvl="3"/>
            <a:r>
              <a:rPr lang="zh-CN" altLang="en-US" dirty="0"/>
              <a:t>和使用</a:t>
            </a:r>
            <a:r>
              <a:rPr lang="en-US" altLang="zh-CN" dirty="0"/>
              <a:t>Thread</a:t>
            </a:r>
            <a:r>
              <a:rPr lang="zh-CN" altLang="en-US" dirty="0" smtClean="0"/>
              <a:t>类似</a:t>
            </a:r>
            <a:endParaRPr lang="en-US" altLang="zh-CN" dirty="0"/>
          </a:p>
          <a:p>
            <a:pPr lvl="3"/>
            <a:r>
              <a:rPr lang="zh-CN" altLang="en-US" dirty="0" smtClean="0"/>
              <a:t>定义</a:t>
            </a:r>
            <a:r>
              <a:rPr lang="en-US" altLang="zh-CN" dirty="0" smtClean="0"/>
              <a:t>Runnable</a:t>
            </a:r>
            <a:r>
              <a:rPr lang="zh-CN" altLang="en-US" dirty="0" smtClean="0"/>
              <a:t>对象，并重写其中的</a:t>
            </a:r>
            <a:r>
              <a:rPr lang="en-US" altLang="zh-CN" dirty="0" smtClean="0"/>
              <a:t>run()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实现</a:t>
            </a:r>
            <a:r>
              <a:rPr lang="en-US" altLang="zh-CN" dirty="0" smtClean="0"/>
              <a:t>Callable</a:t>
            </a:r>
            <a:r>
              <a:rPr lang="zh-CN" altLang="en-US" dirty="0" smtClean="0"/>
              <a:t>接口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定义</a:t>
            </a:r>
            <a:r>
              <a:rPr lang="en-US" altLang="zh-CN" dirty="0" smtClean="0"/>
              <a:t>Callable</a:t>
            </a:r>
            <a:r>
              <a:rPr lang="zh-CN" altLang="en-US" dirty="0" smtClean="0"/>
              <a:t>对象，并重新其</a:t>
            </a:r>
            <a:r>
              <a:rPr lang="en-US" altLang="zh-CN" dirty="0" smtClean="0"/>
              <a:t>call()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2"/>
            <a:r>
              <a:rPr lang="zh-CN" altLang="en-US" dirty="0"/>
              <a:t>三</a:t>
            </a:r>
            <a:r>
              <a:rPr lang="zh-CN" altLang="en-US" dirty="0" smtClean="0"/>
              <a:t>种方法的区别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Callable</a:t>
            </a:r>
            <a:r>
              <a:rPr lang="zh-CN" altLang="en-US" dirty="0" smtClean="0"/>
              <a:t>可以返回值，其他两个方法不能返回值</a:t>
            </a:r>
            <a:endParaRPr lang="en-US" altLang="zh-CN" dirty="0" smtClean="0"/>
          </a:p>
          <a:p>
            <a:pPr lvl="3"/>
            <a:r>
              <a:rPr lang="en-US" altLang="zh-CN" dirty="0"/>
              <a:t>Callable</a:t>
            </a:r>
            <a:r>
              <a:rPr lang="zh-CN" altLang="en-US" dirty="0" smtClean="0"/>
              <a:t>可以抛出异常，</a:t>
            </a:r>
            <a:r>
              <a:rPr lang="zh-CN" altLang="en-US" dirty="0"/>
              <a:t>其他两个方法</a:t>
            </a:r>
            <a:r>
              <a:rPr lang="zh-CN" altLang="en-US" dirty="0" smtClean="0"/>
              <a:t>不能抛出异常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Callable</a:t>
            </a:r>
            <a:r>
              <a:rPr lang="zh-CN" altLang="en-US" dirty="0" smtClean="0"/>
              <a:t>可以获得一个</a:t>
            </a:r>
            <a:r>
              <a:rPr lang="en-US" altLang="zh-CN" dirty="0" smtClean="0"/>
              <a:t>Future</a:t>
            </a:r>
            <a:r>
              <a:rPr lang="zh-CN" altLang="en-US" dirty="0" smtClean="0"/>
              <a:t>对象，以了解任务的执行情况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1677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zh-CN" altLang="en-US" dirty="0" smtClean="0"/>
              <a:t>实现线程的主要方法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通过定义或继承</a:t>
            </a:r>
            <a:r>
              <a:rPr lang="en-US" altLang="zh-CN" dirty="0"/>
              <a:t>Thread</a:t>
            </a:r>
            <a:r>
              <a:rPr lang="zh-CN" altLang="en-US" dirty="0"/>
              <a:t>类来</a:t>
            </a:r>
            <a:r>
              <a:rPr lang="zh-CN" altLang="en-US" dirty="0" smtClean="0"/>
              <a:t>实现：实例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定义</a:t>
            </a:r>
            <a:r>
              <a:rPr lang="en-US" altLang="zh-CN" dirty="0" smtClean="0"/>
              <a:t>Thread</a:t>
            </a:r>
            <a:r>
              <a:rPr lang="zh-CN" altLang="en-US" dirty="0" smtClean="0"/>
              <a:t>对象后，要重写其</a:t>
            </a:r>
            <a:r>
              <a:rPr lang="en-US" altLang="zh-CN" dirty="0" smtClean="0"/>
              <a:t>run()</a:t>
            </a:r>
            <a:r>
              <a:rPr lang="zh-CN" altLang="en-US" dirty="0" smtClean="0"/>
              <a:t>方法；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也可以继承</a:t>
            </a:r>
            <a:r>
              <a:rPr lang="en-US" altLang="zh-CN" dirty="0" smtClean="0"/>
              <a:t>Thread</a:t>
            </a:r>
            <a:r>
              <a:rPr lang="zh-CN" altLang="en-US" dirty="0" smtClean="0"/>
              <a:t>类，重写</a:t>
            </a:r>
            <a:r>
              <a:rPr lang="en-US" altLang="zh-CN" dirty="0" smtClean="0"/>
              <a:t>run()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221088"/>
            <a:ext cx="7164288" cy="23677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07138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进程与线程</a:t>
            </a:r>
            <a:endParaRPr lang="en-US" altLang="zh-CN" dirty="0"/>
          </a:p>
          <a:p>
            <a:pPr lvl="1"/>
            <a:r>
              <a:rPr lang="zh-CN" altLang="en-US" dirty="0" smtClean="0"/>
              <a:t>实现线程的主要方法</a:t>
            </a:r>
            <a:endParaRPr lang="en-US" altLang="zh-CN" dirty="0" smtClean="0"/>
          </a:p>
          <a:p>
            <a:pPr lvl="2"/>
            <a:r>
              <a:rPr lang="zh-CN" altLang="en-US" dirty="0"/>
              <a:t>通过继承</a:t>
            </a:r>
            <a:r>
              <a:rPr lang="en-US" altLang="zh-CN" dirty="0"/>
              <a:t>Thread</a:t>
            </a:r>
            <a:r>
              <a:rPr lang="zh-CN" altLang="en-US" dirty="0"/>
              <a:t>类来</a:t>
            </a:r>
            <a:r>
              <a:rPr lang="zh-CN" altLang="en-US" dirty="0" smtClean="0"/>
              <a:t>实现：实例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创建线程类对象，启动线程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861048"/>
            <a:ext cx="6181725" cy="28289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6637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10.2 Handler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AsyncTask</a:t>
            </a:r>
            <a:endParaRPr lang="en-US" altLang="zh-CN" dirty="0"/>
          </a:p>
          <a:p>
            <a:pPr lvl="1"/>
            <a:r>
              <a:rPr lang="en-US" altLang="zh-CN" dirty="0" smtClean="0"/>
              <a:t>10.2.1 Handler</a:t>
            </a:r>
            <a:r>
              <a:rPr lang="zh-CN" altLang="en-US" dirty="0" smtClean="0"/>
              <a:t>的基本概念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Android </a:t>
            </a:r>
            <a:r>
              <a:rPr lang="zh-CN" altLang="en-US" dirty="0" smtClean="0"/>
              <a:t>提供</a:t>
            </a:r>
            <a:r>
              <a:rPr lang="zh-CN" altLang="en-US" dirty="0"/>
              <a:t>给开发者方便进行异步消息处理的类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解决线程之间的通信问题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子线程无法进行更新</a:t>
            </a:r>
            <a:r>
              <a:rPr lang="en-US" altLang="zh-CN" dirty="0" smtClean="0"/>
              <a:t>UI</a:t>
            </a:r>
            <a:r>
              <a:rPr lang="zh-CN" altLang="en-US" dirty="0" smtClean="0"/>
              <a:t>的操作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在子线程中处理耗时操作，并中完毕后通知主线程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Handler</a:t>
            </a:r>
            <a:r>
              <a:rPr lang="zh-CN" altLang="en-US" dirty="0" smtClean="0"/>
              <a:t>的运作过程中包含了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的消息机制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10.2.2 Android</a:t>
            </a:r>
            <a:r>
              <a:rPr lang="zh-CN" altLang="en-US" dirty="0"/>
              <a:t>的消息机制</a:t>
            </a:r>
            <a:endParaRPr lang="en-US" altLang="zh-CN" dirty="0"/>
          </a:p>
          <a:p>
            <a:pPr lvl="2"/>
            <a:r>
              <a:rPr lang="zh-CN" altLang="en-US" dirty="0" smtClean="0"/>
              <a:t>理解消息处理过程中涉及到的相关类及操作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通过使用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来理解消息机制</a:t>
            </a:r>
            <a:endParaRPr lang="en-US" altLang="zh-CN" dirty="0"/>
          </a:p>
          <a:p>
            <a:pPr lvl="4"/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8712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10.2 Handler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AsyncTask</a:t>
            </a:r>
            <a:endParaRPr lang="en-US" altLang="zh-CN" dirty="0"/>
          </a:p>
          <a:p>
            <a:pPr lvl="1"/>
            <a:r>
              <a:rPr lang="en-US" altLang="zh-CN" dirty="0"/>
              <a:t>10.2.2 Android</a:t>
            </a:r>
            <a:r>
              <a:rPr lang="zh-CN" altLang="en-US" dirty="0" smtClean="0"/>
              <a:t>的消息机制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Handler</a:t>
            </a:r>
            <a:r>
              <a:rPr lang="zh-CN" altLang="en-US" dirty="0" smtClean="0"/>
              <a:t>的使用方法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在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中使用</a:t>
            </a:r>
            <a:r>
              <a:rPr lang="en-US" altLang="zh-CN" dirty="0" smtClean="0"/>
              <a:t>Handler</a:t>
            </a:r>
          </a:p>
          <a:p>
            <a:pPr lvl="4"/>
            <a:r>
              <a:rPr lang="zh-CN" altLang="en-US" dirty="0" smtClean="0"/>
              <a:t>在</a:t>
            </a:r>
            <a:r>
              <a:rPr lang="zh-CN" altLang="en-US" dirty="0"/>
              <a:t>主线程创建一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对象，并重写其</a:t>
            </a:r>
            <a:r>
              <a:rPr lang="en-US" altLang="zh-CN" dirty="0" err="1" smtClean="0"/>
              <a:t>HandlerMessage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创建子线程对象，重写其</a:t>
            </a:r>
            <a:r>
              <a:rPr lang="en-US" altLang="zh-CN" dirty="0" smtClean="0"/>
              <a:t>run()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在</a:t>
            </a:r>
            <a:r>
              <a:rPr lang="en-US" altLang="zh-CN" dirty="0" smtClean="0"/>
              <a:t>run</a:t>
            </a:r>
            <a:r>
              <a:rPr lang="zh-CN" altLang="en-US" dirty="0" smtClean="0"/>
              <a:t>方法中，定义</a:t>
            </a:r>
            <a:r>
              <a:rPr lang="en-US" altLang="zh-CN" dirty="0" smtClean="0"/>
              <a:t>Message</a:t>
            </a:r>
            <a:r>
              <a:rPr lang="zh-CN" altLang="en-US" dirty="0" smtClean="0"/>
              <a:t>对象，设定传递的数据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通过</a:t>
            </a:r>
            <a:r>
              <a:rPr lang="zh-CN" altLang="en-US" dirty="0"/>
              <a:t>在主线程创建的</a:t>
            </a:r>
            <a:r>
              <a:rPr lang="en-US" altLang="zh-CN" dirty="0"/>
              <a:t>handler</a:t>
            </a:r>
            <a:r>
              <a:rPr lang="zh-CN" altLang="en-US" dirty="0"/>
              <a:t>对象</a:t>
            </a:r>
            <a:r>
              <a:rPr lang="zh-CN" altLang="en-US" dirty="0" smtClean="0"/>
              <a:t>发送该</a:t>
            </a:r>
            <a:r>
              <a:rPr lang="en-US" altLang="zh-CN" dirty="0" smtClean="0"/>
              <a:t>Message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在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对象重写的</a:t>
            </a:r>
            <a:r>
              <a:rPr lang="en-US" altLang="zh-CN" dirty="0" err="1" smtClean="0"/>
              <a:t>handleMessage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方法中</a:t>
            </a:r>
            <a:endParaRPr lang="en-US" altLang="zh-CN" dirty="0" smtClean="0"/>
          </a:p>
          <a:p>
            <a:pPr lvl="5"/>
            <a:r>
              <a:rPr lang="zh-CN" altLang="en-US" dirty="0" smtClean="0"/>
              <a:t>接受子线程的</a:t>
            </a:r>
            <a:r>
              <a:rPr lang="en-US" altLang="zh-CN" dirty="0" smtClean="0"/>
              <a:t>Message</a:t>
            </a:r>
            <a:r>
              <a:rPr lang="zh-CN" altLang="en-US" dirty="0" smtClean="0"/>
              <a:t>对象并进行处理</a:t>
            </a:r>
            <a:endParaRPr lang="en-US" altLang="zh-CN" dirty="0" smtClean="0"/>
          </a:p>
          <a:p>
            <a:pPr lvl="5"/>
            <a:r>
              <a:rPr lang="en-US" altLang="zh-CN" dirty="0" smtClean="0"/>
              <a:t>Message</a:t>
            </a:r>
            <a:r>
              <a:rPr lang="zh-CN" altLang="en-US" dirty="0" smtClean="0"/>
              <a:t>对象中包含的数据，就是子线程传递的数据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6332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10.2 Handler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AsyncTask</a:t>
            </a:r>
            <a:endParaRPr lang="en-US" altLang="zh-CN" dirty="0"/>
          </a:p>
          <a:p>
            <a:pPr lvl="1"/>
            <a:r>
              <a:rPr lang="en-US" altLang="zh-CN" dirty="0"/>
              <a:t>10.2.2 Android</a:t>
            </a:r>
            <a:r>
              <a:rPr lang="zh-CN" altLang="en-US" dirty="0" smtClean="0"/>
              <a:t>的消息机制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Handler</a:t>
            </a:r>
            <a:r>
              <a:rPr lang="zh-CN" altLang="en-US" dirty="0" smtClean="0"/>
              <a:t>的使用方法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在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中使用</a:t>
            </a:r>
            <a:r>
              <a:rPr lang="en-US" altLang="zh-CN" dirty="0" smtClean="0"/>
              <a:t>Handler</a:t>
            </a:r>
          </a:p>
          <a:p>
            <a:pPr lvl="4"/>
            <a:r>
              <a:rPr lang="zh-CN" altLang="en-US" dirty="0" smtClean="0"/>
              <a:t>首先定义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对象，确定在</a:t>
            </a:r>
            <a:r>
              <a:rPr lang="en-US" altLang="zh-CN" dirty="0" err="1" smtClean="0"/>
              <a:t>Hanlder</a:t>
            </a:r>
            <a:r>
              <a:rPr lang="zh-CN" altLang="en-US" dirty="0" smtClean="0"/>
              <a:t>中收到消息后的处理方式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221088"/>
            <a:ext cx="5534218" cy="25691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93307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10.2 Handler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AsyncTask</a:t>
            </a:r>
            <a:endParaRPr lang="en-US" altLang="zh-CN" dirty="0"/>
          </a:p>
          <a:p>
            <a:pPr lvl="1"/>
            <a:r>
              <a:rPr lang="en-US" altLang="zh-CN" dirty="0"/>
              <a:t>10.2.2 Android</a:t>
            </a:r>
            <a:r>
              <a:rPr lang="zh-CN" altLang="en-US" dirty="0" smtClean="0"/>
              <a:t>的消息机制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Handler</a:t>
            </a:r>
            <a:r>
              <a:rPr lang="zh-CN" altLang="en-US" dirty="0" smtClean="0"/>
              <a:t>的使用方法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在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中使用</a:t>
            </a:r>
            <a:r>
              <a:rPr lang="en-US" altLang="zh-CN" dirty="0" smtClean="0"/>
              <a:t>Handler</a:t>
            </a:r>
          </a:p>
          <a:p>
            <a:pPr lvl="4"/>
            <a:r>
              <a:rPr lang="zh-CN" altLang="en-US" dirty="0" smtClean="0"/>
              <a:t>定义线程对象，在执行完操作后，使用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对象发送消息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3"/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248834"/>
            <a:ext cx="4968552" cy="25333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5710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10.2 Handler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AsyncTask</a:t>
            </a:r>
            <a:endParaRPr lang="en-US" altLang="zh-CN" dirty="0"/>
          </a:p>
          <a:p>
            <a:pPr lvl="1"/>
            <a:r>
              <a:rPr lang="en-US" altLang="zh-CN" dirty="0"/>
              <a:t>10.2.2 Android</a:t>
            </a:r>
            <a:r>
              <a:rPr lang="zh-CN" altLang="en-US" dirty="0" smtClean="0"/>
              <a:t>的消息机制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与消息处理相关的类：</a:t>
            </a:r>
            <a:endParaRPr lang="zh-CN" altLang="en-US" dirty="0"/>
          </a:p>
          <a:p>
            <a:pPr lvl="3"/>
            <a:r>
              <a:rPr lang="en-US" altLang="zh-CN" dirty="0"/>
              <a:t>Message</a:t>
            </a:r>
            <a:r>
              <a:rPr lang="zh-CN" altLang="en-US" dirty="0"/>
              <a:t>：</a:t>
            </a:r>
            <a:r>
              <a:rPr lang="en-US" altLang="zh-CN" dirty="0"/>
              <a:t>Message</a:t>
            </a:r>
            <a:r>
              <a:rPr lang="zh-CN" altLang="en-US" dirty="0"/>
              <a:t>是在线程之间传递的</a:t>
            </a:r>
            <a:r>
              <a:rPr lang="zh-CN" altLang="en-US" dirty="0" smtClean="0"/>
              <a:t>消息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它</a:t>
            </a:r>
            <a:r>
              <a:rPr lang="zh-CN" altLang="en-US" dirty="0"/>
              <a:t>可以在内部携带少量的数据，用于线程之间交换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pPr lvl="4"/>
            <a:r>
              <a:rPr lang="en-US" altLang="zh-CN" dirty="0" smtClean="0"/>
              <a:t>Message</a:t>
            </a:r>
            <a:r>
              <a:rPr lang="zh-CN" altLang="en-US" dirty="0"/>
              <a:t>有四个常用的</a:t>
            </a:r>
            <a:r>
              <a:rPr lang="zh-CN" altLang="en-US" dirty="0" smtClean="0"/>
              <a:t>字段</a:t>
            </a:r>
            <a:endParaRPr lang="en-US" altLang="zh-CN" dirty="0" smtClean="0"/>
          </a:p>
          <a:p>
            <a:pPr lvl="5"/>
            <a:r>
              <a:rPr lang="en-US" altLang="zh-CN" dirty="0" smtClean="0"/>
              <a:t>what</a:t>
            </a:r>
            <a:r>
              <a:rPr lang="zh-CN" altLang="en-US" dirty="0"/>
              <a:t>字段，</a:t>
            </a:r>
            <a:r>
              <a:rPr lang="en-US" altLang="zh-CN" dirty="0"/>
              <a:t>arg1</a:t>
            </a:r>
            <a:r>
              <a:rPr lang="zh-CN" altLang="en-US" dirty="0"/>
              <a:t>字段，</a:t>
            </a:r>
            <a:r>
              <a:rPr lang="en-US" altLang="zh-CN" dirty="0"/>
              <a:t>arg2</a:t>
            </a:r>
            <a:r>
              <a:rPr lang="zh-CN" altLang="en-US" dirty="0" smtClean="0"/>
              <a:t>字段：可以存储整数</a:t>
            </a:r>
            <a:endParaRPr lang="en-US" altLang="zh-CN" dirty="0" smtClean="0"/>
          </a:p>
          <a:p>
            <a:pPr lvl="5"/>
            <a:r>
              <a:rPr lang="en-US" altLang="zh-CN" dirty="0" err="1" smtClean="0"/>
              <a:t>obj</a:t>
            </a:r>
            <a:r>
              <a:rPr lang="zh-CN" altLang="en-US" dirty="0" smtClean="0"/>
              <a:t>字段：可以存储对象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Handler</a:t>
            </a:r>
            <a:r>
              <a:rPr lang="zh-CN" altLang="en-US" dirty="0"/>
              <a:t>：它主要用于发送和处理</a:t>
            </a:r>
            <a:r>
              <a:rPr lang="zh-CN" altLang="en-US" dirty="0" smtClean="0"/>
              <a:t>消息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发送</a:t>
            </a:r>
            <a:r>
              <a:rPr lang="zh-CN" altLang="en-US" dirty="0"/>
              <a:t>消息一般使用</a:t>
            </a:r>
            <a:r>
              <a:rPr lang="en-US" altLang="zh-CN" dirty="0" err="1"/>
              <a:t>sendMessage</a:t>
            </a:r>
            <a:r>
              <a:rPr lang="zh-CN" altLang="en-US" dirty="0"/>
              <a:t>（）</a:t>
            </a:r>
            <a:r>
              <a:rPr lang="zh-CN" altLang="en-US" dirty="0" smtClean="0"/>
              <a:t>方法</a:t>
            </a:r>
            <a:endParaRPr lang="zh-CN" altLang="en-US" dirty="0"/>
          </a:p>
          <a:p>
            <a:pPr lvl="4"/>
            <a:r>
              <a:rPr lang="zh-CN" altLang="en-US" dirty="0"/>
              <a:t>而发出的</a:t>
            </a:r>
            <a:r>
              <a:rPr lang="zh-CN" altLang="en-US" dirty="0" smtClean="0"/>
              <a:t>消息最终</a:t>
            </a:r>
            <a:r>
              <a:rPr lang="zh-CN" altLang="en-US" dirty="0"/>
              <a:t>会传递到</a:t>
            </a:r>
            <a:r>
              <a:rPr lang="en-US" altLang="zh-CN" dirty="0"/>
              <a:t>Handler</a:t>
            </a:r>
            <a:r>
              <a:rPr lang="zh-CN" altLang="en-US" dirty="0"/>
              <a:t>的</a:t>
            </a:r>
            <a:r>
              <a:rPr lang="en-US" altLang="zh-CN" dirty="0" err="1"/>
              <a:t>handleMessage</a:t>
            </a:r>
            <a:r>
              <a:rPr lang="zh-CN" altLang="en-US" dirty="0"/>
              <a:t>方法</a:t>
            </a:r>
            <a:r>
              <a:rPr lang="zh-CN" altLang="en-US" dirty="0" smtClean="0"/>
              <a:t>中</a:t>
            </a:r>
            <a:endParaRPr lang="zh-CN" altLang="en-US" dirty="0"/>
          </a:p>
          <a:p>
            <a:pPr lvl="3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7609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10.2 Handler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AsyncTask</a:t>
            </a:r>
            <a:endParaRPr lang="en-US" altLang="zh-CN" dirty="0"/>
          </a:p>
          <a:p>
            <a:pPr lvl="1"/>
            <a:r>
              <a:rPr lang="en-US" altLang="zh-CN" dirty="0"/>
              <a:t>10.2.2 Android</a:t>
            </a:r>
            <a:r>
              <a:rPr lang="zh-CN" altLang="en-US" dirty="0" smtClean="0"/>
              <a:t>的消息机制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与消息处理相关的类：</a:t>
            </a:r>
            <a:endParaRPr lang="zh-CN" altLang="en-US" dirty="0"/>
          </a:p>
          <a:p>
            <a:pPr lvl="3"/>
            <a:r>
              <a:rPr lang="en-US" altLang="zh-CN" dirty="0" smtClean="0"/>
              <a:t>Message Queue</a:t>
            </a:r>
            <a:r>
              <a:rPr lang="zh-CN" altLang="en-US" dirty="0" smtClean="0"/>
              <a:t>：主要用于存放所有通过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发送的消息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消息</a:t>
            </a:r>
            <a:r>
              <a:rPr lang="zh-CN" altLang="en-US" dirty="0"/>
              <a:t>会一直存在于消息队列中，等待被</a:t>
            </a:r>
            <a:r>
              <a:rPr lang="zh-CN" altLang="en-US" dirty="0" smtClean="0"/>
              <a:t>处理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Looper</a:t>
            </a:r>
            <a:r>
              <a:rPr lang="zh-CN" altLang="en-US" dirty="0" smtClean="0"/>
              <a:t>：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MessageQueue</a:t>
            </a:r>
            <a:r>
              <a:rPr lang="zh-CN" altLang="en-US" dirty="0" smtClean="0"/>
              <a:t>之间的桥梁</a:t>
            </a:r>
            <a:endParaRPr lang="en-US" altLang="zh-CN" dirty="0" smtClean="0"/>
          </a:p>
          <a:p>
            <a:pPr lvl="4"/>
            <a:r>
              <a:rPr lang="en-US" altLang="zh-CN" dirty="0" err="1" smtClean="0"/>
              <a:t>Looper</a:t>
            </a:r>
            <a:r>
              <a:rPr lang="zh-CN" altLang="en-US" dirty="0" smtClean="0"/>
              <a:t>通过不停循环，发现</a:t>
            </a:r>
            <a:r>
              <a:rPr lang="en-US" altLang="zh-CN" dirty="0"/>
              <a:t>Message Queue</a:t>
            </a:r>
            <a:r>
              <a:rPr lang="zh-CN" altLang="en-US" dirty="0"/>
              <a:t>中</a:t>
            </a:r>
            <a:r>
              <a:rPr lang="zh-CN" altLang="en-US" dirty="0" smtClean="0"/>
              <a:t>存在新消息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就</a:t>
            </a:r>
            <a:r>
              <a:rPr lang="zh-CN" altLang="en-US" dirty="0"/>
              <a:t>会将它</a:t>
            </a:r>
            <a:r>
              <a:rPr lang="zh-CN" altLang="en-US" dirty="0" smtClean="0"/>
              <a:t>取出并</a:t>
            </a:r>
            <a:r>
              <a:rPr lang="zh-CN" altLang="en-US" dirty="0"/>
              <a:t>传递到</a:t>
            </a:r>
            <a:r>
              <a:rPr lang="en-US" altLang="zh-CN" dirty="0"/>
              <a:t>Handler</a:t>
            </a:r>
            <a:r>
              <a:rPr lang="zh-CN" altLang="en-US" dirty="0"/>
              <a:t>的</a:t>
            </a:r>
            <a:r>
              <a:rPr lang="en-US" altLang="zh-CN" dirty="0" err="1"/>
              <a:t>handleMessage</a:t>
            </a:r>
            <a:r>
              <a:rPr lang="zh-CN" altLang="en-US" dirty="0"/>
              <a:t>（）方法</a:t>
            </a:r>
            <a:r>
              <a:rPr lang="zh-CN" altLang="en-US" dirty="0" smtClean="0"/>
              <a:t>中</a:t>
            </a:r>
            <a:endParaRPr lang="zh-CN" altLang="en-US" dirty="0"/>
          </a:p>
          <a:p>
            <a:pPr lvl="3"/>
            <a:r>
              <a:rPr lang="en-US" altLang="zh-CN" dirty="0" err="1"/>
              <a:t>ThreadLocal</a:t>
            </a:r>
            <a:r>
              <a:rPr lang="zh-CN" altLang="en-US" dirty="0" smtClean="0"/>
              <a:t>：</a:t>
            </a:r>
            <a:r>
              <a:rPr lang="en-US" altLang="zh-CN" dirty="0" smtClean="0"/>
              <a:t>Thread </a:t>
            </a:r>
            <a:r>
              <a:rPr lang="en-US" altLang="zh-CN" dirty="0"/>
              <a:t>Local</a:t>
            </a:r>
            <a:r>
              <a:rPr lang="zh-CN" altLang="en-US" dirty="0"/>
              <a:t>是一个线程内部的数据存储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通过</a:t>
            </a:r>
            <a:r>
              <a:rPr lang="en-US" altLang="zh-CN" dirty="0" err="1" smtClean="0"/>
              <a:t>TreadLocal</a:t>
            </a:r>
            <a:r>
              <a:rPr lang="zh-CN" altLang="en-US" dirty="0" smtClean="0"/>
              <a:t>可以</a:t>
            </a:r>
            <a:r>
              <a:rPr lang="zh-CN" altLang="en-US" dirty="0"/>
              <a:t>在指定线程中存储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pPr lvl="4"/>
            <a:r>
              <a:rPr lang="zh-CN" altLang="en-US" dirty="0"/>
              <a:t>数据存储以后</a:t>
            </a:r>
            <a:r>
              <a:rPr lang="zh-CN" altLang="en-US" dirty="0" smtClean="0"/>
              <a:t>，也只有</a:t>
            </a:r>
            <a:r>
              <a:rPr lang="zh-CN" altLang="en-US" dirty="0"/>
              <a:t>在指定线程中可以获取到存储到数据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0705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10.2 Handler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AsyncTask</a:t>
            </a:r>
            <a:endParaRPr lang="en-US" altLang="zh-CN" dirty="0"/>
          </a:p>
          <a:p>
            <a:pPr lvl="1"/>
            <a:r>
              <a:rPr lang="en-US" altLang="zh-CN" dirty="0"/>
              <a:t>10.2.2 Android</a:t>
            </a:r>
            <a:r>
              <a:rPr lang="zh-CN" altLang="en-US" dirty="0" smtClean="0"/>
              <a:t>的消息机制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与消息处理相关的类：消息机制模型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717032"/>
            <a:ext cx="6480720" cy="29728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30661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692696"/>
            <a:ext cx="9144000" cy="1143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十、进程与消息处理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935480"/>
            <a:ext cx="8568952" cy="49225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10.2 Handler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AsyncTask</a:t>
            </a:r>
            <a:endParaRPr lang="en-US" altLang="zh-CN" dirty="0"/>
          </a:p>
          <a:p>
            <a:pPr lvl="1"/>
            <a:r>
              <a:rPr lang="en-US" altLang="zh-CN" dirty="0" smtClean="0"/>
              <a:t>10.2.3 Handler</a:t>
            </a:r>
            <a:r>
              <a:rPr lang="zh-CN" altLang="en-US" dirty="0" smtClean="0"/>
              <a:t>的具体使用场合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将耗时的任务放到子线程中，避免阻塞主线程</a:t>
            </a:r>
            <a:endParaRPr lang="en-US" altLang="zh-CN" dirty="0" smtClean="0"/>
          </a:p>
          <a:p>
            <a:pPr lvl="3"/>
            <a:r>
              <a:rPr lang="zh-CN" altLang="en-US" dirty="0"/>
              <a:t>必须在主线程进行</a:t>
            </a:r>
            <a:r>
              <a:rPr lang="en-US" altLang="zh-CN" dirty="0"/>
              <a:t>UI</a:t>
            </a:r>
            <a:r>
              <a:rPr lang="zh-CN" altLang="en-US" dirty="0"/>
              <a:t>组件的</a:t>
            </a:r>
            <a:r>
              <a:rPr lang="zh-CN" altLang="en-US" dirty="0" smtClean="0"/>
              <a:t>更新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通过消息机制，将子线程的运行状态及结果反馈给主线程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在主线程中创建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，在子线程中发送消息</a:t>
            </a:r>
            <a:endParaRPr lang="en-US" altLang="zh-CN" dirty="0" smtClean="0"/>
          </a:p>
          <a:p>
            <a:pPr lvl="4"/>
            <a:r>
              <a:rPr lang="zh-CN" altLang="en-US" dirty="0"/>
              <a:t>主</a:t>
            </a:r>
            <a:r>
              <a:rPr lang="zh-CN" altLang="en-US" dirty="0" smtClean="0"/>
              <a:t>线程已经包含了</a:t>
            </a:r>
            <a:r>
              <a:rPr lang="en-US" altLang="zh-CN" dirty="0" err="1" smtClean="0"/>
              <a:t>Looper</a:t>
            </a:r>
            <a:r>
              <a:rPr lang="zh-CN" altLang="en-US" dirty="0" smtClean="0"/>
              <a:t>对象，仅需实例化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即可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若子线程需要接收其他线程的消息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需要在子线程中实例化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同时需要使用</a:t>
            </a:r>
            <a:r>
              <a:rPr lang="en-US" altLang="zh-CN" dirty="0" err="1" smtClean="0"/>
              <a:t>Looper</a:t>
            </a:r>
            <a:r>
              <a:rPr lang="zh-CN" altLang="en-US" dirty="0" smtClean="0"/>
              <a:t>对象来获取和监听消息队列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实例化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对象，实现对消息的处理</a:t>
            </a:r>
            <a:endParaRPr lang="en-US" altLang="zh-CN" dirty="0" smtClean="0"/>
          </a:p>
          <a:p>
            <a:pPr lvl="5"/>
            <a:r>
              <a:rPr lang="en-US" altLang="zh-CN" dirty="0" smtClean="0"/>
              <a:t>Handler</a:t>
            </a:r>
            <a:r>
              <a:rPr lang="zh-CN" altLang="en-US" dirty="0" smtClean="0"/>
              <a:t>对象必须保证在该线程外也能访问，以便发送消息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2"/>
            <a:endParaRPr lang="en-US" altLang="zh-CN" dirty="0"/>
          </a:p>
          <a:p>
            <a:pPr lvl="3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161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极目远眺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14101</TotalTime>
  <Words>10983</Words>
  <Application>Microsoft Office PowerPoint</Application>
  <PresentationFormat>全屏显示(4:3)</PresentationFormat>
  <Paragraphs>1556</Paragraphs>
  <Slides>139</Slides>
  <Notes>128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139</vt:i4>
      </vt:variant>
    </vt:vector>
  </HeadingPairs>
  <TitlesOfParts>
    <vt:vector size="149" baseType="lpstr">
      <vt:lpstr>方正姚体</vt:lpstr>
      <vt:lpstr>宋体</vt:lpstr>
      <vt:lpstr>Arial</vt:lpstr>
      <vt:lpstr>Arial Narrow</vt:lpstr>
      <vt:lpstr>Calibri</vt:lpstr>
      <vt:lpstr>Segoe UI Emoji</vt:lpstr>
      <vt:lpstr>Times New Roman</vt:lpstr>
      <vt:lpstr>Wingdings 2</vt:lpstr>
      <vt:lpstr>流畅</vt:lpstr>
      <vt:lpstr>Visio</vt:lpstr>
      <vt:lpstr>二、Android项目</vt:lpstr>
      <vt:lpstr>二、Android项目</vt:lpstr>
      <vt:lpstr>二、Android项目</vt:lpstr>
      <vt:lpstr>三、Android基本原理</vt:lpstr>
      <vt:lpstr>三、Android基本原理</vt:lpstr>
      <vt:lpstr>三、Android基本原理</vt:lpstr>
      <vt:lpstr>三、Android基本原理</vt:lpstr>
      <vt:lpstr>三、Android基本原理</vt:lpstr>
      <vt:lpstr>三、Android基本原理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四、Activity及Intent通信机制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五、用户界面设计</vt:lpstr>
      <vt:lpstr>六、服务</vt:lpstr>
      <vt:lpstr>六、服务</vt:lpstr>
      <vt:lpstr>六、服务</vt:lpstr>
      <vt:lpstr>六、服务</vt:lpstr>
      <vt:lpstr>六、服务</vt:lpstr>
      <vt:lpstr>六、服务</vt:lpstr>
      <vt:lpstr>六、服务</vt:lpstr>
      <vt:lpstr>六、服务</vt:lpstr>
      <vt:lpstr>七、广播</vt:lpstr>
      <vt:lpstr>七、广播</vt:lpstr>
      <vt:lpstr>七、广播</vt:lpstr>
      <vt:lpstr>七、广播</vt:lpstr>
      <vt:lpstr>七、广播</vt:lpstr>
      <vt:lpstr>七、广播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八、数据存储和提供器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  <vt:lpstr>十、进程与消息处理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Phenix</dc:creator>
  <cp:lastModifiedBy>xiaoqiang ren</cp:lastModifiedBy>
  <cp:revision>1076</cp:revision>
  <dcterms:created xsi:type="dcterms:W3CDTF">2016-03-09T09:19:03Z</dcterms:created>
  <dcterms:modified xsi:type="dcterms:W3CDTF">2025-06-14T16:38:45Z</dcterms:modified>
</cp:coreProperties>
</file>